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142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F0CC8-EFD8-D1E3-D893-7B5B69953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57678-32B6-F38C-8D03-3D7CF79E9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96601-D490-5E75-E89E-6425379905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37C94C-B25E-5D68-1DD3-17081A2BA0E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62498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1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73A"/>
          </a:solidFill>
          <a:ln w="12700">
            <a:solidFill>
              <a:srgbClr val="C9973A"/>
            </a:solidFill>
            <a:prstDash val="solid"/>
          </a:ln>
        </p:spPr>
      </p:sp>
      <p:sp>
        <p:nvSpPr>
          <p:cNvPr id="3" name="Text 1"/>
          <p:cNvSpPr/>
          <p:nvPr/>
        </p:nvSpPr>
        <p:spPr>
          <a:xfrm>
            <a:off x="320040" y="457200"/>
            <a:ext cx="8503920" cy="365760"/>
          </a:xfrm>
          <a:prstGeom prst="rect">
            <a:avLst/>
          </a:prstGeom>
          <a:noFill/>
          <a:ln/>
        </p:spPr>
        <p:txBody>
          <a:bodyPr wrap="square" lIns="0" tIns="0" rIns="0" bIns="0" rtlCol="0" anchor="ctr"/>
          <a:lstStyle/>
          <a:p>
            <a:pPr marL="0" indent="0" algn="ctr">
              <a:buNone/>
            </a:pPr>
            <a:r>
              <a:rPr lang="en-US" sz="1000" b="1" kern="0" spc="400" dirty="0">
                <a:solidFill>
                  <a:srgbClr val="A8C5AB"/>
                </a:solidFill>
              </a:rPr>
              <a:t>TANLP PROJECT PRESENTATION</a:t>
            </a:r>
            <a:endParaRPr lang="en-US" sz="1000" dirty="0"/>
          </a:p>
        </p:txBody>
      </p:sp>
      <p:sp>
        <p:nvSpPr>
          <p:cNvPr id="4" name="Text 2"/>
          <p:cNvSpPr/>
          <p:nvPr/>
        </p:nvSpPr>
        <p:spPr>
          <a:xfrm>
            <a:off x="320040" y="1051560"/>
            <a:ext cx="8503920" cy="777240"/>
          </a:xfrm>
          <a:prstGeom prst="rect">
            <a:avLst/>
          </a:prstGeom>
          <a:noFill/>
          <a:ln/>
        </p:spPr>
        <p:txBody>
          <a:bodyPr wrap="square" lIns="0" tIns="0" rIns="0" bIns="0" rtlCol="0" anchor="ctr"/>
          <a:lstStyle/>
          <a:p>
            <a:pPr marL="0" indent="0" algn="ctr">
              <a:buNone/>
            </a:pPr>
            <a:r>
              <a:rPr lang="en-US" sz="3800" b="1" dirty="0">
                <a:solidFill>
                  <a:srgbClr val="FFFFFF"/>
                </a:solidFill>
              </a:rPr>
              <a:t>Sentiment Analysis of</a:t>
            </a:r>
            <a:endParaRPr lang="en-US" sz="3800" dirty="0"/>
          </a:p>
        </p:txBody>
      </p:sp>
      <p:sp>
        <p:nvSpPr>
          <p:cNvPr id="5" name="Text 3"/>
          <p:cNvSpPr/>
          <p:nvPr/>
        </p:nvSpPr>
        <p:spPr>
          <a:xfrm>
            <a:off x="320040" y="1737360"/>
            <a:ext cx="8503920" cy="777240"/>
          </a:xfrm>
          <a:prstGeom prst="rect">
            <a:avLst/>
          </a:prstGeom>
          <a:noFill/>
          <a:ln/>
        </p:spPr>
        <p:txBody>
          <a:bodyPr wrap="square" lIns="0" tIns="0" rIns="0" bIns="0" rtlCol="0" anchor="ctr"/>
          <a:lstStyle/>
          <a:p>
            <a:pPr marL="0" indent="0" algn="ctr">
              <a:buNone/>
            </a:pPr>
            <a:r>
              <a:rPr lang="en-US" sz="3800" b="1" dirty="0">
                <a:solidFill>
                  <a:srgbClr val="C9973A"/>
                </a:solidFill>
              </a:rPr>
              <a:t>Restaurant Reviews</a:t>
            </a:r>
            <a:endParaRPr lang="en-US" sz="3800" dirty="0"/>
          </a:p>
        </p:txBody>
      </p:sp>
      <p:sp>
        <p:nvSpPr>
          <p:cNvPr id="6" name="Text 4"/>
          <p:cNvSpPr/>
          <p:nvPr/>
        </p:nvSpPr>
        <p:spPr>
          <a:xfrm>
            <a:off x="320040" y="2514600"/>
            <a:ext cx="8503920" cy="548640"/>
          </a:xfrm>
          <a:prstGeom prst="rect">
            <a:avLst/>
          </a:prstGeom>
          <a:noFill/>
          <a:ln/>
        </p:spPr>
        <p:txBody>
          <a:bodyPr wrap="square" lIns="0" tIns="0" rIns="0" bIns="0" rtlCol="0" anchor="ctr"/>
          <a:lstStyle/>
          <a:p>
            <a:pPr marL="0" indent="0" algn="ctr">
              <a:buNone/>
            </a:pPr>
            <a:r>
              <a:rPr lang="en-US" sz="2200" i="1" dirty="0">
                <a:solidFill>
                  <a:srgbClr val="A8C5AB"/>
                </a:solidFill>
              </a:rPr>
              <a:t>Majhitar, Sikkim</a:t>
            </a:r>
            <a:endParaRPr lang="en-US" sz="2200" dirty="0"/>
          </a:p>
        </p:txBody>
      </p:sp>
      <p:sp>
        <p:nvSpPr>
          <p:cNvPr id="7" name="Shape 5"/>
          <p:cNvSpPr/>
          <p:nvPr/>
        </p:nvSpPr>
        <p:spPr>
          <a:xfrm>
            <a:off x="3429000" y="3040380"/>
            <a:ext cx="2286000" cy="36576"/>
          </a:xfrm>
          <a:prstGeom prst="rect">
            <a:avLst/>
          </a:prstGeom>
          <a:solidFill>
            <a:srgbClr val="4E7B56"/>
          </a:solidFill>
          <a:ln w="12700">
            <a:solidFill>
              <a:srgbClr val="4E7B56"/>
            </a:solidFill>
            <a:prstDash val="solid"/>
          </a:ln>
        </p:spPr>
      </p:sp>
      <p:sp>
        <p:nvSpPr>
          <p:cNvPr id="8" name="Text 6"/>
          <p:cNvSpPr/>
          <p:nvPr/>
        </p:nvSpPr>
        <p:spPr>
          <a:xfrm>
            <a:off x="320040" y="3429000"/>
            <a:ext cx="8503920" cy="365760"/>
          </a:xfrm>
          <a:prstGeom prst="rect">
            <a:avLst/>
          </a:prstGeom>
          <a:noFill/>
          <a:ln/>
        </p:spPr>
        <p:txBody>
          <a:bodyPr wrap="square" lIns="0" tIns="0" rIns="0" bIns="0" rtlCol="0" anchor="ctr"/>
          <a:lstStyle/>
          <a:p>
            <a:pPr marL="0" indent="0" algn="ctr">
              <a:buNone/>
            </a:pPr>
            <a:r>
              <a:rPr lang="en-US" sz="1600" b="1" i="1" dirty="0">
                <a:solidFill>
                  <a:srgbClr val="8A8A7A"/>
                </a:solidFill>
              </a:rPr>
              <a:t>Presented by:</a:t>
            </a:r>
          </a:p>
          <a:p>
            <a:pPr marL="0" indent="0" algn="ctr">
              <a:buNone/>
            </a:pPr>
            <a:r>
              <a:rPr lang="en-US" sz="1600" b="1" dirty="0">
                <a:solidFill>
                  <a:srgbClr val="8A8A7A"/>
                </a:solidFill>
              </a:rPr>
              <a:t>NIKHIL PATNAIK</a:t>
            </a:r>
          </a:p>
          <a:p>
            <a:pPr marL="0" indent="0" algn="ctr">
              <a:buNone/>
            </a:pPr>
            <a:r>
              <a:rPr lang="en-US" sz="1600" b="1" dirty="0">
                <a:solidFill>
                  <a:srgbClr val="8A8A7A"/>
                </a:solidFill>
              </a:rPr>
              <a:t>Registration No.: 202300488</a:t>
            </a:r>
            <a:endParaRPr lang="en-US" sz="1600" dirty="0">
              <a:solidFill>
                <a:srgbClr val="3D3D3D"/>
              </a:solidFill>
            </a:endParaRPr>
          </a:p>
        </p:txBody>
      </p:sp>
      <p:sp>
        <p:nvSpPr>
          <p:cNvPr id="9" name="Text 7"/>
          <p:cNvSpPr/>
          <p:nvPr/>
        </p:nvSpPr>
        <p:spPr>
          <a:xfrm>
            <a:off x="320040" y="4480560"/>
            <a:ext cx="8503920" cy="365760"/>
          </a:xfrm>
          <a:prstGeom prst="rect">
            <a:avLst/>
          </a:prstGeom>
          <a:noFill/>
          <a:ln/>
        </p:spPr>
        <p:txBody>
          <a:bodyPr wrap="square" lIns="0" tIns="0" rIns="0" bIns="0" rtlCol="0" anchor="ctr"/>
          <a:lstStyle/>
          <a:p>
            <a:pPr marL="0" indent="0" algn="l">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Table of Contents</a:t>
            </a:r>
            <a:endParaRPr lang="en-US" sz="2200" dirty="0"/>
          </a:p>
        </p:txBody>
      </p:sp>
      <p:sp>
        <p:nvSpPr>
          <p:cNvPr id="4" name="Shape 2"/>
          <p:cNvSpPr/>
          <p:nvPr/>
        </p:nvSpPr>
        <p:spPr>
          <a:xfrm>
            <a:off x="365760" y="868680"/>
            <a:ext cx="411480" cy="347472"/>
          </a:xfrm>
          <a:prstGeom prst="rect">
            <a:avLst/>
          </a:prstGeom>
          <a:solidFill>
            <a:srgbClr val="C9973A"/>
          </a:solidFill>
          <a:ln w="12700">
            <a:solidFill>
              <a:srgbClr val="C9973A"/>
            </a:solidFill>
            <a:prstDash val="solid"/>
          </a:ln>
        </p:spPr>
      </p:sp>
      <p:sp>
        <p:nvSpPr>
          <p:cNvPr id="5" name="Text 3"/>
          <p:cNvSpPr/>
          <p:nvPr/>
        </p:nvSpPr>
        <p:spPr>
          <a:xfrm>
            <a:off x="365760" y="86868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6" name="Text 4"/>
          <p:cNvSpPr/>
          <p:nvPr/>
        </p:nvSpPr>
        <p:spPr>
          <a:xfrm>
            <a:off x="868680" y="886968"/>
            <a:ext cx="3749040" cy="329184"/>
          </a:xfrm>
          <a:prstGeom prst="rect">
            <a:avLst/>
          </a:prstGeom>
          <a:noFill/>
          <a:ln/>
        </p:spPr>
        <p:txBody>
          <a:bodyPr wrap="square" lIns="0" tIns="0" rIns="0" bIns="0" rtlCol="0" anchor="ctr"/>
          <a:lstStyle/>
          <a:p>
            <a:pPr marL="0" indent="0">
              <a:buNone/>
            </a:pPr>
            <a:r>
              <a:rPr lang="en-US" sz="1200" dirty="0">
                <a:solidFill>
                  <a:srgbClr val="3D3D3D"/>
                </a:solidFill>
              </a:rPr>
              <a:t>Introduction to Sentiment Analysis</a:t>
            </a:r>
            <a:endParaRPr lang="en-US" sz="1200" dirty="0"/>
          </a:p>
        </p:txBody>
      </p:sp>
      <p:sp>
        <p:nvSpPr>
          <p:cNvPr id="7" name="Shape 5"/>
          <p:cNvSpPr/>
          <p:nvPr/>
        </p:nvSpPr>
        <p:spPr>
          <a:xfrm>
            <a:off x="365760" y="1371600"/>
            <a:ext cx="411480" cy="347472"/>
          </a:xfrm>
          <a:prstGeom prst="rect">
            <a:avLst/>
          </a:prstGeom>
          <a:solidFill>
            <a:srgbClr val="C9973A"/>
          </a:solidFill>
          <a:ln w="12700">
            <a:solidFill>
              <a:srgbClr val="C9973A"/>
            </a:solidFill>
            <a:prstDash val="solid"/>
          </a:ln>
        </p:spPr>
      </p:sp>
      <p:sp>
        <p:nvSpPr>
          <p:cNvPr id="8" name="Text 6"/>
          <p:cNvSpPr/>
          <p:nvPr/>
        </p:nvSpPr>
        <p:spPr>
          <a:xfrm>
            <a:off x="365760" y="137160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9" name="Text 7"/>
          <p:cNvSpPr/>
          <p:nvPr/>
        </p:nvSpPr>
        <p:spPr>
          <a:xfrm>
            <a:off x="868680" y="1389888"/>
            <a:ext cx="3749040" cy="329184"/>
          </a:xfrm>
          <a:prstGeom prst="rect">
            <a:avLst/>
          </a:prstGeom>
          <a:noFill/>
          <a:ln/>
        </p:spPr>
        <p:txBody>
          <a:bodyPr wrap="square" lIns="0" tIns="0" rIns="0" bIns="0" rtlCol="0" anchor="ctr"/>
          <a:lstStyle/>
          <a:p>
            <a:pPr marL="0" indent="0">
              <a:buNone/>
            </a:pPr>
            <a:r>
              <a:rPr lang="en-US" sz="1200" dirty="0">
                <a:solidFill>
                  <a:srgbClr val="3D3D3D"/>
                </a:solidFill>
              </a:rPr>
              <a:t>What is VADER?</a:t>
            </a:r>
            <a:endParaRPr lang="en-US" sz="1200" dirty="0"/>
          </a:p>
        </p:txBody>
      </p:sp>
      <p:sp>
        <p:nvSpPr>
          <p:cNvPr id="10" name="Shape 8"/>
          <p:cNvSpPr/>
          <p:nvPr/>
        </p:nvSpPr>
        <p:spPr>
          <a:xfrm>
            <a:off x="365760" y="1874520"/>
            <a:ext cx="411480" cy="347472"/>
          </a:xfrm>
          <a:prstGeom prst="rect">
            <a:avLst/>
          </a:prstGeom>
          <a:solidFill>
            <a:srgbClr val="C9973A"/>
          </a:solidFill>
          <a:ln w="12700">
            <a:solidFill>
              <a:srgbClr val="C9973A"/>
            </a:solidFill>
            <a:prstDash val="solid"/>
          </a:ln>
        </p:spPr>
      </p:sp>
      <p:sp>
        <p:nvSpPr>
          <p:cNvPr id="11" name="Text 9"/>
          <p:cNvSpPr/>
          <p:nvPr/>
        </p:nvSpPr>
        <p:spPr>
          <a:xfrm>
            <a:off x="365760" y="187452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2" name="Text 10"/>
          <p:cNvSpPr/>
          <p:nvPr/>
        </p:nvSpPr>
        <p:spPr>
          <a:xfrm>
            <a:off x="868680" y="1892808"/>
            <a:ext cx="3749040" cy="329184"/>
          </a:xfrm>
          <a:prstGeom prst="rect">
            <a:avLst/>
          </a:prstGeom>
          <a:noFill/>
          <a:ln/>
        </p:spPr>
        <p:txBody>
          <a:bodyPr wrap="square" lIns="0" tIns="0" rIns="0" bIns="0" rtlCol="0" anchor="ctr"/>
          <a:lstStyle/>
          <a:p>
            <a:pPr marL="0" indent="0">
              <a:buNone/>
            </a:pPr>
            <a:r>
              <a:rPr lang="en-US" sz="1200" dirty="0">
                <a:solidFill>
                  <a:srgbClr val="3D3D3D"/>
                </a:solidFill>
              </a:rPr>
              <a:t>Dataset Overview — Manual CSV Collection</a:t>
            </a:r>
            <a:endParaRPr lang="en-US" sz="1200" dirty="0"/>
          </a:p>
        </p:txBody>
      </p:sp>
      <p:sp>
        <p:nvSpPr>
          <p:cNvPr id="13" name="Shape 11"/>
          <p:cNvSpPr/>
          <p:nvPr/>
        </p:nvSpPr>
        <p:spPr>
          <a:xfrm>
            <a:off x="365760" y="2377440"/>
            <a:ext cx="411480" cy="347472"/>
          </a:xfrm>
          <a:prstGeom prst="rect">
            <a:avLst/>
          </a:prstGeom>
          <a:solidFill>
            <a:srgbClr val="C9973A"/>
          </a:solidFill>
          <a:ln w="12700">
            <a:solidFill>
              <a:srgbClr val="C9973A"/>
            </a:solidFill>
            <a:prstDash val="solid"/>
          </a:ln>
        </p:spPr>
      </p:sp>
      <p:sp>
        <p:nvSpPr>
          <p:cNvPr id="14" name="Text 12"/>
          <p:cNvSpPr/>
          <p:nvPr/>
        </p:nvSpPr>
        <p:spPr>
          <a:xfrm>
            <a:off x="365760" y="237744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15" name="Text 13"/>
          <p:cNvSpPr/>
          <p:nvPr/>
        </p:nvSpPr>
        <p:spPr>
          <a:xfrm>
            <a:off x="868680" y="2395728"/>
            <a:ext cx="3749040" cy="329184"/>
          </a:xfrm>
          <a:prstGeom prst="rect">
            <a:avLst/>
          </a:prstGeom>
          <a:noFill/>
          <a:ln/>
        </p:spPr>
        <p:txBody>
          <a:bodyPr wrap="square" lIns="0" tIns="0" rIns="0" bIns="0" rtlCol="0" anchor="ctr"/>
          <a:lstStyle/>
          <a:p>
            <a:pPr marL="0" indent="0">
              <a:buNone/>
            </a:pPr>
            <a:r>
              <a:rPr lang="en-US" sz="1200" dirty="0">
                <a:solidFill>
                  <a:srgbClr val="3D3D3D"/>
                </a:solidFill>
              </a:rPr>
              <a:t>NLP Pipeline / Block Diagram</a:t>
            </a:r>
            <a:endParaRPr lang="en-US" sz="1200" dirty="0"/>
          </a:p>
        </p:txBody>
      </p:sp>
      <p:sp>
        <p:nvSpPr>
          <p:cNvPr id="16" name="Shape 14"/>
          <p:cNvSpPr/>
          <p:nvPr/>
        </p:nvSpPr>
        <p:spPr>
          <a:xfrm>
            <a:off x="365760" y="2880360"/>
            <a:ext cx="411480" cy="347472"/>
          </a:xfrm>
          <a:prstGeom prst="rect">
            <a:avLst/>
          </a:prstGeom>
          <a:solidFill>
            <a:srgbClr val="C9973A"/>
          </a:solidFill>
          <a:ln w="12700">
            <a:solidFill>
              <a:srgbClr val="C9973A"/>
            </a:solidFill>
            <a:prstDash val="solid"/>
          </a:ln>
        </p:spPr>
      </p:sp>
      <p:sp>
        <p:nvSpPr>
          <p:cNvPr id="17" name="Text 15"/>
          <p:cNvSpPr/>
          <p:nvPr/>
        </p:nvSpPr>
        <p:spPr>
          <a:xfrm>
            <a:off x="365760" y="288036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18" name="Text 16"/>
          <p:cNvSpPr/>
          <p:nvPr/>
        </p:nvSpPr>
        <p:spPr>
          <a:xfrm>
            <a:off x="868680" y="2898648"/>
            <a:ext cx="3749040" cy="329184"/>
          </a:xfrm>
          <a:prstGeom prst="rect">
            <a:avLst/>
          </a:prstGeom>
          <a:noFill/>
          <a:ln/>
        </p:spPr>
        <p:txBody>
          <a:bodyPr wrap="square" lIns="0" tIns="0" rIns="0" bIns="0" rtlCol="0" anchor="ctr"/>
          <a:lstStyle/>
          <a:p>
            <a:pPr marL="0" indent="0">
              <a:buNone/>
            </a:pPr>
            <a:r>
              <a:rPr lang="en-US" sz="1200" dirty="0">
                <a:solidFill>
                  <a:srgbClr val="3D3D3D"/>
                </a:solidFill>
              </a:rPr>
              <a:t>Preprocessing &amp; Scoring</a:t>
            </a:r>
            <a:endParaRPr lang="en-US" sz="1200" dirty="0"/>
          </a:p>
        </p:txBody>
      </p:sp>
      <p:sp>
        <p:nvSpPr>
          <p:cNvPr id="19" name="Shape 17"/>
          <p:cNvSpPr/>
          <p:nvPr/>
        </p:nvSpPr>
        <p:spPr>
          <a:xfrm>
            <a:off x="365760" y="3383280"/>
            <a:ext cx="411480" cy="347472"/>
          </a:xfrm>
          <a:prstGeom prst="rect">
            <a:avLst/>
          </a:prstGeom>
          <a:solidFill>
            <a:srgbClr val="C9973A"/>
          </a:solidFill>
          <a:ln w="12700">
            <a:solidFill>
              <a:srgbClr val="C9973A"/>
            </a:solidFill>
            <a:prstDash val="solid"/>
          </a:ln>
        </p:spPr>
      </p:sp>
      <p:sp>
        <p:nvSpPr>
          <p:cNvPr id="20" name="Text 18"/>
          <p:cNvSpPr/>
          <p:nvPr/>
        </p:nvSpPr>
        <p:spPr>
          <a:xfrm>
            <a:off x="365760" y="338328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21" name="Text 19"/>
          <p:cNvSpPr/>
          <p:nvPr/>
        </p:nvSpPr>
        <p:spPr>
          <a:xfrm>
            <a:off x="868680" y="3401568"/>
            <a:ext cx="3749040" cy="329184"/>
          </a:xfrm>
          <a:prstGeom prst="rect">
            <a:avLst/>
          </a:prstGeom>
          <a:noFill/>
          <a:ln/>
        </p:spPr>
        <p:txBody>
          <a:bodyPr wrap="square" lIns="0" tIns="0" rIns="0" bIns="0" rtlCol="0" anchor="ctr"/>
          <a:lstStyle/>
          <a:p>
            <a:pPr marL="0" indent="0">
              <a:buNone/>
            </a:pPr>
            <a:r>
              <a:rPr lang="en-US" sz="1200" dirty="0">
                <a:solidFill>
                  <a:srgbClr val="3D3D3D"/>
                </a:solidFill>
              </a:rPr>
              <a:t>Sentiment Distribution Results</a:t>
            </a:r>
            <a:endParaRPr lang="en-US" sz="1200" dirty="0"/>
          </a:p>
        </p:txBody>
      </p:sp>
      <p:sp>
        <p:nvSpPr>
          <p:cNvPr id="22" name="Shape 20"/>
          <p:cNvSpPr/>
          <p:nvPr/>
        </p:nvSpPr>
        <p:spPr>
          <a:xfrm>
            <a:off x="365760" y="3886200"/>
            <a:ext cx="411480" cy="347472"/>
          </a:xfrm>
          <a:prstGeom prst="rect">
            <a:avLst/>
          </a:prstGeom>
          <a:solidFill>
            <a:srgbClr val="C9973A"/>
          </a:solidFill>
          <a:ln w="12700">
            <a:solidFill>
              <a:srgbClr val="C9973A"/>
            </a:solidFill>
            <a:prstDash val="solid"/>
          </a:ln>
        </p:spPr>
      </p:sp>
      <p:sp>
        <p:nvSpPr>
          <p:cNvPr id="23" name="Text 21"/>
          <p:cNvSpPr/>
          <p:nvPr/>
        </p:nvSpPr>
        <p:spPr>
          <a:xfrm>
            <a:off x="365760" y="388620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07</a:t>
            </a:r>
            <a:endParaRPr lang="en-US" sz="1100" dirty="0"/>
          </a:p>
        </p:txBody>
      </p:sp>
      <p:sp>
        <p:nvSpPr>
          <p:cNvPr id="24" name="Text 22"/>
          <p:cNvSpPr/>
          <p:nvPr/>
        </p:nvSpPr>
        <p:spPr>
          <a:xfrm>
            <a:off x="868680" y="3904488"/>
            <a:ext cx="3749040" cy="329184"/>
          </a:xfrm>
          <a:prstGeom prst="rect">
            <a:avLst/>
          </a:prstGeom>
          <a:noFill/>
          <a:ln/>
        </p:spPr>
        <p:txBody>
          <a:bodyPr wrap="square" lIns="0" tIns="0" rIns="0" bIns="0" rtlCol="0" anchor="ctr"/>
          <a:lstStyle/>
          <a:p>
            <a:pPr marL="0" indent="0">
              <a:buNone/>
            </a:pPr>
            <a:r>
              <a:rPr lang="en-US" sz="1200" dirty="0">
                <a:solidFill>
                  <a:srgbClr val="3D3D3D"/>
                </a:solidFill>
              </a:rPr>
              <a:t>Restaurant Ranking Table</a:t>
            </a:r>
            <a:endParaRPr lang="en-US" sz="1200" dirty="0"/>
          </a:p>
        </p:txBody>
      </p:sp>
      <p:sp>
        <p:nvSpPr>
          <p:cNvPr id="25" name="Shape 23"/>
          <p:cNvSpPr/>
          <p:nvPr/>
        </p:nvSpPr>
        <p:spPr>
          <a:xfrm>
            <a:off x="365760" y="4389120"/>
            <a:ext cx="411480" cy="347472"/>
          </a:xfrm>
          <a:prstGeom prst="rect">
            <a:avLst/>
          </a:prstGeom>
          <a:solidFill>
            <a:srgbClr val="C9973A"/>
          </a:solidFill>
          <a:ln w="12700">
            <a:solidFill>
              <a:srgbClr val="C9973A"/>
            </a:solidFill>
            <a:prstDash val="solid"/>
          </a:ln>
        </p:spPr>
      </p:sp>
      <p:sp>
        <p:nvSpPr>
          <p:cNvPr id="26" name="Text 24"/>
          <p:cNvSpPr/>
          <p:nvPr/>
        </p:nvSpPr>
        <p:spPr>
          <a:xfrm>
            <a:off x="365760" y="438912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08</a:t>
            </a:r>
            <a:endParaRPr lang="en-US" sz="1100" dirty="0"/>
          </a:p>
        </p:txBody>
      </p:sp>
      <p:sp>
        <p:nvSpPr>
          <p:cNvPr id="27" name="Text 25"/>
          <p:cNvSpPr/>
          <p:nvPr/>
        </p:nvSpPr>
        <p:spPr>
          <a:xfrm>
            <a:off x="868680" y="4407408"/>
            <a:ext cx="3749040" cy="329184"/>
          </a:xfrm>
          <a:prstGeom prst="rect">
            <a:avLst/>
          </a:prstGeom>
          <a:noFill/>
          <a:ln/>
        </p:spPr>
        <p:txBody>
          <a:bodyPr wrap="square" lIns="0" tIns="0" rIns="0" bIns="0" rtlCol="0" anchor="ctr"/>
          <a:lstStyle/>
          <a:p>
            <a:pPr marL="0" indent="0">
              <a:buNone/>
            </a:pPr>
            <a:r>
              <a:rPr lang="en-US" sz="1200" dirty="0">
                <a:solidFill>
                  <a:srgbClr val="3D3D3D"/>
                </a:solidFill>
              </a:rPr>
              <a:t>Visualizations — Bar &amp; Breakdown Charts</a:t>
            </a:r>
            <a:endParaRPr lang="en-US" sz="1200" dirty="0"/>
          </a:p>
        </p:txBody>
      </p:sp>
      <p:sp>
        <p:nvSpPr>
          <p:cNvPr id="28" name="Shape 26"/>
          <p:cNvSpPr/>
          <p:nvPr/>
        </p:nvSpPr>
        <p:spPr>
          <a:xfrm>
            <a:off x="4846320" y="868680"/>
            <a:ext cx="411480" cy="347472"/>
          </a:xfrm>
          <a:prstGeom prst="rect">
            <a:avLst/>
          </a:prstGeom>
          <a:solidFill>
            <a:srgbClr val="4E7B56"/>
          </a:solidFill>
          <a:ln w="12700">
            <a:solidFill>
              <a:srgbClr val="4E7B56"/>
            </a:solidFill>
            <a:prstDash val="solid"/>
          </a:ln>
        </p:spPr>
      </p:sp>
      <p:sp>
        <p:nvSpPr>
          <p:cNvPr id="29" name="Text 27"/>
          <p:cNvSpPr/>
          <p:nvPr/>
        </p:nvSpPr>
        <p:spPr>
          <a:xfrm>
            <a:off x="4846320" y="86868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09</a:t>
            </a:r>
            <a:endParaRPr lang="en-US" sz="1100" dirty="0"/>
          </a:p>
        </p:txBody>
      </p:sp>
      <p:sp>
        <p:nvSpPr>
          <p:cNvPr id="30" name="Text 28"/>
          <p:cNvSpPr/>
          <p:nvPr/>
        </p:nvSpPr>
        <p:spPr>
          <a:xfrm>
            <a:off x="5349240" y="886968"/>
            <a:ext cx="3474720" cy="329184"/>
          </a:xfrm>
          <a:prstGeom prst="rect">
            <a:avLst/>
          </a:prstGeom>
          <a:noFill/>
          <a:ln/>
        </p:spPr>
        <p:txBody>
          <a:bodyPr wrap="square" lIns="0" tIns="0" rIns="0" bIns="0" rtlCol="0" anchor="ctr"/>
          <a:lstStyle/>
          <a:p>
            <a:pPr marL="0" indent="0">
              <a:buNone/>
            </a:pPr>
            <a:r>
              <a:rPr lang="en-US" sz="1200" dirty="0">
                <a:solidFill>
                  <a:srgbClr val="3D3D3D"/>
                </a:solidFill>
              </a:rPr>
              <a:t>Dish-Based Recommendation System</a:t>
            </a:r>
            <a:endParaRPr lang="en-US" sz="1200" dirty="0"/>
          </a:p>
        </p:txBody>
      </p:sp>
      <p:sp>
        <p:nvSpPr>
          <p:cNvPr id="31" name="Shape 29"/>
          <p:cNvSpPr/>
          <p:nvPr/>
        </p:nvSpPr>
        <p:spPr>
          <a:xfrm>
            <a:off x="4846320" y="1371600"/>
            <a:ext cx="411480" cy="347472"/>
          </a:xfrm>
          <a:prstGeom prst="rect">
            <a:avLst/>
          </a:prstGeom>
          <a:solidFill>
            <a:srgbClr val="4E7B56"/>
          </a:solidFill>
          <a:ln w="12700">
            <a:solidFill>
              <a:srgbClr val="4E7B56"/>
            </a:solidFill>
            <a:prstDash val="solid"/>
          </a:ln>
        </p:spPr>
      </p:sp>
      <p:sp>
        <p:nvSpPr>
          <p:cNvPr id="32" name="Text 30"/>
          <p:cNvSpPr/>
          <p:nvPr/>
        </p:nvSpPr>
        <p:spPr>
          <a:xfrm>
            <a:off x="4846320" y="137160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10</a:t>
            </a:r>
            <a:endParaRPr lang="en-US" sz="1100" dirty="0"/>
          </a:p>
        </p:txBody>
      </p:sp>
      <p:sp>
        <p:nvSpPr>
          <p:cNvPr id="33" name="Text 31"/>
          <p:cNvSpPr/>
          <p:nvPr/>
        </p:nvSpPr>
        <p:spPr>
          <a:xfrm>
            <a:off x="5349240" y="1389888"/>
            <a:ext cx="3474720" cy="329184"/>
          </a:xfrm>
          <a:prstGeom prst="rect">
            <a:avLst/>
          </a:prstGeom>
          <a:noFill/>
          <a:ln/>
        </p:spPr>
        <p:txBody>
          <a:bodyPr wrap="square" lIns="0" tIns="0" rIns="0" bIns="0" rtlCol="0" anchor="ctr"/>
          <a:lstStyle/>
          <a:p>
            <a:pPr marL="0" indent="0">
              <a:buNone/>
            </a:pPr>
            <a:r>
              <a:rPr lang="en-US" sz="1200" dirty="0">
                <a:solidFill>
                  <a:srgbClr val="3D3D3D"/>
                </a:solidFill>
              </a:rPr>
              <a:t>Model Evaluation — Metrics</a:t>
            </a:r>
            <a:endParaRPr lang="en-US" sz="1200" dirty="0"/>
          </a:p>
        </p:txBody>
      </p:sp>
      <p:sp>
        <p:nvSpPr>
          <p:cNvPr id="34" name="Shape 32"/>
          <p:cNvSpPr/>
          <p:nvPr/>
        </p:nvSpPr>
        <p:spPr>
          <a:xfrm>
            <a:off x="4846320" y="1874520"/>
            <a:ext cx="411480" cy="347472"/>
          </a:xfrm>
          <a:prstGeom prst="rect">
            <a:avLst/>
          </a:prstGeom>
          <a:solidFill>
            <a:srgbClr val="4E7B56"/>
          </a:solidFill>
          <a:ln w="12700">
            <a:solidFill>
              <a:srgbClr val="4E7B56"/>
            </a:solidFill>
            <a:prstDash val="solid"/>
          </a:ln>
        </p:spPr>
      </p:sp>
      <p:sp>
        <p:nvSpPr>
          <p:cNvPr id="35" name="Text 33"/>
          <p:cNvSpPr/>
          <p:nvPr/>
        </p:nvSpPr>
        <p:spPr>
          <a:xfrm>
            <a:off x="4846320" y="187452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11</a:t>
            </a:r>
            <a:endParaRPr lang="en-US" sz="1100" dirty="0"/>
          </a:p>
        </p:txBody>
      </p:sp>
      <p:sp>
        <p:nvSpPr>
          <p:cNvPr id="36" name="Text 34"/>
          <p:cNvSpPr/>
          <p:nvPr/>
        </p:nvSpPr>
        <p:spPr>
          <a:xfrm>
            <a:off x="5349240" y="1892808"/>
            <a:ext cx="3474720" cy="329184"/>
          </a:xfrm>
          <a:prstGeom prst="rect">
            <a:avLst/>
          </a:prstGeom>
          <a:noFill/>
          <a:ln/>
        </p:spPr>
        <p:txBody>
          <a:bodyPr wrap="square" lIns="0" tIns="0" rIns="0" bIns="0" rtlCol="0" anchor="ctr"/>
          <a:lstStyle/>
          <a:p>
            <a:pPr marL="0" indent="0">
              <a:buNone/>
            </a:pPr>
            <a:r>
              <a:rPr lang="en-US" sz="1200" dirty="0">
                <a:solidFill>
                  <a:srgbClr val="3D3D3D"/>
                </a:solidFill>
              </a:rPr>
              <a:t>Confusion Matrix</a:t>
            </a:r>
            <a:endParaRPr lang="en-US" sz="1200" dirty="0"/>
          </a:p>
        </p:txBody>
      </p:sp>
      <p:sp>
        <p:nvSpPr>
          <p:cNvPr id="37" name="Shape 35"/>
          <p:cNvSpPr/>
          <p:nvPr/>
        </p:nvSpPr>
        <p:spPr>
          <a:xfrm>
            <a:off x="4846320" y="2377440"/>
            <a:ext cx="411480" cy="347472"/>
          </a:xfrm>
          <a:prstGeom prst="rect">
            <a:avLst/>
          </a:prstGeom>
          <a:solidFill>
            <a:srgbClr val="4E7B56"/>
          </a:solidFill>
          <a:ln w="12700">
            <a:solidFill>
              <a:srgbClr val="4E7B56"/>
            </a:solidFill>
            <a:prstDash val="solid"/>
          </a:ln>
        </p:spPr>
      </p:sp>
      <p:sp>
        <p:nvSpPr>
          <p:cNvPr id="38" name="Text 36"/>
          <p:cNvSpPr/>
          <p:nvPr/>
        </p:nvSpPr>
        <p:spPr>
          <a:xfrm>
            <a:off x="4846320" y="237744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12</a:t>
            </a:r>
            <a:endParaRPr lang="en-US" sz="1100" dirty="0"/>
          </a:p>
        </p:txBody>
      </p:sp>
      <p:sp>
        <p:nvSpPr>
          <p:cNvPr id="39" name="Text 37"/>
          <p:cNvSpPr/>
          <p:nvPr/>
        </p:nvSpPr>
        <p:spPr>
          <a:xfrm>
            <a:off x="5349240" y="2395728"/>
            <a:ext cx="3474720" cy="329184"/>
          </a:xfrm>
          <a:prstGeom prst="rect">
            <a:avLst/>
          </a:prstGeom>
          <a:noFill/>
          <a:ln/>
        </p:spPr>
        <p:txBody>
          <a:bodyPr wrap="square" lIns="0" tIns="0" rIns="0" bIns="0" rtlCol="0" anchor="ctr"/>
          <a:lstStyle/>
          <a:p>
            <a:pPr marL="0" indent="0">
              <a:buNone/>
            </a:pPr>
            <a:r>
              <a:rPr lang="en-US" sz="1200" dirty="0">
                <a:solidFill>
                  <a:srgbClr val="3D3D3D"/>
                </a:solidFill>
              </a:rPr>
              <a:t>Key Findings &amp; Observations</a:t>
            </a:r>
            <a:endParaRPr lang="en-US" sz="1200" dirty="0"/>
          </a:p>
        </p:txBody>
      </p:sp>
      <p:sp>
        <p:nvSpPr>
          <p:cNvPr id="40" name="Shape 38"/>
          <p:cNvSpPr/>
          <p:nvPr/>
        </p:nvSpPr>
        <p:spPr>
          <a:xfrm>
            <a:off x="4846320" y="2880360"/>
            <a:ext cx="411480" cy="347472"/>
          </a:xfrm>
          <a:prstGeom prst="rect">
            <a:avLst/>
          </a:prstGeom>
          <a:solidFill>
            <a:srgbClr val="4E7B56"/>
          </a:solidFill>
          <a:ln w="12700">
            <a:solidFill>
              <a:srgbClr val="4E7B56"/>
            </a:solidFill>
            <a:prstDash val="solid"/>
          </a:ln>
        </p:spPr>
      </p:sp>
      <p:sp>
        <p:nvSpPr>
          <p:cNvPr id="41" name="Text 39"/>
          <p:cNvSpPr/>
          <p:nvPr/>
        </p:nvSpPr>
        <p:spPr>
          <a:xfrm>
            <a:off x="4846320" y="288036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13</a:t>
            </a:r>
            <a:endParaRPr lang="en-US" sz="1100" dirty="0"/>
          </a:p>
        </p:txBody>
      </p:sp>
      <p:sp>
        <p:nvSpPr>
          <p:cNvPr id="42" name="Text 40"/>
          <p:cNvSpPr/>
          <p:nvPr/>
        </p:nvSpPr>
        <p:spPr>
          <a:xfrm>
            <a:off x="5349240" y="2898648"/>
            <a:ext cx="3474720" cy="329184"/>
          </a:xfrm>
          <a:prstGeom prst="rect">
            <a:avLst/>
          </a:prstGeom>
          <a:noFill/>
          <a:ln/>
        </p:spPr>
        <p:txBody>
          <a:bodyPr wrap="square" lIns="0" tIns="0" rIns="0" bIns="0" rtlCol="0" anchor="ctr"/>
          <a:lstStyle/>
          <a:p>
            <a:pPr marL="0" indent="0">
              <a:buNone/>
            </a:pPr>
            <a:r>
              <a:rPr lang="en-US" sz="1200" dirty="0">
                <a:solidFill>
                  <a:srgbClr val="3D3D3D"/>
                </a:solidFill>
              </a:rPr>
              <a:t>Future Scope</a:t>
            </a:r>
            <a:endParaRPr lang="en-US" sz="1200" dirty="0"/>
          </a:p>
        </p:txBody>
      </p:sp>
      <p:sp>
        <p:nvSpPr>
          <p:cNvPr id="43" name="Shape 41"/>
          <p:cNvSpPr/>
          <p:nvPr/>
        </p:nvSpPr>
        <p:spPr>
          <a:xfrm>
            <a:off x="4846320" y="3383280"/>
            <a:ext cx="411480" cy="347472"/>
          </a:xfrm>
          <a:prstGeom prst="rect">
            <a:avLst/>
          </a:prstGeom>
          <a:solidFill>
            <a:srgbClr val="4E7B56"/>
          </a:solidFill>
          <a:ln w="12700">
            <a:solidFill>
              <a:srgbClr val="4E7B56"/>
            </a:solidFill>
            <a:prstDash val="solid"/>
          </a:ln>
        </p:spPr>
      </p:sp>
      <p:sp>
        <p:nvSpPr>
          <p:cNvPr id="44" name="Text 42"/>
          <p:cNvSpPr/>
          <p:nvPr/>
        </p:nvSpPr>
        <p:spPr>
          <a:xfrm>
            <a:off x="4846320" y="338328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14</a:t>
            </a:r>
            <a:endParaRPr lang="en-US" sz="1100" dirty="0"/>
          </a:p>
        </p:txBody>
      </p:sp>
      <p:sp>
        <p:nvSpPr>
          <p:cNvPr id="45" name="Text 43"/>
          <p:cNvSpPr/>
          <p:nvPr/>
        </p:nvSpPr>
        <p:spPr>
          <a:xfrm>
            <a:off x="5349240" y="3401568"/>
            <a:ext cx="3474720" cy="329184"/>
          </a:xfrm>
          <a:prstGeom prst="rect">
            <a:avLst/>
          </a:prstGeom>
          <a:noFill/>
          <a:ln/>
        </p:spPr>
        <p:txBody>
          <a:bodyPr wrap="square" lIns="0" tIns="0" rIns="0" bIns="0" rtlCol="0" anchor="ctr"/>
          <a:lstStyle/>
          <a:p>
            <a:pPr marL="0" indent="0">
              <a:buNone/>
            </a:pPr>
            <a:r>
              <a:rPr lang="en-US" sz="1200" dirty="0">
                <a:solidFill>
                  <a:srgbClr val="3D3D3D"/>
                </a:solidFill>
              </a:rPr>
              <a:t>GitHub Repository</a:t>
            </a:r>
            <a:endParaRPr lang="en-US" sz="1200" dirty="0"/>
          </a:p>
        </p:txBody>
      </p:sp>
      <p:sp>
        <p:nvSpPr>
          <p:cNvPr id="46" name="Shape 44"/>
          <p:cNvSpPr/>
          <p:nvPr/>
        </p:nvSpPr>
        <p:spPr>
          <a:xfrm>
            <a:off x="4846320" y="3886200"/>
            <a:ext cx="411480" cy="347472"/>
          </a:xfrm>
          <a:prstGeom prst="rect">
            <a:avLst/>
          </a:prstGeom>
          <a:solidFill>
            <a:srgbClr val="4E7B56"/>
          </a:solidFill>
          <a:ln w="12700">
            <a:solidFill>
              <a:srgbClr val="4E7B56"/>
            </a:solidFill>
            <a:prstDash val="solid"/>
          </a:ln>
        </p:spPr>
      </p:sp>
      <p:sp>
        <p:nvSpPr>
          <p:cNvPr id="47" name="Text 45"/>
          <p:cNvSpPr/>
          <p:nvPr/>
        </p:nvSpPr>
        <p:spPr>
          <a:xfrm>
            <a:off x="4846320" y="3886200"/>
            <a:ext cx="411480" cy="347472"/>
          </a:xfrm>
          <a:prstGeom prst="rect">
            <a:avLst/>
          </a:prstGeom>
          <a:noFill/>
          <a:ln/>
        </p:spPr>
        <p:txBody>
          <a:bodyPr wrap="square" lIns="0" tIns="0" rIns="0" bIns="0" rtlCol="0" anchor="ctr"/>
          <a:lstStyle/>
          <a:p>
            <a:pPr marL="0" indent="0" algn="ctr">
              <a:buNone/>
            </a:pPr>
            <a:r>
              <a:rPr lang="en-US" sz="1100" b="1" dirty="0">
                <a:solidFill>
                  <a:srgbClr val="FFFFFF"/>
                </a:solidFill>
              </a:rPr>
              <a:t>15</a:t>
            </a:r>
            <a:endParaRPr lang="en-US" sz="1100" dirty="0"/>
          </a:p>
        </p:txBody>
      </p:sp>
      <p:sp>
        <p:nvSpPr>
          <p:cNvPr id="48" name="Text 46"/>
          <p:cNvSpPr/>
          <p:nvPr/>
        </p:nvSpPr>
        <p:spPr>
          <a:xfrm>
            <a:off x="5349240" y="3904488"/>
            <a:ext cx="3474720" cy="329184"/>
          </a:xfrm>
          <a:prstGeom prst="rect">
            <a:avLst/>
          </a:prstGeom>
          <a:noFill/>
          <a:ln/>
        </p:spPr>
        <p:txBody>
          <a:bodyPr wrap="square" lIns="0" tIns="0" rIns="0" bIns="0" rtlCol="0" anchor="ctr"/>
          <a:lstStyle/>
          <a:p>
            <a:pPr marL="0" indent="0">
              <a:buNone/>
            </a:pPr>
            <a:r>
              <a:rPr lang="en-US" sz="1200" dirty="0">
                <a:solidFill>
                  <a:srgbClr val="3D3D3D"/>
                </a:solidFill>
              </a:rPr>
              <a:t>Conclusion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Introduction to Sentiment Analysis</a:t>
            </a:r>
            <a:endParaRPr lang="en-US" sz="2200" dirty="0"/>
          </a:p>
        </p:txBody>
      </p:sp>
      <p:sp>
        <p:nvSpPr>
          <p:cNvPr id="4" name="Shape 2"/>
          <p:cNvSpPr/>
          <p:nvPr/>
        </p:nvSpPr>
        <p:spPr>
          <a:xfrm>
            <a:off x="274320" y="822960"/>
            <a:ext cx="8595360" cy="914400"/>
          </a:xfrm>
          <a:prstGeom prst="rect">
            <a:avLst/>
          </a:prstGeom>
          <a:solidFill>
            <a:srgbClr val="EDE8DF"/>
          </a:solidFill>
          <a:ln w="12700">
            <a:solidFill>
              <a:srgbClr val="D4C9B5"/>
            </a:solidFill>
            <a:prstDash val="solid"/>
          </a:ln>
        </p:spPr>
      </p:sp>
      <p:sp>
        <p:nvSpPr>
          <p:cNvPr id="5" name="Text 3"/>
          <p:cNvSpPr/>
          <p:nvPr/>
        </p:nvSpPr>
        <p:spPr>
          <a:xfrm>
            <a:off x="411480" y="868680"/>
            <a:ext cx="8321040" cy="777240"/>
          </a:xfrm>
          <a:prstGeom prst="rect">
            <a:avLst/>
          </a:prstGeom>
          <a:noFill/>
          <a:ln/>
        </p:spPr>
        <p:txBody>
          <a:bodyPr wrap="square" lIns="0" tIns="0" rIns="0" bIns="0" rtlCol="0" anchor="ctr"/>
          <a:lstStyle/>
          <a:p>
            <a:pPr marL="0" indent="0">
              <a:buNone/>
            </a:pPr>
            <a:r>
              <a:rPr lang="en-US" sz="1300" b="1" dirty="0">
                <a:solidFill>
                  <a:srgbClr val="C9973A"/>
                </a:solidFill>
              </a:rPr>
              <a:t>Definition:  </a:t>
            </a:r>
            <a:r>
              <a:rPr lang="en-US" sz="1300" dirty="0">
                <a:solidFill>
                  <a:srgbClr val="3D3D3D"/>
                </a:solidFill>
              </a:rPr>
              <a:t>Sentiment Analysis (Opinion Mining) is an NLP technique that identifies and extracts subjective information from text — classifying it as Positive, Negative, or Neutral.</a:t>
            </a:r>
            <a:endParaRPr lang="en-US" sz="1300" dirty="0"/>
          </a:p>
        </p:txBody>
      </p:sp>
      <p:sp>
        <p:nvSpPr>
          <p:cNvPr id="6" name="Shape 4"/>
          <p:cNvSpPr/>
          <p:nvPr/>
        </p:nvSpPr>
        <p:spPr>
          <a:xfrm>
            <a:off x="274320" y="1874520"/>
            <a:ext cx="2743200" cy="2651760"/>
          </a:xfrm>
          <a:prstGeom prst="rect">
            <a:avLst/>
          </a:prstGeom>
          <a:solidFill>
            <a:srgbClr val="FFFFFF"/>
          </a:solidFill>
          <a:ln w="12700">
            <a:solidFill>
              <a:srgbClr val="D4C9B5"/>
            </a:solidFill>
            <a:prstDash val="solid"/>
          </a:ln>
        </p:spPr>
      </p:sp>
      <p:sp>
        <p:nvSpPr>
          <p:cNvPr id="7" name="Shape 5"/>
          <p:cNvSpPr/>
          <p:nvPr/>
        </p:nvSpPr>
        <p:spPr>
          <a:xfrm>
            <a:off x="274320" y="1874520"/>
            <a:ext cx="2743200" cy="502920"/>
          </a:xfrm>
          <a:prstGeom prst="rect">
            <a:avLst/>
          </a:prstGeom>
          <a:solidFill>
            <a:srgbClr val="C9973A"/>
          </a:solidFill>
          <a:ln w="12700">
            <a:solidFill>
              <a:srgbClr val="C9973A"/>
            </a:solidFill>
            <a:prstDash val="solid"/>
          </a:ln>
        </p:spPr>
      </p:sp>
      <p:sp>
        <p:nvSpPr>
          <p:cNvPr id="8" name="Text 6"/>
          <p:cNvSpPr/>
          <p:nvPr/>
        </p:nvSpPr>
        <p:spPr>
          <a:xfrm>
            <a:off x="274320" y="187452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Opinion</a:t>
            </a:r>
            <a:endParaRPr lang="en-US" sz="1200" dirty="0"/>
          </a:p>
          <a:p>
            <a:pPr marL="0" indent="0" algn="ctr">
              <a:buNone/>
            </a:pPr>
            <a:r>
              <a:rPr lang="en-US" sz="1200" b="1" dirty="0">
                <a:solidFill>
                  <a:srgbClr val="FFFFFF"/>
                </a:solidFill>
              </a:rPr>
              <a:t>Mining</a:t>
            </a:r>
            <a:endParaRPr lang="en-US" sz="1200" dirty="0"/>
          </a:p>
        </p:txBody>
      </p:sp>
      <p:sp>
        <p:nvSpPr>
          <p:cNvPr id="9" name="Text 7"/>
          <p:cNvSpPr/>
          <p:nvPr/>
        </p:nvSpPr>
        <p:spPr>
          <a:xfrm>
            <a:off x="411480" y="2468880"/>
            <a:ext cx="2468880" cy="1920240"/>
          </a:xfrm>
          <a:prstGeom prst="rect">
            <a:avLst/>
          </a:prstGeom>
          <a:noFill/>
          <a:ln/>
        </p:spPr>
        <p:txBody>
          <a:bodyPr wrap="square" lIns="0" tIns="0" rIns="0" bIns="0" rtlCol="0" anchor="ctr"/>
          <a:lstStyle/>
          <a:p>
            <a:pPr marL="0" indent="0" algn="ctr">
              <a:buNone/>
            </a:pPr>
            <a:r>
              <a:rPr lang="en-US" sz="1200" dirty="0">
                <a:solidFill>
                  <a:srgbClr val="3D3D3D"/>
                </a:solidFill>
              </a:rPr>
              <a:t>Extracting opinions, feelings, and attitudes from written text</a:t>
            </a:r>
            <a:endParaRPr lang="en-US" sz="1200" dirty="0"/>
          </a:p>
        </p:txBody>
      </p:sp>
      <p:sp>
        <p:nvSpPr>
          <p:cNvPr id="10" name="Shape 8"/>
          <p:cNvSpPr/>
          <p:nvPr/>
        </p:nvSpPr>
        <p:spPr>
          <a:xfrm>
            <a:off x="3200400" y="1874520"/>
            <a:ext cx="2743200" cy="2651760"/>
          </a:xfrm>
          <a:prstGeom prst="rect">
            <a:avLst/>
          </a:prstGeom>
          <a:solidFill>
            <a:srgbClr val="FFFFFF"/>
          </a:solidFill>
          <a:ln w="12700">
            <a:solidFill>
              <a:srgbClr val="D4C9B5"/>
            </a:solidFill>
            <a:prstDash val="solid"/>
          </a:ln>
        </p:spPr>
      </p:sp>
      <p:sp>
        <p:nvSpPr>
          <p:cNvPr id="11" name="Shape 9"/>
          <p:cNvSpPr/>
          <p:nvPr/>
        </p:nvSpPr>
        <p:spPr>
          <a:xfrm>
            <a:off x="3200400" y="1874520"/>
            <a:ext cx="2743200" cy="502920"/>
          </a:xfrm>
          <a:prstGeom prst="rect">
            <a:avLst/>
          </a:prstGeom>
          <a:solidFill>
            <a:srgbClr val="C9973A"/>
          </a:solidFill>
          <a:ln w="12700">
            <a:solidFill>
              <a:srgbClr val="C9973A"/>
            </a:solidFill>
            <a:prstDash val="solid"/>
          </a:ln>
        </p:spPr>
      </p:sp>
      <p:sp>
        <p:nvSpPr>
          <p:cNvPr id="12" name="Text 10"/>
          <p:cNvSpPr/>
          <p:nvPr/>
        </p:nvSpPr>
        <p:spPr>
          <a:xfrm>
            <a:off x="3200400" y="187452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Polarity</a:t>
            </a:r>
            <a:endParaRPr lang="en-US" sz="1200" dirty="0"/>
          </a:p>
          <a:p>
            <a:pPr marL="0" indent="0" algn="ctr">
              <a:buNone/>
            </a:pPr>
            <a:r>
              <a:rPr lang="en-US" sz="1200" b="1" dirty="0">
                <a:solidFill>
                  <a:srgbClr val="FFFFFF"/>
                </a:solidFill>
              </a:rPr>
              <a:t>Detection</a:t>
            </a:r>
            <a:endParaRPr lang="en-US" sz="1200" dirty="0"/>
          </a:p>
        </p:txBody>
      </p:sp>
      <p:sp>
        <p:nvSpPr>
          <p:cNvPr id="13" name="Text 11"/>
          <p:cNvSpPr/>
          <p:nvPr/>
        </p:nvSpPr>
        <p:spPr>
          <a:xfrm>
            <a:off x="3337560" y="2468880"/>
            <a:ext cx="2468880" cy="1920240"/>
          </a:xfrm>
          <a:prstGeom prst="rect">
            <a:avLst/>
          </a:prstGeom>
          <a:noFill/>
          <a:ln/>
        </p:spPr>
        <p:txBody>
          <a:bodyPr wrap="square" lIns="0" tIns="0" rIns="0" bIns="0" rtlCol="0" anchor="ctr"/>
          <a:lstStyle/>
          <a:p>
            <a:pPr marL="0" indent="0" algn="ctr">
              <a:buNone/>
            </a:pPr>
            <a:r>
              <a:rPr lang="en-US" sz="1200" dirty="0">
                <a:solidFill>
                  <a:srgbClr val="3D3D3D"/>
                </a:solidFill>
              </a:rPr>
              <a:t>Determining if the tone is Positive, Negative or Neutral</a:t>
            </a:r>
            <a:endParaRPr lang="en-US" sz="1200" dirty="0"/>
          </a:p>
        </p:txBody>
      </p:sp>
      <p:sp>
        <p:nvSpPr>
          <p:cNvPr id="14" name="Shape 12"/>
          <p:cNvSpPr/>
          <p:nvPr/>
        </p:nvSpPr>
        <p:spPr>
          <a:xfrm>
            <a:off x="6126480" y="1874520"/>
            <a:ext cx="2743200" cy="2651760"/>
          </a:xfrm>
          <a:prstGeom prst="rect">
            <a:avLst/>
          </a:prstGeom>
          <a:solidFill>
            <a:srgbClr val="FFFFFF"/>
          </a:solidFill>
          <a:ln w="12700">
            <a:solidFill>
              <a:srgbClr val="D4C9B5"/>
            </a:solidFill>
            <a:prstDash val="solid"/>
          </a:ln>
        </p:spPr>
      </p:sp>
      <p:sp>
        <p:nvSpPr>
          <p:cNvPr id="15" name="Shape 13"/>
          <p:cNvSpPr/>
          <p:nvPr/>
        </p:nvSpPr>
        <p:spPr>
          <a:xfrm>
            <a:off x="6126480" y="1874520"/>
            <a:ext cx="2743200" cy="502920"/>
          </a:xfrm>
          <a:prstGeom prst="rect">
            <a:avLst/>
          </a:prstGeom>
          <a:solidFill>
            <a:srgbClr val="C9973A"/>
          </a:solidFill>
          <a:ln w="12700">
            <a:solidFill>
              <a:srgbClr val="C9973A"/>
            </a:solidFill>
            <a:prstDash val="solid"/>
          </a:ln>
        </p:spPr>
      </p:sp>
      <p:sp>
        <p:nvSpPr>
          <p:cNvPr id="16" name="Text 14"/>
          <p:cNvSpPr/>
          <p:nvPr/>
        </p:nvSpPr>
        <p:spPr>
          <a:xfrm>
            <a:off x="6126480" y="187452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Use Cases</a:t>
            </a:r>
            <a:endParaRPr lang="en-US" sz="1200" dirty="0"/>
          </a:p>
        </p:txBody>
      </p:sp>
      <p:sp>
        <p:nvSpPr>
          <p:cNvPr id="17" name="Text 15"/>
          <p:cNvSpPr/>
          <p:nvPr/>
        </p:nvSpPr>
        <p:spPr>
          <a:xfrm>
            <a:off x="6263640" y="2468880"/>
            <a:ext cx="2468880" cy="1920240"/>
          </a:xfrm>
          <a:prstGeom prst="rect">
            <a:avLst/>
          </a:prstGeom>
          <a:noFill/>
          <a:ln/>
        </p:spPr>
        <p:txBody>
          <a:bodyPr wrap="square" lIns="0" tIns="0" rIns="0" bIns="0" rtlCol="0" anchor="ctr"/>
          <a:lstStyle/>
          <a:p>
            <a:pPr marL="0" indent="0" algn="ctr">
              <a:buNone/>
            </a:pPr>
            <a:r>
              <a:rPr lang="en-US" sz="1200" dirty="0">
                <a:solidFill>
                  <a:srgbClr val="3D3D3D"/>
                </a:solidFill>
              </a:rPr>
              <a:t>Product reviews, social media, customer feedback, restaurant ratings</a:t>
            </a:r>
            <a:endParaRPr lang="en-US" sz="1200" dirty="0"/>
          </a:p>
        </p:txBody>
      </p:sp>
      <p:sp>
        <p:nvSpPr>
          <p:cNvPr id="18" name="Text 16"/>
          <p:cNvSpPr/>
          <p:nvPr/>
        </p:nvSpPr>
        <p:spPr>
          <a:xfrm>
            <a:off x="274320" y="4754880"/>
            <a:ext cx="8595360" cy="320040"/>
          </a:xfrm>
          <a:prstGeom prst="rect">
            <a:avLst/>
          </a:prstGeom>
          <a:noFill/>
          <a:ln/>
        </p:spPr>
        <p:txBody>
          <a:bodyPr wrap="square" lIns="0" tIns="0" rIns="0" bIns="0" rtlCol="0" anchor="ctr"/>
          <a:lstStyle/>
          <a:p>
            <a:pPr marL="0" indent="0">
              <a:buNone/>
            </a:pPr>
            <a:r>
              <a:rPr lang="en-US" sz="1200" b="1" dirty="0">
                <a:solidFill>
                  <a:srgbClr val="C9973A"/>
                </a:solidFill>
              </a:rPr>
              <a:t>Example:  </a:t>
            </a:r>
            <a:r>
              <a:rPr lang="en-US" sz="1200" dirty="0">
                <a:solidFill>
                  <a:srgbClr val="3D3D3D"/>
                </a:solidFill>
              </a:rPr>
              <a:t>"The momos here are absolutely delicious!"  →  </a:t>
            </a:r>
            <a:r>
              <a:rPr lang="en-US" sz="1200" b="1" dirty="0">
                <a:solidFill>
                  <a:srgbClr val="3A7D44"/>
                </a:solidFill>
              </a:rPr>
              <a:t>POSITIVE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What is VADER?</a:t>
            </a:r>
            <a:endParaRPr lang="en-US" sz="2200" dirty="0"/>
          </a:p>
        </p:txBody>
      </p:sp>
      <p:sp>
        <p:nvSpPr>
          <p:cNvPr id="4" name="Shape 2"/>
          <p:cNvSpPr/>
          <p:nvPr/>
        </p:nvSpPr>
        <p:spPr>
          <a:xfrm>
            <a:off x="274320" y="822960"/>
            <a:ext cx="8595360" cy="594360"/>
          </a:xfrm>
          <a:prstGeom prst="rect">
            <a:avLst/>
          </a:prstGeom>
          <a:solidFill>
            <a:srgbClr val="C9973A"/>
          </a:solidFill>
          <a:ln w="12700">
            <a:solidFill>
              <a:srgbClr val="C9973A"/>
            </a:solidFill>
            <a:prstDash val="solid"/>
          </a:ln>
        </p:spPr>
      </p:sp>
      <p:sp>
        <p:nvSpPr>
          <p:cNvPr id="5" name="Text 3"/>
          <p:cNvSpPr/>
          <p:nvPr/>
        </p:nvSpPr>
        <p:spPr>
          <a:xfrm>
            <a:off x="274320" y="822960"/>
            <a:ext cx="8595360" cy="594360"/>
          </a:xfrm>
          <a:prstGeom prst="rect">
            <a:avLst/>
          </a:prstGeom>
          <a:noFill/>
          <a:ln/>
        </p:spPr>
        <p:txBody>
          <a:bodyPr wrap="square" lIns="0" tIns="0" rIns="0" bIns="0" rtlCol="0" anchor="ctr"/>
          <a:lstStyle/>
          <a:p>
            <a:pPr marL="0" indent="0" algn="ctr">
              <a:buNone/>
            </a:pPr>
            <a:r>
              <a:rPr lang="en-US" sz="1500" b="1" dirty="0">
                <a:solidFill>
                  <a:srgbClr val="FFFFFF"/>
                </a:solidFill>
              </a:rPr>
              <a:t>VADER — Valence Aware Dictionary and sEntiment Reasoner</a:t>
            </a:r>
            <a:endParaRPr lang="en-US" sz="1500" dirty="0"/>
          </a:p>
        </p:txBody>
      </p:sp>
      <p:sp>
        <p:nvSpPr>
          <p:cNvPr id="6" name="Shape 4"/>
          <p:cNvSpPr/>
          <p:nvPr/>
        </p:nvSpPr>
        <p:spPr>
          <a:xfrm>
            <a:off x="274320" y="1554480"/>
            <a:ext cx="54864" cy="411480"/>
          </a:xfrm>
          <a:prstGeom prst="rect">
            <a:avLst/>
          </a:prstGeom>
          <a:solidFill>
            <a:srgbClr val="C9973A"/>
          </a:solidFill>
          <a:ln w="12700">
            <a:solidFill>
              <a:srgbClr val="C9973A"/>
            </a:solidFill>
            <a:prstDash val="solid"/>
          </a:ln>
        </p:spPr>
      </p:sp>
      <p:sp>
        <p:nvSpPr>
          <p:cNvPr id="7" name="Text 5"/>
          <p:cNvSpPr/>
          <p:nvPr/>
        </p:nvSpPr>
        <p:spPr>
          <a:xfrm>
            <a:off x="457200" y="1554480"/>
            <a:ext cx="2194560" cy="201168"/>
          </a:xfrm>
          <a:prstGeom prst="rect">
            <a:avLst/>
          </a:prstGeom>
          <a:noFill/>
          <a:ln/>
        </p:spPr>
        <p:txBody>
          <a:bodyPr wrap="square" lIns="0" tIns="0" rIns="0" bIns="0" rtlCol="0" anchor="ctr"/>
          <a:lstStyle/>
          <a:p>
            <a:pPr marL="0" indent="0">
              <a:buNone/>
            </a:pPr>
            <a:r>
              <a:rPr lang="en-US" sz="1200" b="1" dirty="0">
                <a:solidFill>
                  <a:srgbClr val="243B28"/>
                </a:solidFill>
              </a:rPr>
              <a:t>Rule-based NLP</a:t>
            </a:r>
            <a:endParaRPr lang="en-US" sz="1200" dirty="0"/>
          </a:p>
        </p:txBody>
      </p:sp>
      <p:sp>
        <p:nvSpPr>
          <p:cNvPr id="8" name="Text 6"/>
          <p:cNvSpPr/>
          <p:nvPr/>
        </p:nvSpPr>
        <p:spPr>
          <a:xfrm>
            <a:off x="457200" y="1755648"/>
            <a:ext cx="8321040" cy="256032"/>
          </a:xfrm>
          <a:prstGeom prst="rect">
            <a:avLst/>
          </a:prstGeom>
          <a:noFill/>
          <a:ln/>
        </p:spPr>
        <p:txBody>
          <a:bodyPr wrap="square" lIns="0" tIns="0" rIns="0" bIns="0" rtlCol="0" anchor="ctr"/>
          <a:lstStyle/>
          <a:p>
            <a:pPr marL="0" indent="0">
              <a:buNone/>
            </a:pPr>
            <a:r>
              <a:rPr lang="en-US" sz="1100" dirty="0">
                <a:solidFill>
                  <a:srgbClr val="3D3D3D"/>
                </a:solidFill>
              </a:rPr>
              <a:t>Uses a pre-built lexicon of words with sentiment scores — no training needed.</a:t>
            </a:r>
            <a:endParaRPr lang="en-US" sz="1100" dirty="0"/>
          </a:p>
        </p:txBody>
      </p:sp>
      <p:sp>
        <p:nvSpPr>
          <p:cNvPr id="9" name="Shape 7"/>
          <p:cNvSpPr/>
          <p:nvPr/>
        </p:nvSpPr>
        <p:spPr>
          <a:xfrm>
            <a:off x="274320" y="2212848"/>
            <a:ext cx="54864" cy="411480"/>
          </a:xfrm>
          <a:prstGeom prst="rect">
            <a:avLst/>
          </a:prstGeom>
          <a:solidFill>
            <a:srgbClr val="C9973A"/>
          </a:solidFill>
          <a:ln w="12700">
            <a:solidFill>
              <a:srgbClr val="C9973A"/>
            </a:solidFill>
            <a:prstDash val="solid"/>
          </a:ln>
        </p:spPr>
      </p:sp>
      <p:sp>
        <p:nvSpPr>
          <p:cNvPr id="10" name="Text 8"/>
          <p:cNvSpPr/>
          <p:nvPr/>
        </p:nvSpPr>
        <p:spPr>
          <a:xfrm>
            <a:off x="457200" y="2212848"/>
            <a:ext cx="2194560" cy="201168"/>
          </a:xfrm>
          <a:prstGeom prst="rect">
            <a:avLst/>
          </a:prstGeom>
          <a:noFill/>
          <a:ln/>
        </p:spPr>
        <p:txBody>
          <a:bodyPr wrap="square" lIns="0" tIns="0" rIns="0" bIns="0" rtlCol="0" anchor="ctr"/>
          <a:lstStyle/>
          <a:p>
            <a:pPr marL="0" indent="0">
              <a:buNone/>
            </a:pPr>
            <a:r>
              <a:rPr lang="en-US" sz="1200" b="1" dirty="0">
                <a:solidFill>
                  <a:srgbClr val="243B28"/>
                </a:solidFill>
              </a:rPr>
              <a:t>Compound Score</a:t>
            </a:r>
            <a:endParaRPr lang="en-US" sz="1200" dirty="0"/>
          </a:p>
        </p:txBody>
      </p:sp>
      <p:sp>
        <p:nvSpPr>
          <p:cNvPr id="11" name="Text 9"/>
          <p:cNvSpPr/>
          <p:nvPr/>
        </p:nvSpPr>
        <p:spPr>
          <a:xfrm>
            <a:off x="457200" y="2414016"/>
            <a:ext cx="8321040" cy="256032"/>
          </a:xfrm>
          <a:prstGeom prst="rect">
            <a:avLst/>
          </a:prstGeom>
          <a:noFill/>
          <a:ln/>
        </p:spPr>
        <p:txBody>
          <a:bodyPr wrap="square" lIns="0" tIns="0" rIns="0" bIns="0" rtlCol="0" anchor="ctr"/>
          <a:lstStyle/>
          <a:p>
            <a:pPr marL="0" indent="0">
              <a:buNone/>
            </a:pPr>
            <a:r>
              <a:rPr lang="en-US" sz="1100" dirty="0">
                <a:solidFill>
                  <a:srgbClr val="3D3D3D"/>
                </a:solidFill>
              </a:rPr>
              <a:t>Returns a score from –1.0 (most negative) to +1.0 (most positive) per text.</a:t>
            </a:r>
            <a:endParaRPr lang="en-US" sz="1100" dirty="0"/>
          </a:p>
        </p:txBody>
      </p:sp>
      <p:sp>
        <p:nvSpPr>
          <p:cNvPr id="12" name="Shape 10"/>
          <p:cNvSpPr/>
          <p:nvPr/>
        </p:nvSpPr>
        <p:spPr>
          <a:xfrm>
            <a:off x="274320" y="2871216"/>
            <a:ext cx="54864" cy="411480"/>
          </a:xfrm>
          <a:prstGeom prst="rect">
            <a:avLst/>
          </a:prstGeom>
          <a:solidFill>
            <a:srgbClr val="C9973A"/>
          </a:solidFill>
          <a:ln w="12700">
            <a:solidFill>
              <a:srgbClr val="C9973A"/>
            </a:solidFill>
            <a:prstDash val="solid"/>
          </a:ln>
        </p:spPr>
      </p:sp>
      <p:sp>
        <p:nvSpPr>
          <p:cNvPr id="13" name="Text 11"/>
          <p:cNvSpPr/>
          <p:nvPr/>
        </p:nvSpPr>
        <p:spPr>
          <a:xfrm>
            <a:off x="457200" y="2871216"/>
            <a:ext cx="2194560" cy="201168"/>
          </a:xfrm>
          <a:prstGeom prst="rect">
            <a:avLst/>
          </a:prstGeom>
          <a:noFill/>
          <a:ln/>
        </p:spPr>
        <p:txBody>
          <a:bodyPr wrap="square" lIns="0" tIns="0" rIns="0" bIns="0" rtlCol="0" anchor="ctr"/>
          <a:lstStyle/>
          <a:p>
            <a:pPr marL="0" indent="0">
              <a:buNone/>
            </a:pPr>
            <a:r>
              <a:rPr lang="en-US" sz="1200" b="1" dirty="0">
                <a:solidFill>
                  <a:srgbClr val="243B28"/>
                </a:solidFill>
              </a:rPr>
              <a:t>Thresholds Used</a:t>
            </a:r>
            <a:endParaRPr lang="en-US" sz="1200" dirty="0"/>
          </a:p>
        </p:txBody>
      </p:sp>
      <p:sp>
        <p:nvSpPr>
          <p:cNvPr id="14" name="Text 12"/>
          <p:cNvSpPr/>
          <p:nvPr/>
        </p:nvSpPr>
        <p:spPr>
          <a:xfrm>
            <a:off x="457200" y="3072384"/>
            <a:ext cx="8321040" cy="256032"/>
          </a:xfrm>
          <a:prstGeom prst="rect">
            <a:avLst/>
          </a:prstGeom>
          <a:noFill/>
          <a:ln/>
        </p:spPr>
        <p:txBody>
          <a:bodyPr wrap="square" lIns="0" tIns="0" rIns="0" bIns="0" rtlCol="0" anchor="ctr"/>
          <a:lstStyle/>
          <a:p>
            <a:pPr marL="0" indent="0">
              <a:buNone/>
            </a:pPr>
            <a:r>
              <a:rPr lang="en-US" sz="1100" dirty="0">
                <a:solidFill>
                  <a:srgbClr val="3D3D3D"/>
                </a:solidFill>
              </a:rPr>
              <a:t>≥ 0.05 → Positive   |   ≤ –0.05 → Negative   |   Between → Neutral</a:t>
            </a:r>
            <a:endParaRPr lang="en-US" sz="1100" dirty="0"/>
          </a:p>
        </p:txBody>
      </p:sp>
      <p:sp>
        <p:nvSpPr>
          <p:cNvPr id="15" name="Shape 13"/>
          <p:cNvSpPr/>
          <p:nvPr/>
        </p:nvSpPr>
        <p:spPr>
          <a:xfrm>
            <a:off x="274320" y="3529584"/>
            <a:ext cx="54864" cy="411480"/>
          </a:xfrm>
          <a:prstGeom prst="rect">
            <a:avLst/>
          </a:prstGeom>
          <a:solidFill>
            <a:srgbClr val="C9973A"/>
          </a:solidFill>
          <a:ln w="12700">
            <a:solidFill>
              <a:srgbClr val="C9973A"/>
            </a:solidFill>
            <a:prstDash val="solid"/>
          </a:ln>
        </p:spPr>
      </p:sp>
      <p:sp>
        <p:nvSpPr>
          <p:cNvPr id="16" name="Text 14"/>
          <p:cNvSpPr/>
          <p:nvPr/>
        </p:nvSpPr>
        <p:spPr>
          <a:xfrm>
            <a:off x="457200" y="3529584"/>
            <a:ext cx="2194560" cy="201168"/>
          </a:xfrm>
          <a:prstGeom prst="rect">
            <a:avLst/>
          </a:prstGeom>
          <a:noFill/>
          <a:ln/>
        </p:spPr>
        <p:txBody>
          <a:bodyPr wrap="square" lIns="0" tIns="0" rIns="0" bIns="0" rtlCol="0" anchor="ctr"/>
          <a:lstStyle/>
          <a:p>
            <a:pPr marL="0" indent="0">
              <a:buNone/>
            </a:pPr>
            <a:r>
              <a:rPr lang="en-US" sz="1200" b="1" dirty="0">
                <a:solidFill>
                  <a:srgbClr val="243B28"/>
                </a:solidFill>
              </a:rPr>
              <a:t>Handles Informality</a:t>
            </a:r>
            <a:endParaRPr lang="en-US" sz="1200" dirty="0"/>
          </a:p>
        </p:txBody>
      </p:sp>
      <p:sp>
        <p:nvSpPr>
          <p:cNvPr id="17" name="Text 15"/>
          <p:cNvSpPr/>
          <p:nvPr/>
        </p:nvSpPr>
        <p:spPr>
          <a:xfrm>
            <a:off x="457200" y="3730752"/>
            <a:ext cx="8321040" cy="256032"/>
          </a:xfrm>
          <a:prstGeom prst="rect">
            <a:avLst/>
          </a:prstGeom>
          <a:noFill/>
          <a:ln/>
        </p:spPr>
        <p:txBody>
          <a:bodyPr wrap="square" lIns="0" tIns="0" rIns="0" bIns="0" rtlCol="0" anchor="ctr"/>
          <a:lstStyle/>
          <a:p>
            <a:pPr marL="0" indent="0">
              <a:buNone/>
            </a:pPr>
            <a:r>
              <a:rPr lang="en-US" sz="1100" dirty="0">
                <a:solidFill>
                  <a:srgbClr val="3D3D3D"/>
                </a:solidFill>
              </a:rPr>
              <a:t>Works well with abbreviations, slang, punctuation (!!!), and CAPS emphasis.</a:t>
            </a:r>
            <a:endParaRPr lang="en-US" sz="1100" dirty="0"/>
          </a:p>
        </p:txBody>
      </p:sp>
      <p:sp>
        <p:nvSpPr>
          <p:cNvPr id="18" name="Shape 16"/>
          <p:cNvSpPr/>
          <p:nvPr/>
        </p:nvSpPr>
        <p:spPr>
          <a:xfrm>
            <a:off x="274320" y="4187952"/>
            <a:ext cx="54864" cy="411480"/>
          </a:xfrm>
          <a:prstGeom prst="rect">
            <a:avLst/>
          </a:prstGeom>
          <a:solidFill>
            <a:srgbClr val="C9973A"/>
          </a:solidFill>
          <a:ln w="12700">
            <a:solidFill>
              <a:srgbClr val="C9973A"/>
            </a:solidFill>
            <a:prstDash val="solid"/>
          </a:ln>
        </p:spPr>
      </p:sp>
      <p:sp>
        <p:nvSpPr>
          <p:cNvPr id="19" name="Text 17"/>
          <p:cNvSpPr/>
          <p:nvPr/>
        </p:nvSpPr>
        <p:spPr>
          <a:xfrm>
            <a:off x="457200" y="4187952"/>
            <a:ext cx="2194560" cy="201168"/>
          </a:xfrm>
          <a:prstGeom prst="rect">
            <a:avLst/>
          </a:prstGeom>
          <a:noFill/>
          <a:ln/>
        </p:spPr>
        <p:txBody>
          <a:bodyPr wrap="square" lIns="0" tIns="0" rIns="0" bIns="0" rtlCol="0" anchor="ctr"/>
          <a:lstStyle/>
          <a:p>
            <a:pPr marL="0" indent="0">
              <a:buNone/>
            </a:pPr>
            <a:r>
              <a:rPr lang="en-US" sz="1200" b="1" dirty="0">
                <a:solidFill>
                  <a:srgbClr val="243B28"/>
                </a:solidFill>
              </a:rPr>
              <a:t>Why VADER for Reviews?</a:t>
            </a:r>
            <a:endParaRPr lang="en-US" sz="1200" dirty="0"/>
          </a:p>
        </p:txBody>
      </p:sp>
      <p:sp>
        <p:nvSpPr>
          <p:cNvPr id="20" name="Text 18"/>
          <p:cNvSpPr/>
          <p:nvPr/>
        </p:nvSpPr>
        <p:spPr>
          <a:xfrm>
            <a:off x="457200" y="4389120"/>
            <a:ext cx="8321040" cy="256032"/>
          </a:xfrm>
          <a:prstGeom prst="rect">
            <a:avLst/>
          </a:prstGeom>
          <a:noFill/>
          <a:ln/>
        </p:spPr>
        <p:txBody>
          <a:bodyPr wrap="square" lIns="0" tIns="0" rIns="0" bIns="0" rtlCol="0" anchor="ctr"/>
          <a:lstStyle/>
          <a:p>
            <a:pPr marL="0" indent="0">
              <a:buNone/>
            </a:pPr>
            <a:r>
              <a:rPr lang="en-US" sz="1100" dirty="0">
                <a:solidFill>
                  <a:srgbClr val="3D3D3D"/>
                </a:solidFill>
              </a:rPr>
              <a:t>Google reviews are short, informal, and opinionated — ideal for VADER's design.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Dataset Overview</a:t>
            </a:r>
            <a:endParaRPr lang="en-US" sz="2200" dirty="0"/>
          </a:p>
        </p:txBody>
      </p:sp>
      <p:sp>
        <p:nvSpPr>
          <p:cNvPr id="4" name="Shape 2"/>
          <p:cNvSpPr/>
          <p:nvPr/>
        </p:nvSpPr>
        <p:spPr>
          <a:xfrm>
            <a:off x="274320" y="822960"/>
            <a:ext cx="1554480" cy="1188720"/>
          </a:xfrm>
          <a:prstGeom prst="rect">
            <a:avLst/>
          </a:prstGeom>
          <a:solidFill>
            <a:srgbClr val="FFFFFF"/>
          </a:solidFill>
          <a:ln w="12700">
            <a:solidFill>
              <a:srgbClr val="D4C9B5"/>
            </a:solidFill>
            <a:prstDash val="solid"/>
          </a:ln>
        </p:spPr>
      </p:sp>
      <p:sp>
        <p:nvSpPr>
          <p:cNvPr id="5" name="Shape 3"/>
          <p:cNvSpPr/>
          <p:nvPr/>
        </p:nvSpPr>
        <p:spPr>
          <a:xfrm>
            <a:off x="274320" y="822960"/>
            <a:ext cx="1554480" cy="73152"/>
          </a:xfrm>
          <a:prstGeom prst="rect">
            <a:avLst/>
          </a:prstGeom>
          <a:solidFill>
            <a:srgbClr val="C9973A"/>
          </a:solidFill>
          <a:ln w="12700">
            <a:solidFill>
              <a:srgbClr val="C9973A"/>
            </a:solidFill>
            <a:prstDash val="solid"/>
          </a:ln>
        </p:spPr>
      </p:sp>
      <p:sp>
        <p:nvSpPr>
          <p:cNvPr id="6" name="Text 4"/>
          <p:cNvSpPr/>
          <p:nvPr/>
        </p:nvSpPr>
        <p:spPr>
          <a:xfrm>
            <a:off x="274320" y="914400"/>
            <a:ext cx="1554480" cy="594360"/>
          </a:xfrm>
          <a:prstGeom prst="rect">
            <a:avLst/>
          </a:prstGeom>
          <a:noFill/>
          <a:ln/>
        </p:spPr>
        <p:txBody>
          <a:bodyPr wrap="square" lIns="0" tIns="0" rIns="0" bIns="0" rtlCol="0" anchor="ctr"/>
          <a:lstStyle/>
          <a:p>
            <a:pPr marL="0" indent="0" algn="ctr">
              <a:buNone/>
            </a:pPr>
            <a:r>
              <a:rPr lang="en-US" sz="3200" b="1" dirty="0">
                <a:solidFill>
                  <a:srgbClr val="C9973A"/>
                </a:solidFill>
              </a:rPr>
              <a:t>21</a:t>
            </a:r>
            <a:endParaRPr lang="en-US" sz="3200" dirty="0"/>
          </a:p>
        </p:txBody>
      </p:sp>
      <p:sp>
        <p:nvSpPr>
          <p:cNvPr id="7" name="Text 5"/>
          <p:cNvSpPr/>
          <p:nvPr/>
        </p:nvSpPr>
        <p:spPr>
          <a:xfrm>
            <a:off x="274320" y="1508760"/>
            <a:ext cx="1554480" cy="457200"/>
          </a:xfrm>
          <a:prstGeom prst="rect">
            <a:avLst/>
          </a:prstGeom>
          <a:noFill/>
          <a:ln/>
        </p:spPr>
        <p:txBody>
          <a:bodyPr wrap="square" lIns="0" tIns="0" rIns="0" bIns="0" rtlCol="0" anchor="ctr"/>
          <a:lstStyle/>
          <a:p>
            <a:pPr marL="0" indent="0" algn="ctr">
              <a:buNone/>
            </a:pPr>
            <a:r>
              <a:rPr lang="en-US" sz="1100" dirty="0">
                <a:solidFill>
                  <a:srgbClr val="3D3D3D"/>
                </a:solidFill>
              </a:rPr>
              <a:t>Restaurants</a:t>
            </a:r>
            <a:endParaRPr lang="en-US" sz="1100" dirty="0"/>
          </a:p>
          <a:p>
            <a:pPr marL="0" indent="0" algn="ctr">
              <a:buNone/>
            </a:pPr>
            <a:r>
              <a:rPr lang="en-US" sz="1100" dirty="0">
                <a:solidFill>
                  <a:srgbClr val="3D3D3D"/>
                </a:solidFill>
              </a:rPr>
              <a:t>&amp; Cafes</a:t>
            </a:r>
            <a:endParaRPr lang="en-US" sz="1100" dirty="0"/>
          </a:p>
        </p:txBody>
      </p:sp>
      <p:sp>
        <p:nvSpPr>
          <p:cNvPr id="8" name="Shape 6"/>
          <p:cNvSpPr/>
          <p:nvPr/>
        </p:nvSpPr>
        <p:spPr>
          <a:xfrm>
            <a:off x="2011680" y="822960"/>
            <a:ext cx="1554480" cy="1188720"/>
          </a:xfrm>
          <a:prstGeom prst="rect">
            <a:avLst/>
          </a:prstGeom>
          <a:solidFill>
            <a:srgbClr val="FFFFFF"/>
          </a:solidFill>
          <a:ln w="12700">
            <a:solidFill>
              <a:srgbClr val="D4C9B5"/>
            </a:solidFill>
            <a:prstDash val="solid"/>
          </a:ln>
        </p:spPr>
      </p:sp>
      <p:sp>
        <p:nvSpPr>
          <p:cNvPr id="9" name="Shape 7"/>
          <p:cNvSpPr/>
          <p:nvPr/>
        </p:nvSpPr>
        <p:spPr>
          <a:xfrm>
            <a:off x="2011680" y="822960"/>
            <a:ext cx="1554480" cy="73152"/>
          </a:xfrm>
          <a:prstGeom prst="rect">
            <a:avLst/>
          </a:prstGeom>
          <a:solidFill>
            <a:srgbClr val="C9973A"/>
          </a:solidFill>
          <a:ln w="12700">
            <a:solidFill>
              <a:srgbClr val="C9973A"/>
            </a:solidFill>
            <a:prstDash val="solid"/>
          </a:ln>
        </p:spPr>
      </p:sp>
      <p:sp>
        <p:nvSpPr>
          <p:cNvPr id="10" name="Text 8"/>
          <p:cNvSpPr/>
          <p:nvPr/>
        </p:nvSpPr>
        <p:spPr>
          <a:xfrm>
            <a:off x="2011680" y="914400"/>
            <a:ext cx="1554480" cy="594360"/>
          </a:xfrm>
          <a:prstGeom prst="rect">
            <a:avLst/>
          </a:prstGeom>
          <a:noFill/>
          <a:ln/>
        </p:spPr>
        <p:txBody>
          <a:bodyPr wrap="square" lIns="0" tIns="0" rIns="0" bIns="0" rtlCol="0" anchor="ctr"/>
          <a:lstStyle/>
          <a:p>
            <a:pPr marL="0" indent="0" algn="ctr">
              <a:buNone/>
            </a:pPr>
            <a:r>
              <a:rPr lang="en-US" sz="3200" b="1" dirty="0">
                <a:solidFill>
                  <a:srgbClr val="C9973A"/>
                </a:solidFill>
              </a:rPr>
              <a:t>205</a:t>
            </a:r>
            <a:endParaRPr lang="en-US" sz="3200" dirty="0"/>
          </a:p>
        </p:txBody>
      </p:sp>
      <p:sp>
        <p:nvSpPr>
          <p:cNvPr id="11" name="Text 9"/>
          <p:cNvSpPr/>
          <p:nvPr/>
        </p:nvSpPr>
        <p:spPr>
          <a:xfrm>
            <a:off x="2011680" y="1508760"/>
            <a:ext cx="1554480" cy="457200"/>
          </a:xfrm>
          <a:prstGeom prst="rect">
            <a:avLst/>
          </a:prstGeom>
          <a:noFill/>
          <a:ln/>
        </p:spPr>
        <p:txBody>
          <a:bodyPr wrap="square" lIns="0" tIns="0" rIns="0" bIns="0" rtlCol="0" anchor="ctr"/>
          <a:lstStyle/>
          <a:p>
            <a:pPr marL="0" indent="0" algn="ctr">
              <a:buNone/>
            </a:pPr>
            <a:r>
              <a:rPr lang="en-US" sz="1100" dirty="0">
                <a:solidFill>
                  <a:srgbClr val="3D3D3D"/>
                </a:solidFill>
              </a:rPr>
              <a:t>Total</a:t>
            </a:r>
            <a:endParaRPr lang="en-US" sz="1100" dirty="0"/>
          </a:p>
          <a:p>
            <a:pPr marL="0" indent="0" algn="ctr">
              <a:buNone/>
            </a:pPr>
            <a:r>
              <a:rPr lang="en-US" sz="1100" dirty="0">
                <a:solidFill>
                  <a:srgbClr val="3D3D3D"/>
                </a:solidFill>
              </a:rPr>
              <a:t>Reviews</a:t>
            </a:r>
            <a:endParaRPr lang="en-US" sz="1100" dirty="0"/>
          </a:p>
        </p:txBody>
      </p:sp>
      <p:sp>
        <p:nvSpPr>
          <p:cNvPr id="12" name="Shape 10"/>
          <p:cNvSpPr/>
          <p:nvPr/>
        </p:nvSpPr>
        <p:spPr>
          <a:xfrm>
            <a:off x="3749040" y="822960"/>
            <a:ext cx="1554480" cy="1188720"/>
          </a:xfrm>
          <a:prstGeom prst="rect">
            <a:avLst/>
          </a:prstGeom>
          <a:solidFill>
            <a:srgbClr val="FFFFFF"/>
          </a:solidFill>
          <a:ln w="12700">
            <a:solidFill>
              <a:srgbClr val="D4C9B5"/>
            </a:solidFill>
            <a:prstDash val="solid"/>
          </a:ln>
        </p:spPr>
      </p:sp>
      <p:sp>
        <p:nvSpPr>
          <p:cNvPr id="13" name="Shape 11"/>
          <p:cNvSpPr/>
          <p:nvPr/>
        </p:nvSpPr>
        <p:spPr>
          <a:xfrm>
            <a:off x="3749040" y="822960"/>
            <a:ext cx="1554480" cy="73152"/>
          </a:xfrm>
          <a:prstGeom prst="rect">
            <a:avLst/>
          </a:prstGeom>
          <a:solidFill>
            <a:srgbClr val="C9973A"/>
          </a:solidFill>
          <a:ln w="12700">
            <a:solidFill>
              <a:srgbClr val="C9973A"/>
            </a:solidFill>
            <a:prstDash val="solid"/>
          </a:ln>
        </p:spPr>
      </p:sp>
      <p:sp>
        <p:nvSpPr>
          <p:cNvPr id="14" name="Text 12"/>
          <p:cNvSpPr/>
          <p:nvPr/>
        </p:nvSpPr>
        <p:spPr>
          <a:xfrm>
            <a:off x="3749040" y="914400"/>
            <a:ext cx="1554480" cy="594360"/>
          </a:xfrm>
          <a:prstGeom prst="rect">
            <a:avLst/>
          </a:prstGeom>
          <a:noFill/>
          <a:ln/>
        </p:spPr>
        <p:txBody>
          <a:bodyPr wrap="square" lIns="0" tIns="0" rIns="0" bIns="0" rtlCol="0" anchor="ctr"/>
          <a:lstStyle/>
          <a:p>
            <a:pPr marL="0" indent="0" algn="ctr">
              <a:buNone/>
            </a:pPr>
            <a:r>
              <a:rPr lang="en-US" sz="3200" b="1" dirty="0">
                <a:solidFill>
                  <a:srgbClr val="C9973A"/>
                </a:solidFill>
              </a:rPr>
              <a:t>173</a:t>
            </a:r>
            <a:endParaRPr lang="en-US" sz="3200" dirty="0"/>
          </a:p>
        </p:txBody>
      </p:sp>
      <p:sp>
        <p:nvSpPr>
          <p:cNvPr id="15" name="Text 13"/>
          <p:cNvSpPr/>
          <p:nvPr/>
        </p:nvSpPr>
        <p:spPr>
          <a:xfrm>
            <a:off x="3749040" y="1508760"/>
            <a:ext cx="1554480" cy="457200"/>
          </a:xfrm>
          <a:prstGeom prst="rect">
            <a:avLst/>
          </a:prstGeom>
          <a:noFill/>
          <a:ln/>
        </p:spPr>
        <p:txBody>
          <a:bodyPr wrap="square" lIns="0" tIns="0" rIns="0" bIns="0" rtlCol="0" anchor="ctr"/>
          <a:lstStyle/>
          <a:p>
            <a:pPr marL="0" indent="0" algn="ctr">
              <a:buNone/>
            </a:pPr>
            <a:r>
              <a:rPr lang="en-US" sz="1100" dirty="0">
                <a:solidFill>
                  <a:srgbClr val="3D3D3D"/>
                </a:solidFill>
              </a:rPr>
              <a:t>Positive</a:t>
            </a:r>
            <a:endParaRPr lang="en-US" sz="1100" dirty="0"/>
          </a:p>
          <a:p>
            <a:pPr marL="0" indent="0" algn="ctr">
              <a:buNone/>
            </a:pPr>
            <a:r>
              <a:rPr lang="en-US" sz="1100" dirty="0">
                <a:solidFill>
                  <a:srgbClr val="3D3D3D"/>
                </a:solidFill>
              </a:rPr>
              <a:t>Reviews</a:t>
            </a:r>
            <a:endParaRPr lang="en-US" sz="1100" dirty="0"/>
          </a:p>
        </p:txBody>
      </p:sp>
      <p:sp>
        <p:nvSpPr>
          <p:cNvPr id="16" name="Shape 14"/>
          <p:cNvSpPr/>
          <p:nvPr/>
        </p:nvSpPr>
        <p:spPr>
          <a:xfrm>
            <a:off x="5486400" y="822960"/>
            <a:ext cx="1554480" cy="1188720"/>
          </a:xfrm>
          <a:prstGeom prst="rect">
            <a:avLst/>
          </a:prstGeom>
          <a:solidFill>
            <a:srgbClr val="FFFFFF"/>
          </a:solidFill>
          <a:ln w="12700">
            <a:solidFill>
              <a:srgbClr val="D4C9B5"/>
            </a:solidFill>
            <a:prstDash val="solid"/>
          </a:ln>
        </p:spPr>
      </p:sp>
      <p:sp>
        <p:nvSpPr>
          <p:cNvPr id="17" name="Shape 15"/>
          <p:cNvSpPr/>
          <p:nvPr/>
        </p:nvSpPr>
        <p:spPr>
          <a:xfrm>
            <a:off x="5486400" y="822960"/>
            <a:ext cx="1554480" cy="73152"/>
          </a:xfrm>
          <a:prstGeom prst="rect">
            <a:avLst/>
          </a:prstGeom>
          <a:solidFill>
            <a:srgbClr val="C9973A"/>
          </a:solidFill>
          <a:ln w="12700">
            <a:solidFill>
              <a:srgbClr val="C9973A"/>
            </a:solidFill>
            <a:prstDash val="solid"/>
          </a:ln>
        </p:spPr>
      </p:sp>
      <p:sp>
        <p:nvSpPr>
          <p:cNvPr id="18" name="Text 16"/>
          <p:cNvSpPr/>
          <p:nvPr/>
        </p:nvSpPr>
        <p:spPr>
          <a:xfrm>
            <a:off x="5486400" y="914400"/>
            <a:ext cx="1554480" cy="594360"/>
          </a:xfrm>
          <a:prstGeom prst="rect">
            <a:avLst/>
          </a:prstGeom>
          <a:noFill/>
          <a:ln/>
        </p:spPr>
        <p:txBody>
          <a:bodyPr wrap="square" lIns="0" tIns="0" rIns="0" bIns="0" rtlCol="0" anchor="ctr"/>
          <a:lstStyle/>
          <a:p>
            <a:pPr marL="0" indent="0" algn="ctr">
              <a:buNone/>
            </a:pPr>
            <a:r>
              <a:rPr lang="en-US" sz="3200" b="1" dirty="0">
                <a:solidFill>
                  <a:srgbClr val="C9973A"/>
                </a:solidFill>
              </a:rPr>
              <a:t>26</a:t>
            </a:r>
            <a:endParaRPr lang="en-US" sz="3200" dirty="0"/>
          </a:p>
        </p:txBody>
      </p:sp>
      <p:sp>
        <p:nvSpPr>
          <p:cNvPr id="19" name="Text 17"/>
          <p:cNvSpPr/>
          <p:nvPr/>
        </p:nvSpPr>
        <p:spPr>
          <a:xfrm>
            <a:off x="5486400" y="1508760"/>
            <a:ext cx="1554480" cy="457200"/>
          </a:xfrm>
          <a:prstGeom prst="rect">
            <a:avLst/>
          </a:prstGeom>
          <a:noFill/>
          <a:ln/>
        </p:spPr>
        <p:txBody>
          <a:bodyPr wrap="square" lIns="0" tIns="0" rIns="0" bIns="0" rtlCol="0" anchor="ctr"/>
          <a:lstStyle/>
          <a:p>
            <a:pPr marL="0" indent="0" algn="ctr">
              <a:buNone/>
            </a:pPr>
            <a:r>
              <a:rPr lang="en-US" sz="1100" dirty="0">
                <a:solidFill>
                  <a:srgbClr val="3D3D3D"/>
                </a:solidFill>
              </a:rPr>
              <a:t>Negative</a:t>
            </a:r>
            <a:endParaRPr lang="en-US" sz="1100" dirty="0"/>
          </a:p>
          <a:p>
            <a:pPr marL="0" indent="0" algn="ctr">
              <a:buNone/>
            </a:pPr>
            <a:r>
              <a:rPr lang="en-US" sz="1100" dirty="0">
                <a:solidFill>
                  <a:srgbClr val="3D3D3D"/>
                </a:solidFill>
              </a:rPr>
              <a:t>Reviews</a:t>
            </a:r>
            <a:endParaRPr lang="en-US" sz="1100" dirty="0"/>
          </a:p>
        </p:txBody>
      </p:sp>
      <p:sp>
        <p:nvSpPr>
          <p:cNvPr id="20" name="Shape 18"/>
          <p:cNvSpPr/>
          <p:nvPr/>
        </p:nvSpPr>
        <p:spPr>
          <a:xfrm>
            <a:off x="7223760" y="822960"/>
            <a:ext cx="1554480" cy="1188720"/>
          </a:xfrm>
          <a:prstGeom prst="rect">
            <a:avLst/>
          </a:prstGeom>
          <a:solidFill>
            <a:srgbClr val="FFFFFF"/>
          </a:solidFill>
          <a:ln w="12700">
            <a:solidFill>
              <a:srgbClr val="D4C9B5"/>
            </a:solidFill>
            <a:prstDash val="solid"/>
          </a:ln>
        </p:spPr>
      </p:sp>
      <p:sp>
        <p:nvSpPr>
          <p:cNvPr id="21" name="Shape 19"/>
          <p:cNvSpPr/>
          <p:nvPr/>
        </p:nvSpPr>
        <p:spPr>
          <a:xfrm>
            <a:off x="7223760" y="822960"/>
            <a:ext cx="1554480" cy="73152"/>
          </a:xfrm>
          <a:prstGeom prst="rect">
            <a:avLst/>
          </a:prstGeom>
          <a:solidFill>
            <a:srgbClr val="C9973A"/>
          </a:solidFill>
          <a:ln w="12700">
            <a:solidFill>
              <a:srgbClr val="C9973A"/>
            </a:solidFill>
            <a:prstDash val="solid"/>
          </a:ln>
        </p:spPr>
      </p:sp>
      <p:sp>
        <p:nvSpPr>
          <p:cNvPr id="22" name="Text 20"/>
          <p:cNvSpPr/>
          <p:nvPr/>
        </p:nvSpPr>
        <p:spPr>
          <a:xfrm>
            <a:off x="7223760" y="914400"/>
            <a:ext cx="1554480" cy="594360"/>
          </a:xfrm>
          <a:prstGeom prst="rect">
            <a:avLst/>
          </a:prstGeom>
          <a:noFill/>
          <a:ln/>
        </p:spPr>
        <p:txBody>
          <a:bodyPr wrap="square" lIns="0" tIns="0" rIns="0" bIns="0" rtlCol="0" anchor="ctr"/>
          <a:lstStyle/>
          <a:p>
            <a:pPr marL="0" indent="0" algn="ctr">
              <a:buNone/>
            </a:pPr>
            <a:r>
              <a:rPr lang="en-US" sz="3200" b="1" dirty="0">
                <a:solidFill>
                  <a:srgbClr val="C9973A"/>
                </a:solidFill>
              </a:rPr>
              <a:t>6</a:t>
            </a:r>
            <a:endParaRPr lang="en-US" sz="3200" dirty="0"/>
          </a:p>
        </p:txBody>
      </p:sp>
      <p:sp>
        <p:nvSpPr>
          <p:cNvPr id="23" name="Text 21"/>
          <p:cNvSpPr/>
          <p:nvPr/>
        </p:nvSpPr>
        <p:spPr>
          <a:xfrm>
            <a:off x="7223760" y="1508760"/>
            <a:ext cx="1554480" cy="457200"/>
          </a:xfrm>
          <a:prstGeom prst="rect">
            <a:avLst/>
          </a:prstGeom>
          <a:noFill/>
          <a:ln/>
        </p:spPr>
        <p:txBody>
          <a:bodyPr wrap="square" lIns="0" tIns="0" rIns="0" bIns="0" rtlCol="0" anchor="ctr"/>
          <a:lstStyle/>
          <a:p>
            <a:pPr marL="0" indent="0" algn="ctr">
              <a:buNone/>
            </a:pPr>
            <a:r>
              <a:rPr lang="en-US" sz="1100" dirty="0">
                <a:solidFill>
                  <a:srgbClr val="3D3D3D"/>
                </a:solidFill>
              </a:rPr>
              <a:t>Neutral</a:t>
            </a:r>
            <a:endParaRPr lang="en-US" sz="1100" dirty="0"/>
          </a:p>
          <a:p>
            <a:pPr marL="0" indent="0" algn="ctr">
              <a:buNone/>
            </a:pPr>
            <a:r>
              <a:rPr lang="en-US" sz="1100" dirty="0">
                <a:solidFill>
                  <a:srgbClr val="3D3D3D"/>
                </a:solidFill>
              </a:rPr>
              <a:t>Reviews</a:t>
            </a:r>
            <a:endParaRPr lang="en-US" sz="1100" dirty="0"/>
          </a:p>
        </p:txBody>
      </p:sp>
      <p:sp>
        <p:nvSpPr>
          <p:cNvPr id="24" name="Text 22"/>
          <p:cNvSpPr/>
          <p:nvPr/>
        </p:nvSpPr>
        <p:spPr>
          <a:xfrm>
            <a:off x="274320" y="2148840"/>
            <a:ext cx="8595360" cy="347472"/>
          </a:xfrm>
          <a:prstGeom prst="rect">
            <a:avLst/>
          </a:prstGeom>
          <a:noFill/>
          <a:ln/>
        </p:spPr>
        <p:txBody>
          <a:bodyPr wrap="square" lIns="0" tIns="0" rIns="0" bIns="0" rtlCol="0" anchor="ctr"/>
          <a:lstStyle/>
          <a:p>
            <a:pPr marL="0" indent="0">
              <a:buNone/>
            </a:pPr>
            <a:r>
              <a:rPr lang="en-US" sz="1400" b="1" dirty="0">
                <a:solidFill>
                  <a:srgbClr val="243B28"/>
                </a:solidFill>
              </a:rPr>
              <a:t>How the Dataset Was Built</a:t>
            </a:r>
            <a:endParaRPr lang="en-US" sz="1400" dirty="0"/>
          </a:p>
        </p:txBody>
      </p:sp>
      <p:sp>
        <p:nvSpPr>
          <p:cNvPr id="25" name="Shape 23"/>
          <p:cNvSpPr/>
          <p:nvPr/>
        </p:nvSpPr>
        <p:spPr>
          <a:xfrm>
            <a:off x="274320" y="2578608"/>
            <a:ext cx="274320" cy="274320"/>
          </a:xfrm>
          <a:prstGeom prst="rect">
            <a:avLst/>
          </a:prstGeom>
          <a:solidFill>
            <a:srgbClr val="4E7B56"/>
          </a:solidFill>
          <a:ln w="12700">
            <a:solidFill>
              <a:srgbClr val="4E7B56"/>
            </a:solidFill>
            <a:prstDash val="solid"/>
          </a:ln>
        </p:spPr>
      </p:sp>
      <p:sp>
        <p:nvSpPr>
          <p:cNvPr id="26" name="Text 24"/>
          <p:cNvSpPr/>
          <p:nvPr/>
        </p:nvSpPr>
        <p:spPr>
          <a:xfrm>
            <a:off x="274320" y="25786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7" name="Text 25"/>
          <p:cNvSpPr/>
          <p:nvPr/>
        </p:nvSpPr>
        <p:spPr>
          <a:xfrm>
            <a:off x="640080" y="2606040"/>
            <a:ext cx="8229600" cy="320040"/>
          </a:xfrm>
          <a:prstGeom prst="rect">
            <a:avLst/>
          </a:prstGeom>
          <a:noFill/>
          <a:ln/>
        </p:spPr>
        <p:txBody>
          <a:bodyPr wrap="square" lIns="0" tIns="0" rIns="0" bIns="0" rtlCol="0" anchor="ctr"/>
          <a:lstStyle/>
          <a:p>
            <a:pPr marL="0" indent="0">
              <a:buNone/>
            </a:pPr>
            <a:r>
              <a:rPr lang="en-US" sz="1100" dirty="0">
                <a:solidFill>
                  <a:srgbClr val="3D3D3D"/>
                </a:solidFill>
              </a:rPr>
              <a:t>Visited Google Maps and searched for restaurants and cafes in Majhitar, Sikkim.</a:t>
            </a:r>
            <a:endParaRPr lang="en-US" sz="1100" dirty="0"/>
          </a:p>
        </p:txBody>
      </p:sp>
      <p:sp>
        <p:nvSpPr>
          <p:cNvPr id="28" name="Shape 26"/>
          <p:cNvSpPr/>
          <p:nvPr/>
        </p:nvSpPr>
        <p:spPr>
          <a:xfrm>
            <a:off x="274320" y="3035808"/>
            <a:ext cx="274320" cy="274320"/>
          </a:xfrm>
          <a:prstGeom prst="rect">
            <a:avLst/>
          </a:prstGeom>
          <a:solidFill>
            <a:srgbClr val="4E7B56"/>
          </a:solidFill>
          <a:ln w="12700">
            <a:solidFill>
              <a:srgbClr val="4E7B56"/>
            </a:solidFill>
            <a:prstDash val="solid"/>
          </a:ln>
        </p:spPr>
      </p:sp>
      <p:sp>
        <p:nvSpPr>
          <p:cNvPr id="29" name="Text 27"/>
          <p:cNvSpPr/>
          <p:nvPr/>
        </p:nvSpPr>
        <p:spPr>
          <a:xfrm>
            <a:off x="274320" y="30358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30" name="Text 28"/>
          <p:cNvSpPr/>
          <p:nvPr/>
        </p:nvSpPr>
        <p:spPr>
          <a:xfrm>
            <a:off x="640080" y="3063240"/>
            <a:ext cx="8229600" cy="320040"/>
          </a:xfrm>
          <a:prstGeom prst="rect">
            <a:avLst/>
          </a:prstGeom>
          <a:noFill/>
          <a:ln/>
        </p:spPr>
        <p:txBody>
          <a:bodyPr wrap="square" lIns="0" tIns="0" rIns="0" bIns="0" rtlCol="0" anchor="ctr"/>
          <a:lstStyle/>
          <a:p>
            <a:pPr marL="0" indent="0">
              <a:buNone/>
            </a:pPr>
            <a:r>
              <a:rPr lang="en-US" sz="1100" dirty="0">
                <a:solidFill>
                  <a:srgbClr val="3D3D3D"/>
                </a:solidFill>
              </a:rPr>
              <a:t>Manually opened each restaurant's profile and read through the customer reviews.</a:t>
            </a:r>
            <a:endParaRPr lang="en-US" sz="1100" dirty="0"/>
          </a:p>
        </p:txBody>
      </p:sp>
      <p:sp>
        <p:nvSpPr>
          <p:cNvPr id="31" name="Shape 29"/>
          <p:cNvSpPr/>
          <p:nvPr/>
        </p:nvSpPr>
        <p:spPr>
          <a:xfrm>
            <a:off x="274320" y="3493008"/>
            <a:ext cx="274320" cy="274320"/>
          </a:xfrm>
          <a:prstGeom prst="rect">
            <a:avLst/>
          </a:prstGeom>
          <a:solidFill>
            <a:srgbClr val="4E7B56"/>
          </a:solidFill>
          <a:ln w="12700">
            <a:solidFill>
              <a:srgbClr val="4E7B56"/>
            </a:solidFill>
            <a:prstDash val="solid"/>
          </a:ln>
        </p:spPr>
      </p:sp>
      <p:sp>
        <p:nvSpPr>
          <p:cNvPr id="32" name="Text 30"/>
          <p:cNvSpPr/>
          <p:nvPr/>
        </p:nvSpPr>
        <p:spPr>
          <a:xfrm>
            <a:off x="274320" y="34930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3" name="Text 31"/>
          <p:cNvSpPr/>
          <p:nvPr/>
        </p:nvSpPr>
        <p:spPr>
          <a:xfrm>
            <a:off x="640080" y="3520440"/>
            <a:ext cx="8229600" cy="320040"/>
          </a:xfrm>
          <a:prstGeom prst="rect">
            <a:avLst/>
          </a:prstGeom>
          <a:noFill/>
          <a:ln/>
        </p:spPr>
        <p:txBody>
          <a:bodyPr wrap="square" lIns="0" tIns="0" rIns="0" bIns="0" rtlCol="0" anchor="ctr"/>
          <a:lstStyle/>
          <a:p>
            <a:pPr marL="0" indent="0">
              <a:buNone/>
            </a:pPr>
            <a:r>
              <a:rPr lang="en-US" sz="1100" dirty="0">
                <a:solidFill>
                  <a:srgbClr val="3D3D3D"/>
                </a:solidFill>
              </a:rPr>
              <a:t>Copied each review text along with the restaurant name into a CSV file.</a:t>
            </a:r>
            <a:endParaRPr lang="en-US" sz="1100" dirty="0"/>
          </a:p>
        </p:txBody>
      </p:sp>
      <p:sp>
        <p:nvSpPr>
          <p:cNvPr id="34" name="Shape 32"/>
          <p:cNvSpPr/>
          <p:nvPr/>
        </p:nvSpPr>
        <p:spPr>
          <a:xfrm>
            <a:off x="274320" y="3950208"/>
            <a:ext cx="274320" cy="274320"/>
          </a:xfrm>
          <a:prstGeom prst="rect">
            <a:avLst/>
          </a:prstGeom>
          <a:solidFill>
            <a:srgbClr val="4E7B56"/>
          </a:solidFill>
          <a:ln w="12700">
            <a:solidFill>
              <a:srgbClr val="4E7B56"/>
            </a:solidFill>
            <a:prstDash val="solid"/>
          </a:ln>
        </p:spPr>
      </p:sp>
      <p:sp>
        <p:nvSpPr>
          <p:cNvPr id="35" name="Text 33"/>
          <p:cNvSpPr/>
          <p:nvPr/>
        </p:nvSpPr>
        <p:spPr>
          <a:xfrm>
            <a:off x="274320" y="39502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36" name="Text 34"/>
          <p:cNvSpPr/>
          <p:nvPr/>
        </p:nvSpPr>
        <p:spPr>
          <a:xfrm>
            <a:off x="640080" y="3977640"/>
            <a:ext cx="8229600" cy="320040"/>
          </a:xfrm>
          <a:prstGeom prst="rect">
            <a:avLst/>
          </a:prstGeom>
          <a:noFill/>
          <a:ln/>
        </p:spPr>
        <p:txBody>
          <a:bodyPr wrap="square" lIns="0" tIns="0" rIns="0" bIns="0" rtlCol="0" anchor="ctr"/>
          <a:lstStyle/>
          <a:p>
            <a:pPr marL="0" indent="0">
              <a:buNone/>
            </a:pPr>
            <a:r>
              <a:rPr lang="en-US" sz="1100" dirty="0">
                <a:solidFill>
                  <a:srgbClr val="3D3D3D"/>
                </a:solidFill>
              </a:rPr>
              <a:t>Covered 21 establishments — from popular spots like Coffee Break &amp; Punjabi Kitchen to smaller cafes.</a:t>
            </a:r>
            <a:endParaRPr lang="en-US" sz="1100" dirty="0"/>
          </a:p>
        </p:txBody>
      </p:sp>
      <p:sp>
        <p:nvSpPr>
          <p:cNvPr id="37" name="Shape 35"/>
          <p:cNvSpPr/>
          <p:nvPr/>
        </p:nvSpPr>
        <p:spPr>
          <a:xfrm>
            <a:off x="274320" y="4407408"/>
            <a:ext cx="274320" cy="274320"/>
          </a:xfrm>
          <a:prstGeom prst="rect">
            <a:avLst/>
          </a:prstGeom>
          <a:solidFill>
            <a:srgbClr val="4E7B56"/>
          </a:solidFill>
          <a:ln w="12700">
            <a:solidFill>
              <a:srgbClr val="4E7B56"/>
            </a:solidFill>
            <a:prstDash val="solid"/>
          </a:ln>
        </p:spPr>
      </p:sp>
      <p:sp>
        <p:nvSpPr>
          <p:cNvPr id="38" name="Text 36"/>
          <p:cNvSpPr/>
          <p:nvPr/>
        </p:nvSpPr>
        <p:spPr>
          <a:xfrm>
            <a:off x="274320" y="44074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39" name="Text 37"/>
          <p:cNvSpPr/>
          <p:nvPr/>
        </p:nvSpPr>
        <p:spPr>
          <a:xfrm>
            <a:off x="640080" y="4434840"/>
            <a:ext cx="8229600" cy="320040"/>
          </a:xfrm>
          <a:prstGeom prst="rect">
            <a:avLst/>
          </a:prstGeom>
          <a:noFill/>
          <a:ln/>
        </p:spPr>
        <p:txBody>
          <a:bodyPr wrap="square" lIns="0" tIns="0" rIns="0" bIns="0" rtlCol="0" anchor="ctr"/>
          <a:lstStyle/>
          <a:p>
            <a:pPr marL="0" indent="0">
              <a:buNone/>
            </a:pPr>
            <a:r>
              <a:rPr lang="en-US" sz="1100" dirty="0">
                <a:solidFill>
                  <a:srgbClr val="3D3D3D"/>
                </a:solidFill>
              </a:rPr>
              <a:t>CSV columns: restaurant_name, review  (no star ratings — sentiment derived purely from text).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NLP Pipeline</a:t>
            </a:r>
            <a:endParaRPr lang="en-US" sz="2200" dirty="0"/>
          </a:p>
        </p:txBody>
      </p:sp>
      <p:sp>
        <p:nvSpPr>
          <p:cNvPr id="4" name="Shape 2"/>
          <p:cNvSpPr/>
          <p:nvPr/>
        </p:nvSpPr>
        <p:spPr>
          <a:xfrm>
            <a:off x="274320" y="868680"/>
            <a:ext cx="1508760" cy="1463040"/>
          </a:xfrm>
          <a:prstGeom prst="rect">
            <a:avLst/>
          </a:prstGeom>
          <a:solidFill>
            <a:srgbClr val="FFFFFF"/>
          </a:solidFill>
          <a:ln w="12700">
            <a:solidFill>
              <a:srgbClr val="D4C9B5"/>
            </a:solidFill>
            <a:prstDash val="solid"/>
          </a:ln>
        </p:spPr>
      </p:sp>
      <p:sp>
        <p:nvSpPr>
          <p:cNvPr id="5" name="Shape 3"/>
          <p:cNvSpPr/>
          <p:nvPr/>
        </p:nvSpPr>
        <p:spPr>
          <a:xfrm>
            <a:off x="274320" y="868680"/>
            <a:ext cx="1508760" cy="594360"/>
          </a:xfrm>
          <a:prstGeom prst="rect">
            <a:avLst/>
          </a:prstGeom>
          <a:solidFill>
            <a:srgbClr val="C9973A"/>
          </a:solidFill>
          <a:ln w="12700">
            <a:solidFill>
              <a:srgbClr val="C9973A"/>
            </a:solidFill>
            <a:prstDash val="solid"/>
          </a:ln>
        </p:spPr>
      </p:sp>
      <p:sp>
        <p:nvSpPr>
          <p:cNvPr id="6" name="Text 4"/>
          <p:cNvSpPr/>
          <p:nvPr/>
        </p:nvSpPr>
        <p:spPr>
          <a:xfrm>
            <a:off x="274320" y="868680"/>
            <a:ext cx="1508760" cy="59436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a:p>
            <a:pPr marL="0" indent="0" algn="ctr">
              <a:buNone/>
            </a:pPr>
            <a:r>
              <a:rPr lang="en-US" sz="1100" b="1" dirty="0">
                <a:solidFill>
                  <a:srgbClr val="FFFFFF"/>
                </a:solidFill>
              </a:rPr>
              <a:t>Data</a:t>
            </a:r>
            <a:endParaRPr lang="en-US" sz="1100" dirty="0"/>
          </a:p>
          <a:p>
            <a:pPr marL="0" indent="0" algn="ctr">
              <a:buNone/>
            </a:pPr>
            <a:r>
              <a:rPr lang="en-US" sz="1100" b="1" dirty="0">
                <a:solidFill>
                  <a:srgbClr val="FFFFFF"/>
                </a:solidFill>
              </a:rPr>
              <a:t>Collection</a:t>
            </a:r>
            <a:endParaRPr lang="en-US" sz="1100" dirty="0"/>
          </a:p>
        </p:txBody>
      </p:sp>
      <p:sp>
        <p:nvSpPr>
          <p:cNvPr id="7" name="Text 5"/>
          <p:cNvSpPr/>
          <p:nvPr/>
        </p:nvSpPr>
        <p:spPr>
          <a:xfrm>
            <a:off x="320040" y="1508760"/>
            <a:ext cx="1417320" cy="777240"/>
          </a:xfrm>
          <a:prstGeom prst="rect">
            <a:avLst/>
          </a:prstGeom>
          <a:noFill/>
          <a:ln/>
        </p:spPr>
        <p:txBody>
          <a:bodyPr wrap="square" lIns="0" tIns="0" rIns="0" bIns="0" rtlCol="0" anchor="ctr"/>
          <a:lstStyle/>
          <a:p>
            <a:pPr marL="0" indent="0" algn="ctr">
              <a:buNone/>
            </a:pPr>
            <a:r>
              <a:rPr lang="en-US" sz="1000" dirty="0">
                <a:solidFill>
                  <a:srgbClr val="3D3D3D"/>
                </a:solidFill>
              </a:rPr>
              <a:t>Google Reviews</a:t>
            </a:r>
            <a:endParaRPr lang="en-US" sz="1000" dirty="0"/>
          </a:p>
          <a:p>
            <a:pPr marL="0" indent="0" algn="ctr">
              <a:buNone/>
            </a:pPr>
            <a:r>
              <a:rPr lang="en-US" sz="1000" dirty="0">
                <a:solidFill>
                  <a:srgbClr val="3D3D3D"/>
                </a:solidFill>
              </a:rPr>
              <a:t>CSV (21 Restaurants)</a:t>
            </a:r>
            <a:endParaRPr lang="en-US" sz="1000" dirty="0"/>
          </a:p>
        </p:txBody>
      </p:sp>
      <p:sp>
        <p:nvSpPr>
          <p:cNvPr id="8" name="Shape 6"/>
          <p:cNvSpPr/>
          <p:nvPr/>
        </p:nvSpPr>
        <p:spPr>
          <a:xfrm>
            <a:off x="1783080" y="1078992"/>
            <a:ext cx="201168" cy="164592"/>
          </a:xfrm>
          <a:prstGeom prst="rect">
            <a:avLst/>
          </a:prstGeom>
          <a:solidFill>
            <a:srgbClr val="4E7B56"/>
          </a:solidFill>
          <a:ln w="12700">
            <a:solidFill>
              <a:srgbClr val="4E7B56"/>
            </a:solidFill>
            <a:prstDash val="solid"/>
          </a:ln>
        </p:spPr>
      </p:sp>
      <p:sp>
        <p:nvSpPr>
          <p:cNvPr id="9" name="Text 7"/>
          <p:cNvSpPr/>
          <p:nvPr/>
        </p:nvSpPr>
        <p:spPr>
          <a:xfrm>
            <a:off x="1783080" y="1051560"/>
            <a:ext cx="201168" cy="22860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0" name="Shape 8"/>
          <p:cNvSpPr/>
          <p:nvPr/>
        </p:nvSpPr>
        <p:spPr>
          <a:xfrm>
            <a:off x="1984248" y="868680"/>
            <a:ext cx="1508760" cy="1463040"/>
          </a:xfrm>
          <a:prstGeom prst="rect">
            <a:avLst/>
          </a:prstGeom>
          <a:solidFill>
            <a:srgbClr val="FFFFFF"/>
          </a:solidFill>
          <a:ln w="12700">
            <a:solidFill>
              <a:srgbClr val="D4C9B5"/>
            </a:solidFill>
            <a:prstDash val="solid"/>
          </a:ln>
        </p:spPr>
      </p:sp>
      <p:sp>
        <p:nvSpPr>
          <p:cNvPr id="11" name="Shape 9"/>
          <p:cNvSpPr/>
          <p:nvPr/>
        </p:nvSpPr>
        <p:spPr>
          <a:xfrm>
            <a:off x="1984248" y="868680"/>
            <a:ext cx="1508760" cy="594360"/>
          </a:xfrm>
          <a:prstGeom prst="rect">
            <a:avLst/>
          </a:prstGeom>
          <a:solidFill>
            <a:srgbClr val="C9973A"/>
          </a:solidFill>
          <a:ln w="12700">
            <a:solidFill>
              <a:srgbClr val="C9973A"/>
            </a:solidFill>
            <a:prstDash val="solid"/>
          </a:ln>
        </p:spPr>
      </p:sp>
      <p:sp>
        <p:nvSpPr>
          <p:cNvPr id="12" name="Text 10"/>
          <p:cNvSpPr/>
          <p:nvPr/>
        </p:nvSpPr>
        <p:spPr>
          <a:xfrm>
            <a:off x="1984248" y="868680"/>
            <a:ext cx="1508760" cy="59436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a:p>
            <a:pPr marL="0" indent="0" algn="ctr">
              <a:buNone/>
            </a:pPr>
            <a:r>
              <a:rPr lang="en-US" sz="1100" b="1" dirty="0">
                <a:solidFill>
                  <a:srgbClr val="FFFFFF"/>
                </a:solidFill>
              </a:rPr>
              <a:t>Load &amp;</a:t>
            </a:r>
            <a:endParaRPr lang="en-US" sz="1100" dirty="0"/>
          </a:p>
          <a:p>
            <a:pPr marL="0" indent="0" algn="ctr">
              <a:buNone/>
            </a:pPr>
            <a:r>
              <a:rPr lang="en-US" sz="1100" b="1" dirty="0">
                <a:solidFill>
                  <a:srgbClr val="FFFFFF"/>
                </a:solidFill>
              </a:rPr>
              <a:t>Preprocess</a:t>
            </a:r>
            <a:endParaRPr lang="en-US" sz="1100" dirty="0"/>
          </a:p>
        </p:txBody>
      </p:sp>
      <p:sp>
        <p:nvSpPr>
          <p:cNvPr id="13" name="Text 11"/>
          <p:cNvSpPr/>
          <p:nvPr/>
        </p:nvSpPr>
        <p:spPr>
          <a:xfrm>
            <a:off x="2029968" y="1508760"/>
            <a:ext cx="1417320" cy="777240"/>
          </a:xfrm>
          <a:prstGeom prst="rect">
            <a:avLst/>
          </a:prstGeom>
          <a:noFill/>
          <a:ln/>
        </p:spPr>
        <p:txBody>
          <a:bodyPr wrap="square" lIns="0" tIns="0" rIns="0" bIns="0" rtlCol="0" anchor="ctr"/>
          <a:lstStyle/>
          <a:p>
            <a:pPr marL="0" indent="0" algn="ctr">
              <a:buNone/>
            </a:pPr>
            <a:r>
              <a:rPr lang="en-US" sz="1000" dirty="0">
                <a:solidFill>
                  <a:srgbClr val="3D3D3D"/>
                </a:solidFill>
              </a:rPr>
              <a:t>pandas read_csv</a:t>
            </a:r>
            <a:endParaRPr lang="en-US" sz="1000" dirty="0"/>
          </a:p>
          <a:p>
            <a:pPr marL="0" indent="0" algn="ctr">
              <a:buNone/>
            </a:pPr>
            <a:r>
              <a:rPr lang="en-US" sz="1000" dirty="0">
                <a:solidFill>
                  <a:srgbClr val="3D3D3D"/>
                </a:solidFill>
              </a:rPr>
              <a:t>Drop nulls / clean</a:t>
            </a:r>
            <a:endParaRPr lang="en-US" sz="1000" dirty="0"/>
          </a:p>
        </p:txBody>
      </p:sp>
      <p:sp>
        <p:nvSpPr>
          <p:cNvPr id="14" name="Shape 12"/>
          <p:cNvSpPr/>
          <p:nvPr/>
        </p:nvSpPr>
        <p:spPr>
          <a:xfrm>
            <a:off x="3493008" y="1078992"/>
            <a:ext cx="201168" cy="164592"/>
          </a:xfrm>
          <a:prstGeom prst="rect">
            <a:avLst/>
          </a:prstGeom>
          <a:solidFill>
            <a:srgbClr val="4E7B56"/>
          </a:solidFill>
          <a:ln w="12700">
            <a:solidFill>
              <a:srgbClr val="4E7B56"/>
            </a:solidFill>
            <a:prstDash val="solid"/>
          </a:ln>
        </p:spPr>
      </p:sp>
      <p:sp>
        <p:nvSpPr>
          <p:cNvPr id="15" name="Text 13"/>
          <p:cNvSpPr/>
          <p:nvPr/>
        </p:nvSpPr>
        <p:spPr>
          <a:xfrm>
            <a:off x="3493008" y="1051560"/>
            <a:ext cx="201168" cy="22860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6" name="Shape 14"/>
          <p:cNvSpPr/>
          <p:nvPr/>
        </p:nvSpPr>
        <p:spPr>
          <a:xfrm>
            <a:off x="3694176" y="868680"/>
            <a:ext cx="1508760" cy="1463040"/>
          </a:xfrm>
          <a:prstGeom prst="rect">
            <a:avLst/>
          </a:prstGeom>
          <a:solidFill>
            <a:srgbClr val="FFFFFF"/>
          </a:solidFill>
          <a:ln w="12700">
            <a:solidFill>
              <a:srgbClr val="D4C9B5"/>
            </a:solidFill>
            <a:prstDash val="solid"/>
          </a:ln>
        </p:spPr>
      </p:sp>
      <p:sp>
        <p:nvSpPr>
          <p:cNvPr id="17" name="Shape 15"/>
          <p:cNvSpPr/>
          <p:nvPr/>
        </p:nvSpPr>
        <p:spPr>
          <a:xfrm>
            <a:off x="3694176" y="868680"/>
            <a:ext cx="1508760" cy="594360"/>
          </a:xfrm>
          <a:prstGeom prst="rect">
            <a:avLst/>
          </a:prstGeom>
          <a:solidFill>
            <a:srgbClr val="C9973A"/>
          </a:solidFill>
          <a:ln w="12700">
            <a:solidFill>
              <a:srgbClr val="C9973A"/>
            </a:solidFill>
            <a:prstDash val="solid"/>
          </a:ln>
        </p:spPr>
      </p:sp>
      <p:sp>
        <p:nvSpPr>
          <p:cNvPr id="18" name="Text 16"/>
          <p:cNvSpPr/>
          <p:nvPr/>
        </p:nvSpPr>
        <p:spPr>
          <a:xfrm>
            <a:off x="3694176" y="868680"/>
            <a:ext cx="1508760" cy="59436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a:p>
            <a:pPr marL="0" indent="0" algn="ctr">
              <a:buNone/>
            </a:pPr>
            <a:r>
              <a:rPr lang="en-US" sz="1100" b="1" dirty="0">
                <a:solidFill>
                  <a:srgbClr val="FFFFFF"/>
                </a:solidFill>
              </a:rPr>
              <a:t>VADER</a:t>
            </a:r>
            <a:endParaRPr lang="en-US" sz="1100" dirty="0"/>
          </a:p>
          <a:p>
            <a:pPr marL="0" indent="0" algn="ctr">
              <a:buNone/>
            </a:pPr>
            <a:r>
              <a:rPr lang="en-US" sz="1100" b="1" dirty="0">
                <a:solidFill>
                  <a:srgbClr val="FFFFFF"/>
                </a:solidFill>
              </a:rPr>
              <a:t>Scoring</a:t>
            </a:r>
            <a:endParaRPr lang="en-US" sz="1100" dirty="0"/>
          </a:p>
        </p:txBody>
      </p:sp>
      <p:sp>
        <p:nvSpPr>
          <p:cNvPr id="19" name="Text 17"/>
          <p:cNvSpPr/>
          <p:nvPr/>
        </p:nvSpPr>
        <p:spPr>
          <a:xfrm>
            <a:off x="3739896" y="1508760"/>
            <a:ext cx="1417320" cy="777240"/>
          </a:xfrm>
          <a:prstGeom prst="rect">
            <a:avLst/>
          </a:prstGeom>
          <a:noFill/>
          <a:ln/>
        </p:spPr>
        <p:txBody>
          <a:bodyPr wrap="square" lIns="0" tIns="0" rIns="0" bIns="0" rtlCol="0" anchor="ctr"/>
          <a:lstStyle/>
          <a:p>
            <a:pPr marL="0" indent="0" algn="ctr">
              <a:buNone/>
            </a:pPr>
            <a:r>
              <a:rPr lang="en-US" sz="1000" dirty="0">
                <a:solidFill>
                  <a:srgbClr val="3D3D3D"/>
                </a:solidFill>
              </a:rPr>
              <a:t>compound_score</a:t>
            </a:r>
            <a:endParaRPr lang="en-US" sz="1000" dirty="0"/>
          </a:p>
          <a:p>
            <a:pPr marL="0" indent="0" algn="ctr">
              <a:buNone/>
            </a:pPr>
            <a:r>
              <a:rPr lang="en-US" sz="1000" dirty="0">
                <a:solidFill>
                  <a:srgbClr val="3D3D3D"/>
                </a:solidFill>
              </a:rPr>
              <a:t>per review</a:t>
            </a:r>
            <a:endParaRPr lang="en-US" sz="1000" dirty="0"/>
          </a:p>
        </p:txBody>
      </p:sp>
      <p:sp>
        <p:nvSpPr>
          <p:cNvPr id="20" name="Shape 18"/>
          <p:cNvSpPr/>
          <p:nvPr/>
        </p:nvSpPr>
        <p:spPr>
          <a:xfrm>
            <a:off x="5202936" y="1078992"/>
            <a:ext cx="201168" cy="164592"/>
          </a:xfrm>
          <a:prstGeom prst="rect">
            <a:avLst/>
          </a:prstGeom>
          <a:solidFill>
            <a:srgbClr val="4E7B56"/>
          </a:solidFill>
          <a:ln w="12700">
            <a:solidFill>
              <a:srgbClr val="4E7B56"/>
            </a:solidFill>
            <a:prstDash val="solid"/>
          </a:ln>
        </p:spPr>
      </p:sp>
      <p:sp>
        <p:nvSpPr>
          <p:cNvPr id="21" name="Text 19"/>
          <p:cNvSpPr/>
          <p:nvPr/>
        </p:nvSpPr>
        <p:spPr>
          <a:xfrm>
            <a:off x="5202936" y="1051560"/>
            <a:ext cx="201168" cy="22860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2" name="Shape 20"/>
          <p:cNvSpPr/>
          <p:nvPr/>
        </p:nvSpPr>
        <p:spPr>
          <a:xfrm>
            <a:off x="5404104" y="868680"/>
            <a:ext cx="1508760" cy="1463040"/>
          </a:xfrm>
          <a:prstGeom prst="rect">
            <a:avLst/>
          </a:prstGeom>
          <a:solidFill>
            <a:srgbClr val="FFFFFF"/>
          </a:solidFill>
          <a:ln w="12700">
            <a:solidFill>
              <a:srgbClr val="D4C9B5"/>
            </a:solidFill>
            <a:prstDash val="solid"/>
          </a:ln>
        </p:spPr>
      </p:sp>
      <p:sp>
        <p:nvSpPr>
          <p:cNvPr id="23" name="Shape 21"/>
          <p:cNvSpPr/>
          <p:nvPr/>
        </p:nvSpPr>
        <p:spPr>
          <a:xfrm>
            <a:off x="5404104" y="868680"/>
            <a:ext cx="1508760" cy="594360"/>
          </a:xfrm>
          <a:prstGeom prst="rect">
            <a:avLst/>
          </a:prstGeom>
          <a:solidFill>
            <a:srgbClr val="C9973A"/>
          </a:solidFill>
          <a:ln w="12700">
            <a:solidFill>
              <a:srgbClr val="C9973A"/>
            </a:solidFill>
            <a:prstDash val="solid"/>
          </a:ln>
        </p:spPr>
      </p:sp>
      <p:sp>
        <p:nvSpPr>
          <p:cNvPr id="24" name="Text 22"/>
          <p:cNvSpPr/>
          <p:nvPr/>
        </p:nvSpPr>
        <p:spPr>
          <a:xfrm>
            <a:off x="5404104" y="868680"/>
            <a:ext cx="1508760" cy="594360"/>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a:p>
            <a:pPr marL="0" indent="0" algn="ctr">
              <a:buNone/>
            </a:pPr>
            <a:r>
              <a:rPr lang="en-US" sz="1100" b="1" dirty="0">
                <a:solidFill>
                  <a:srgbClr val="FFFFFF"/>
                </a:solidFill>
              </a:rPr>
              <a:t>Classify</a:t>
            </a:r>
            <a:endParaRPr lang="en-US" sz="1100" dirty="0"/>
          </a:p>
          <a:p>
            <a:pPr marL="0" indent="0" algn="ctr">
              <a:buNone/>
            </a:pPr>
            <a:r>
              <a:rPr lang="en-US" sz="1100" b="1" dirty="0">
                <a:solidFill>
                  <a:srgbClr val="FFFFFF"/>
                </a:solidFill>
              </a:rPr>
              <a:t>Sentiment</a:t>
            </a:r>
            <a:endParaRPr lang="en-US" sz="1100" dirty="0"/>
          </a:p>
        </p:txBody>
      </p:sp>
      <p:sp>
        <p:nvSpPr>
          <p:cNvPr id="25" name="Text 23"/>
          <p:cNvSpPr/>
          <p:nvPr/>
        </p:nvSpPr>
        <p:spPr>
          <a:xfrm>
            <a:off x="5449824" y="1508760"/>
            <a:ext cx="1417320" cy="777240"/>
          </a:xfrm>
          <a:prstGeom prst="rect">
            <a:avLst/>
          </a:prstGeom>
          <a:noFill/>
          <a:ln/>
        </p:spPr>
        <p:txBody>
          <a:bodyPr wrap="square" lIns="0" tIns="0" rIns="0" bIns="0" rtlCol="0" anchor="ctr"/>
          <a:lstStyle/>
          <a:p>
            <a:pPr marL="0" indent="0" algn="ctr">
              <a:buNone/>
            </a:pPr>
            <a:r>
              <a:rPr lang="en-US" sz="1000" dirty="0">
                <a:solidFill>
                  <a:srgbClr val="3D3D3D"/>
                </a:solidFill>
              </a:rPr>
              <a:t>Pos / Neg / Neutral</a:t>
            </a:r>
            <a:endParaRPr lang="en-US" sz="1000" dirty="0"/>
          </a:p>
          <a:p>
            <a:pPr marL="0" indent="0" algn="ctr">
              <a:buNone/>
            </a:pPr>
            <a:r>
              <a:rPr lang="en-US" sz="1000" dirty="0">
                <a:solidFill>
                  <a:srgbClr val="3D3D3D"/>
                </a:solidFill>
              </a:rPr>
              <a:t>using thresholds</a:t>
            </a:r>
            <a:endParaRPr lang="en-US" sz="1000" dirty="0"/>
          </a:p>
        </p:txBody>
      </p:sp>
      <p:sp>
        <p:nvSpPr>
          <p:cNvPr id="26" name="Shape 24"/>
          <p:cNvSpPr/>
          <p:nvPr/>
        </p:nvSpPr>
        <p:spPr>
          <a:xfrm>
            <a:off x="6912864" y="1078992"/>
            <a:ext cx="201168" cy="164592"/>
          </a:xfrm>
          <a:prstGeom prst="rect">
            <a:avLst/>
          </a:prstGeom>
          <a:solidFill>
            <a:srgbClr val="4E7B56"/>
          </a:solidFill>
          <a:ln w="12700">
            <a:solidFill>
              <a:srgbClr val="4E7B56"/>
            </a:solidFill>
            <a:prstDash val="solid"/>
          </a:ln>
        </p:spPr>
      </p:sp>
      <p:sp>
        <p:nvSpPr>
          <p:cNvPr id="27" name="Text 25"/>
          <p:cNvSpPr/>
          <p:nvPr/>
        </p:nvSpPr>
        <p:spPr>
          <a:xfrm>
            <a:off x="6912864" y="1051560"/>
            <a:ext cx="201168" cy="22860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8" name="Shape 26"/>
          <p:cNvSpPr/>
          <p:nvPr/>
        </p:nvSpPr>
        <p:spPr>
          <a:xfrm>
            <a:off x="7114032" y="868680"/>
            <a:ext cx="1508760" cy="1463040"/>
          </a:xfrm>
          <a:prstGeom prst="rect">
            <a:avLst/>
          </a:prstGeom>
          <a:solidFill>
            <a:srgbClr val="FFFFFF"/>
          </a:solidFill>
          <a:ln w="12700">
            <a:solidFill>
              <a:srgbClr val="D4C9B5"/>
            </a:solidFill>
            <a:prstDash val="solid"/>
          </a:ln>
        </p:spPr>
      </p:sp>
      <p:sp>
        <p:nvSpPr>
          <p:cNvPr id="29" name="Shape 27"/>
          <p:cNvSpPr/>
          <p:nvPr/>
        </p:nvSpPr>
        <p:spPr>
          <a:xfrm>
            <a:off x="7114032" y="868680"/>
            <a:ext cx="1508760" cy="594360"/>
          </a:xfrm>
          <a:prstGeom prst="rect">
            <a:avLst/>
          </a:prstGeom>
          <a:solidFill>
            <a:srgbClr val="C9973A"/>
          </a:solidFill>
          <a:ln w="12700">
            <a:solidFill>
              <a:srgbClr val="C9973A"/>
            </a:solidFill>
            <a:prstDash val="solid"/>
          </a:ln>
        </p:spPr>
      </p:sp>
      <p:sp>
        <p:nvSpPr>
          <p:cNvPr id="30" name="Text 28"/>
          <p:cNvSpPr/>
          <p:nvPr/>
        </p:nvSpPr>
        <p:spPr>
          <a:xfrm>
            <a:off x="7114032" y="868680"/>
            <a:ext cx="1508760" cy="594360"/>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a:p>
            <a:pPr marL="0" indent="0" algn="ctr">
              <a:buNone/>
            </a:pPr>
            <a:r>
              <a:rPr lang="en-US" sz="1100" b="1" dirty="0">
                <a:solidFill>
                  <a:srgbClr val="FFFFFF"/>
                </a:solidFill>
              </a:rPr>
              <a:t>Aggregate</a:t>
            </a:r>
            <a:endParaRPr lang="en-US" sz="1100" dirty="0"/>
          </a:p>
          <a:p>
            <a:pPr marL="0" indent="0" algn="ctr">
              <a:buNone/>
            </a:pPr>
            <a:r>
              <a:rPr lang="en-US" sz="1100" b="1" dirty="0">
                <a:solidFill>
                  <a:srgbClr val="FFFFFF"/>
                </a:solidFill>
              </a:rPr>
              <a:t>by Restaurant</a:t>
            </a:r>
            <a:endParaRPr lang="en-US" sz="1100" dirty="0"/>
          </a:p>
        </p:txBody>
      </p:sp>
      <p:sp>
        <p:nvSpPr>
          <p:cNvPr id="31" name="Text 29"/>
          <p:cNvSpPr/>
          <p:nvPr/>
        </p:nvSpPr>
        <p:spPr>
          <a:xfrm>
            <a:off x="7159752" y="1508760"/>
            <a:ext cx="1417320" cy="777240"/>
          </a:xfrm>
          <a:prstGeom prst="rect">
            <a:avLst/>
          </a:prstGeom>
          <a:noFill/>
          <a:ln/>
        </p:spPr>
        <p:txBody>
          <a:bodyPr wrap="square" lIns="0" tIns="0" rIns="0" bIns="0" rtlCol="0" anchor="ctr"/>
          <a:lstStyle/>
          <a:p>
            <a:pPr marL="0" indent="0" algn="ctr">
              <a:buNone/>
            </a:pPr>
            <a:r>
              <a:rPr lang="en-US" sz="1000" dirty="0">
                <a:solidFill>
                  <a:srgbClr val="3D3D3D"/>
                </a:solidFill>
              </a:rPr>
              <a:t>avg_score</a:t>
            </a:r>
            <a:endParaRPr lang="en-US" sz="1000" dirty="0"/>
          </a:p>
          <a:p>
            <a:pPr marL="0" indent="0" algn="ctr">
              <a:buNone/>
            </a:pPr>
            <a:r>
              <a:rPr lang="en-US" sz="1000" dirty="0">
                <a:solidFill>
                  <a:srgbClr val="3D3D3D"/>
                </a:solidFill>
              </a:rPr>
              <a:t>per restaurant</a:t>
            </a:r>
            <a:endParaRPr lang="en-US" sz="1000" dirty="0"/>
          </a:p>
        </p:txBody>
      </p:sp>
      <p:sp>
        <p:nvSpPr>
          <p:cNvPr id="32" name="Shape 30"/>
          <p:cNvSpPr/>
          <p:nvPr/>
        </p:nvSpPr>
        <p:spPr>
          <a:xfrm>
            <a:off x="274320" y="2560320"/>
            <a:ext cx="1920240" cy="1463040"/>
          </a:xfrm>
          <a:prstGeom prst="rect">
            <a:avLst/>
          </a:prstGeom>
          <a:solidFill>
            <a:srgbClr val="FFFFFF"/>
          </a:solidFill>
          <a:ln w="12700">
            <a:solidFill>
              <a:srgbClr val="D4C9B5"/>
            </a:solidFill>
            <a:prstDash val="solid"/>
          </a:ln>
        </p:spPr>
      </p:sp>
      <p:sp>
        <p:nvSpPr>
          <p:cNvPr id="33" name="Shape 31"/>
          <p:cNvSpPr/>
          <p:nvPr/>
        </p:nvSpPr>
        <p:spPr>
          <a:xfrm>
            <a:off x="274320" y="2560320"/>
            <a:ext cx="1920240" cy="594360"/>
          </a:xfrm>
          <a:prstGeom prst="rect">
            <a:avLst/>
          </a:prstGeom>
          <a:solidFill>
            <a:srgbClr val="4E7B56"/>
          </a:solidFill>
          <a:ln w="12700">
            <a:solidFill>
              <a:srgbClr val="4E7B56"/>
            </a:solidFill>
            <a:prstDash val="solid"/>
          </a:ln>
        </p:spPr>
      </p:sp>
      <p:sp>
        <p:nvSpPr>
          <p:cNvPr id="34" name="Text 32"/>
          <p:cNvSpPr/>
          <p:nvPr/>
        </p:nvSpPr>
        <p:spPr>
          <a:xfrm>
            <a:off x="274320" y="2560320"/>
            <a:ext cx="1920240" cy="594360"/>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a:p>
            <a:pPr marL="0" indent="0" algn="ctr">
              <a:buNone/>
            </a:pPr>
            <a:r>
              <a:rPr lang="en-US" sz="1100" b="1" dirty="0">
                <a:solidFill>
                  <a:srgbClr val="FFFFFF"/>
                </a:solidFill>
              </a:rPr>
              <a:t>Visualization</a:t>
            </a:r>
            <a:endParaRPr lang="en-US" sz="1100" dirty="0"/>
          </a:p>
        </p:txBody>
      </p:sp>
      <p:sp>
        <p:nvSpPr>
          <p:cNvPr id="35" name="Text 33"/>
          <p:cNvSpPr/>
          <p:nvPr/>
        </p:nvSpPr>
        <p:spPr>
          <a:xfrm>
            <a:off x="320040" y="3200400"/>
            <a:ext cx="1828800" cy="777240"/>
          </a:xfrm>
          <a:prstGeom prst="rect">
            <a:avLst/>
          </a:prstGeom>
          <a:noFill/>
          <a:ln/>
        </p:spPr>
        <p:txBody>
          <a:bodyPr wrap="square" lIns="0" tIns="0" rIns="0" bIns="0" rtlCol="0" anchor="ctr"/>
          <a:lstStyle/>
          <a:p>
            <a:pPr marL="0" indent="0" algn="ctr">
              <a:buNone/>
            </a:pPr>
            <a:r>
              <a:rPr lang="en-US" sz="1000" dirty="0">
                <a:solidFill>
                  <a:srgbClr val="3D3D3D"/>
                </a:solidFill>
              </a:rPr>
              <a:t>Bar, Pie, Stacked</a:t>
            </a:r>
            <a:endParaRPr lang="en-US" sz="1000" dirty="0"/>
          </a:p>
          <a:p>
            <a:pPr marL="0" indent="0" algn="ctr">
              <a:buNone/>
            </a:pPr>
            <a:r>
              <a:rPr lang="en-US" sz="1000" dirty="0">
                <a:solidFill>
                  <a:srgbClr val="3D3D3D"/>
                </a:solidFill>
              </a:rPr>
              <a:t>matplotlib charts</a:t>
            </a:r>
            <a:endParaRPr lang="en-US" sz="1000" dirty="0"/>
          </a:p>
        </p:txBody>
      </p:sp>
      <p:sp>
        <p:nvSpPr>
          <p:cNvPr id="36" name="Text 34"/>
          <p:cNvSpPr/>
          <p:nvPr/>
        </p:nvSpPr>
        <p:spPr>
          <a:xfrm>
            <a:off x="2194560" y="2852928"/>
            <a:ext cx="228600" cy="228600"/>
          </a:xfrm>
          <a:prstGeom prst="rect">
            <a:avLst/>
          </a:prstGeom>
          <a:noFill/>
          <a:ln/>
        </p:spPr>
        <p:txBody>
          <a:bodyPr wrap="square" lIns="0" tIns="0" rIns="0" bIns="0" rtlCol="0" anchor="ctr"/>
          <a:lstStyle/>
          <a:p>
            <a:pPr marL="0" indent="0" algn="ctr">
              <a:buNone/>
            </a:pPr>
            <a:r>
              <a:rPr lang="en-US" sz="1400" b="1" dirty="0">
                <a:solidFill>
                  <a:srgbClr val="4E7B56"/>
                </a:solidFill>
              </a:rPr>
              <a:t>→</a:t>
            </a:r>
            <a:endParaRPr lang="en-US" sz="1400" dirty="0"/>
          </a:p>
        </p:txBody>
      </p:sp>
      <p:sp>
        <p:nvSpPr>
          <p:cNvPr id="37" name="Shape 35"/>
          <p:cNvSpPr/>
          <p:nvPr/>
        </p:nvSpPr>
        <p:spPr>
          <a:xfrm>
            <a:off x="2423160" y="2560320"/>
            <a:ext cx="1920240" cy="1463040"/>
          </a:xfrm>
          <a:prstGeom prst="rect">
            <a:avLst/>
          </a:prstGeom>
          <a:solidFill>
            <a:srgbClr val="FFFFFF"/>
          </a:solidFill>
          <a:ln w="12700">
            <a:solidFill>
              <a:srgbClr val="D4C9B5"/>
            </a:solidFill>
            <a:prstDash val="solid"/>
          </a:ln>
        </p:spPr>
      </p:sp>
      <p:sp>
        <p:nvSpPr>
          <p:cNvPr id="38" name="Shape 36"/>
          <p:cNvSpPr/>
          <p:nvPr/>
        </p:nvSpPr>
        <p:spPr>
          <a:xfrm>
            <a:off x="2423160" y="2560320"/>
            <a:ext cx="1920240" cy="594360"/>
          </a:xfrm>
          <a:prstGeom prst="rect">
            <a:avLst/>
          </a:prstGeom>
          <a:solidFill>
            <a:srgbClr val="4E7B56"/>
          </a:solidFill>
          <a:ln w="12700">
            <a:solidFill>
              <a:srgbClr val="4E7B56"/>
            </a:solidFill>
            <a:prstDash val="solid"/>
          </a:ln>
        </p:spPr>
      </p:sp>
      <p:sp>
        <p:nvSpPr>
          <p:cNvPr id="39" name="Text 37"/>
          <p:cNvSpPr/>
          <p:nvPr/>
        </p:nvSpPr>
        <p:spPr>
          <a:xfrm>
            <a:off x="2423160" y="2560320"/>
            <a:ext cx="1920240" cy="594360"/>
          </a:xfrm>
          <a:prstGeom prst="rect">
            <a:avLst/>
          </a:prstGeom>
          <a:noFill/>
          <a:ln/>
        </p:spPr>
        <p:txBody>
          <a:bodyPr wrap="square" lIns="0" tIns="0" rIns="0" bIns="0" rtlCol="0" anchor="ctr"/>
          <a:lstStyle/>
          <a:p>
            <a:pPr marL="0" indent="0" algn="ctr">
              <a:buNone/>
            </a:pPr>
            <a:r>
              <a:rPr lang="en-US" sz="1100" b="1" dirty="0">
                <a:solidFill>
                  <a:srgbClr val="FFFFFF"/>
                </a:solidFill>
              </a:rPr>
              <a:t>7</a:t>
            </a:r>
            <a:endParaRPr lang="en-US" sz="1100" dirty="0"/>
          </a:p>
          <a:p>
            <a:pPr marL="0" indent="0" algn="ctr">
              <a:buNone/>
            </a:pPr>
            <a:r>
              <a:rPr lang="en-US" sz="1100" b="1" dirty="0">
                <a:solidFill>
                  <a:srgbClr val="FFFFFF"/>
                </a:solidFill>
              </a:rPr>
              <a:t>Dish-Based</a:t>
            </a:r>
            <a:endParaRPr lang="en-US" sz="1100" dirty="0"/>
          </a:p>
          <a:p>
            <a:pPr marL="0" indent="0" algn="ctr">
              <a:buNone/>
            </a:pPr>
            <a:r>
              <a:rPr lang="en-US" sz="1100" b="1" dirty="0">
                <a:solidFill>
                  <a:srgbClr val="FFFFFF"/>
                </a:solidFill>
              </a:rPr>
              <a:t>Recommender</a:t>
            </a:r>
            <a:endParaRPr lang="en-US" sz="1100" dirty="0"/>
          </a:p>
        </p:txBody>
      </p:sp>
      <p:sp>
        <p:nvSpPr>
          <p:cNvPr id="40" name="Text 38"/>
          <p:cNvSpPr/>
          <p:nvPr/>
        </p:nvSpPr>
        <p:spPr>
          <a:xfrm>
            <a:off x="2468880" y="3200400"/>
            <a:ext cx="1828800" cy="777240"/>
          </a:xfrm>
          <a:prstGeom prst="rect">
            <a:avLst/>
          </a:prstGeom>
          <a:noFill/>
          <a:ln/>
        </p:spPr>
        <p:txBody>
          <a:bodyPr wrap="square" lIns="0" tIns="0" rIns="0" bIns="0" rtlCol="0" anchor="ctr"/>
          <a:lstStyle/>
          <a:p>
            <a:pPr marL="0" indent="0" algn="ctr">
              <a:buNone/>
            </a:pPr>
            <a:r>
              <a:rPr lang="en-US" sz="1000" dirty="0">
                <a:solidFill>
                  <a:srgbClr val="3D3D3D"/>
                </a:solidFill>
              </a:rPr>
              <a:t>Keyword match</a:t>
            </a:r>
            <a:endParaRPr lang="en-US" sz="1000" dirty="0"/>
          </a:p>
          <a:p>
            <a:pPr marL="0" indent="0" algn="ctr">
              <a:buNone/>
            </a:pPr>
            <a:r>
              <a:rPr lang="en-US" sz="1000" dirty="0">
                <a:solidFill>
                  <a:srgbClr val="3D3D3D"/>
                </a:solidFill>
              </a:rPr>
              <a:t>in reviews</a:t>
            </a:r>
            <a:endParaRPr lang="en-US" sz="1000" dirty="0"/>
          </a:p>
        </p:txBody>
      </p:sp>
      <p:sp>
        <p:nvSpPr>
          <p:cNvPr id="41" name="Text 39"/>
          <p:cNvSpPr/>
          <p:nvPr/>
        </p:nvSpPr>
        <p:spPr>
          <a:xfrm>
            <a:off x="4343400" y="2852928"/>
            <a:ext cx="228600" cy="228600"/>
          </a:xfrm>
          <a:prstGeom prst="rect">
            <a:avLst/>
          </a:prstGeom>
          <a:noFill/>
          <a:ln/>
        </p:spPr>
        <p:txBody>
          <a:bodyPr wrap="square" lIns="0" tIns="0" rIns="0" bIns="0" rtlCol="0" anchor="ctr"/>
          <a:lstStyle/>
          <a:p>
            <a:pPr marL="0" indent="0" algn="ctr">
              <a:buNone/>
            </a:pPr>
            <a:r>
              <a:rPr lang="en-US" sz="1400" b="1" dirty="0">
                <a:solidFill>
                  <a:srgbClr val="4E7B56"/>
                </a:solidFill>
              </a:rPr>
              <a:t>→</a:t>
            </a:r>
            <a:endParaRPr lang="en-US" sz="1400" dirty="0"/>
          </a:p>
        </p:txBody>
      </p:sp>
      <p:sp>
        <p:nvSpPr>
          <p:cNvPr id="42" name="Shape 40"/>
          <p:cNvSpPr/>
          <p:nvPr/>
        </p:nvSpPr>
        <p:spPr>
          <a:xfrm>
            <a:off x="4572000" y="2560320"/>
            <a:ext cx="1920240" cy="1463040"/>
          </a:xfrm>
          <a:prstGeom prst="rect">
            <a:avLst/>
          </a:prstGeom>
          <a:solidFill>
            <a:srgbClr val="FFFFFF"/>
          </a:solidFill>
          <a:ln w="12700">
            <a:solidFill>
              <a:srgbClr val="D4C9B5"/>
            </a:solidFill>
            <a:prstDash val="solid"/>
          </a:ln>
        </p:spPr>
      </p:sp>
      <p:sp>
        <p:nvSpPr>
          <p:cNvPr id="43" name="Shape 41"/>
          <p:cNvSpPr/>
          <p:nvPr/>
        </p:nvSpPr>
        <p:spPr>
          <a:xfrm>
            <a:off x="4572000" y="2560320"/>
            <a:ext cx="1920240" cy="594360"/>
          </a:xfrm>
          <a:prstGeom prst="rect">
            <a:avLst/>
          </a:prstGeom>
          <a:solidFill>
            <a:srgbClr val="4E7B56"/>
          </a:solidFill>
          <a:ln w="12700">
            <a:solidFill>
              <a:srgbClr val="4E7B56"/>
            </a:solidFill>
            <a:prstDash val="solid"/>
          </a:ln>
        </p:spPr>
      </p:sp>
      <p:sp>
        <p:nvSpPr>
          <p:cNvPr id="44" name="Text 42"/>
          <p:cNvSpPr/>
          <p:nvPr/>
        </p:nvSpPr>
        <p:spPr>
          <a:xfrm>
            <a:off x="4572000" y="2560320"/>
            <a:ext cx="1920240" cy="594360"/>
          </a:xfrm>
          <a:prstGeom prst="rect">
            <a:avLst/>
          </a:prstGeom>
          <a:noFill/>
          <a:ln/>
        </p:spPr>
        <p:txBody>
          <a:bodyPr wrap="square" lIns="0" tIns="0" rIns="0" bIns="0" rtlCol="0" anchor="ctr"/>
          <a:lstStyle/>
          <a:p>
            <a:pPr marL="0" indent="0" algn="ctr">
              <a:buNone/>
            </a:pPr>
            <a:r>
              <a:rPr lang="en-US" sz="1100" b="1" dirty="0">
                <a:solidFill>
                  <a:srgbClr val="FFFFFF"/>
                </a:solidFill>
              </a:rPr>
              <a:t>8</a:t>
            </a:r>
            <a:endParaRPr lang="en-US" sz="1100" dirty="0"/>
          </a:p>
          <a:p>
            <a:pPr marL="0" indent="0" algn="ctr">
              <a:buNone/>
            </a:pPr>
            <a:r>
              <a:rPr lang="en-US" sz="1100" b="1" dirty="0">
                <a:solidFill>
                  <a:srgbClr val="FFFFFF"/>
                </a:solidFill>
              </a:rPr>
              <a:t>Model</a:t>
            </a:r>
            <a:endParaRPr lang="en-US" sz="1100" dirty="0"/>
          </a:p>
          <a:p>
            <a:pPr marL="0" indent="0" algn="ctr">
              <a:buNone/>
            </a:pPr>
            <a:r>
              <a:rPr lang="en-US" sz="1100" b="1" dirty="0">
                <a:solidFill>
                  <a:srgbClr val="FFFFFF"/>
                </a:solidFill>
              </a:rPr>
              <a:t>Evaluation</a:t>
            </a:r>
            <a:endParaRPr lang="en-US" sz="1100" dirty="0"/>
          </a:p>
        </p:txBody>
      </p:sp>
      <p:sp>
        <p:nvSpPr>
          <p:cNvPr id="45" name="Text 43"/>
          <p:cNvSpPr/>
          <p:nvPr/>
        </p:nvSpPr>
        <p:spPr>
          <a:xfrm>
            <a:off x="4617720" y="3200400"/>
            <a:ext cx="1828800" cy="777240"/>
          </a:xfrm>
          <a:prstGeom prst="rect">
            <a:avLst/>
          </a:prstGeom>
          <a:noFill/>
          <a:ln/>
        </p:spPr>
        <p:txBody>
          <a:bodyPr wrap="square" lIns="0" tIns="0" rIns="0" bIns="0" rtlCol="0" anchor="ctr"/>
          <a:lstStyle/>
          <a:p>
            <a:pPr marL="0" indent="0" algn="ctr">
              <a:buNone/>
            </a:pPr>
            <a:r>
              <a:rPr lang="en-US" sz="1000" dirty="0">
                <a:solidFill>
                  <a:srgbClr val="3D3D3D"/>
                </a:solidFill>
              </a:rPr>
              <a:t>Accuracy, F1</a:t>
            </a:r>
            <a:endParaRPr lang="en-US" sz="1000" dirty="0"/>
          </a:p>
          <a:p>
            <a:pPr marL="0" indent="0" algn="ctr">
              <a:buNone/>
            </a:pPr>
            <a:r>
              <a:rPr lang="en-US" sz="1000" dirty="0">
                <a:solidFill>
                  <a:srgbClr val="3D3D3D"/>
                </a:solidFill>
              </a:rPr>
              <a:t>Confusion Matrix</a:t>
            </a:r>
            <a:endParaRPr lang="en-US" sz="1000" dirty="0"/>
          </a:p>
        </p:txBody>
      </p:sp>
      <p:sp>
        <p:nvSpPr>
          <p:cNvPr id="46" name="Text 44"/>
          <p:cNvSpPr/>
          <p:nvPr/>
        </p:nvSpPr>
        <p:spPr>
          <a:xfrm>
            <a:off x="6492240" y="2852928"/>
            <a:ext cx="228600" cy="228600"/>
          </a:xfrm>
          <a:prstGeom prst="rect">
            <a:avLst/>
          </a:prstGeom>
          <a:noFill/>
          <a:ln/>
        </p:spPr>
        <p:txBody>
          <a:bodyPr wrap="square" lIns="0" tIns="0" rIns="0" bIns="0" rtlCol="0" anchor="ctr"/>
          <a:lstStyle/>
          <a:p>
            <a:pPr marL="0" indent="0" algn="ctr">
              <a:buNone/>
            </a:pPr>
            <a:r>
              <a:rPr lang="en-US" sz="1400" b="1" dirty="0">
                <a:solidFill>
                  <a:srgbClr val="4E7B56"/>
                </a:solidFill>
              </a:rPr>
              <a:t>→</a:t>
            </a:r>
            <a:endParaRPr lang="en-US" sz="1400" dirty="0"/>
          </a:p>
        </p:txBody>
      </p:sp>
      <p:sp>
        <p:nvSpPr>
          <p:cNvPr id="47" name="Shape 45"/>
          <p:cNvSpPr/>
          <p:nvPr/>
        </p:nvSpPr>
        <p:spPr>
          <a:xfrm>
            <a:off x="6720840" y="2560320"/>
            <a:ext cx="1920240" cy="1463040"/>
          </a:xfrm>
          <a:prstGeom prst="rect">
            <a:avLst/>
          </a:prstGeom>
          <a:solidFill>
            <a:srgbClr val="FFFFFF"/>
          </a:solidFill>
          <a:ln w="12700">
            <a:solidFill>
              <a:srgbClr val="D4C9B5"/>
            </a:solidFill>
            <a:prstDash val="solid"/>
          </a:ln>
        </p:spPr>
      </p:sp>
      <p:sp>
        <p:nvSpPr>
          <p:cNvPr id="48" name="Shape 46"/>
          <p:cNvSpPr/>
          <p:nvPr/>
        </p:nvSpPr>
        <p:spPr>
          <a:xfrm>
            <a:off x="6720840" y="2560320"/>
            <a:ext cx="1920240" cy="594360"/>
          </a:xfrm>
          <a:prstGeom prst="rect">
            <a:avLst/>
          </a:prstGeom>
          <a:solidFill>
            <a:srgbClr val="4E7B56"/>
          </a:solidFill>
          <a:ln w="12700">
            <a:solidFill>
              <a:srgbClr val="4E7B56"/>
            </a:solidFill>
            <a:prstDash val="solid"/>
          </a:ln>
        </p:spPr>
      </p:sp>
      <p:sp>
        <p:nvSpPr>
          <p:cNvPr id="49" name="Text 47"/>
          <p:cNvSpPr/>
          <p:nvPr/>
        </p:nvSpPr>
        <p:spPr>
          <a:xfrm>
            <a:off x="6720840" y="2560320"/>
            <a:ext cx="1920240" cy="594360"/>
          </a:xfrm>
          <a:prstGeom prst="rect">
            <a:avLst/>
          </a:prstGeom>
          <a:noFill/>
          <a:ln/>
        </p:spPr>
        <p:txBody>
          <a:bodyPr wrap="square" lIns="0" tIns="0" rIns="0" bIns="0" rtlCol="0" anchor="ctr"/>
          <a:lstStyle/>
          <a:p>
            <a:pPr marL="0" indent="0" algn="ctr">
              <a:buNone/>
            </a:pPr>
            <a:r>
              <a:rPr lang="en-US" sz="1100" b="1" dirty="0">
                <a:solidFill>
                  <a:srgbClr val="FFFFFF"/>
                </a:solidFill>
              </a:rPr>
              <a:t>9</a:t>
            </a:r>
            <a:endParaRPr lang="en-US" sz="1100" dirty="0"/>
          </a:p>
          <a:p>
            <a:pPr marL="0" indent="0" algn="ctr">
              <a:buNone/>
            </a:pPr>
            <a:r>
              <a:rPr lang="en-US" sz="1100" b="1" dirty="0">
                <a:solidFill>
                  <a:srgbClr val="FFFFFF"/>
                </a:solidFill>
              </a:rPr>
              <a:t>Output &amp;</a:t>
            </a:r>
            <a:endParaRPr lang="en-US" sz="1100" dirty="0"/>
          </a:p>
          <a:p>
            <a:pPr marL="0" indent="0" algn="ctr">
              <a:buNone/>
            </a:pPr>
            <a:r>
              <a:rPr lang="en-US" sz="1100" b="1" dirty="0">
                <a:solidFill>
                  <a:srgbClr val="FFFFFF"/>
                </a:solidFill>
              </a:rPr>
              <a:t>Report</a:t>
            </a:r>
            <a:endParaRPr lang="en-US" sz="1100" dirty="0"/>
          </a:p>
        </p:txBody>
      </p:sp>
      <p:sp>
        <p:nvSpPr>
          <p:cNvPr id="50" name="Text 48"/>
          <p:cNvSpPr/>
          <p:nvPr/>
        </p:nvSpPr>
        <p:spPr>
          <a:xfrm>
            <a:off x="6766560" y="3200400"/>
            <a:ext cx="1828800" cy="777240"/>
          </a:xfrm>
          <a:prstGeom prst="rect">
            <a:avLst/>
          </a:prstGeom>
          <a:noFill/>
          <a:ln/>
        </p:spPr>
        <p:txBody>
          <a:bodyPr wrap="square" lIns="0" tIns="0" rIns="0" bIns="0" rtlCol="0" anchor="ctr"/>
          <a:lstStyle/>
          <a:p>
            <a:pPr marL="0" indent="0" algn="ctr">
              <a:buNone/>
            </a:pPr>
            <a:r>
              <a:rPr lang="en-US" sz="1000" dirty="0">
                <a:solidFill>
                  <a:srgbClr val="3D3D3D"/>
                </a:solidFill>
              </a:rPr>
              <a:t>Top restaurant</a:t>
            </a:r>
            <a:endParaRPr lang="en-US" sz="1000" dirty="0"/>
          </a:p>
          <a:p>
            <a:pPr marL="0" indent="0" algn="ctr">
              <a:buNone/>
            </a:pPr>
            <a:r>
              <a:rPr lang="en-US" sz="1000" dirty="0">
                <a:solidFill>
                  <a:srgbClr val="3D3D3D"/>
                </a:solidFill>
              </a:rPr>
              <a:t>recommendations</a:t>
            </a:r>
            <a:endParaRPr lang="en-US" sz="1000" dirty="0"/>
          </a:p>
        </p:txBody>
      </p:sp>
      <p:sp>
        <p:nvSpPr>
          <p:cNvPr id="51" name="Text 49"/>
          <p:cNvSpPr/>
          <p:nvPr/>
        </p:nvSpPr>
        <p:spPr>
          <a:xfrm>
            <a:off x="274320" y="4160520"/>
            <a:ext cx="8595360" cy="320040"/>
          </a:xfrm>
          <a:prstGeom prst="rect">
            <a:avLst/>
          </a:prstGeom>
          <a:noFill/>
          <a:ln/>
        </p:spPr>
        <p:txBody>
          <a:bodyPr wrap="square" lIns="0" tIns="0" rIns="0" bIns="0" rtlCol="0" anchor="ctr"/>
          <a:lstStyle/>
          <a:p>
            <a:pPr marL="0" indent="0" algn="ctr">
              <a:buNone/>
            </a:pPr>
            <a:r>
              <a:rPr lang="en-US" sz="1000" i="1" dirty="0">
                <a:solidFill>
                  <a:srgbClr val="8A8A7A"/>
                </a:solidFill>
              </a:rPr>
              <a:t>Pipeline flows from raw data collection → VADER scoring → classification → visualization → evaluation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Preprocessing &amp; Sentiment Scoring</a:t>
            </a:r>
            <a:endParaRPr lang="en-US" sz="2200" dirty="0"/>
          </a:p>
        </p:txBody>
      </p:sp>
      <p:sp>
        <p:nvSpPr>
          <p:cNvPr id="4" name="Shape 2"/>
          <p:cNvSpPr/>
          <p:nvPr/>
        </p:nvSpPr>
        <p:spPr>
          <a:xfrm>
            <a:off x="274320" y="822960"/>
            <a:ext cx="4023360" cy="4114800"/>
          </a:xfrm>
          <a:prstGeom prst="rect">
            <a:avLst/>
          </a:prstGeom>
          <a:solidFill>
            <a:srgbClr val="FFFFFF"/>
          </a:solidFill>
          <a:ln w="12700">
            <a:solidFill>
              <a:srgbClr val="D4C9B5"/>
            </a:solidFill>
            <a:prstDash val="solid"/>
          </a:ln>
        </p:spPr>
      </p:sp>
      <p:sp>
        <p:nvSpPr>
          <p:cNvPr id="5" name="Shape 3"/>
          <p:cNvSpPr/>
          <p:nvPr/>
        </p:nvSpPr>
        <p:spPr>
          <a:xfrm>
            <a:off x="274320" y="822960"/>
            <a:ext cx="4023360" cy="411480"/>
          </a:xfrm>
          <a:prstGeom prst="rect">
            <a:avLst/>
          </a:prstGeom>
          <a:solidFill>
            <a:srgbClr val="C9973A"/>
          </a:solidFill>
          <a:ln w="12700">
            <a:solidFill>
              <a:srgbClr val="C9973A"/>
            </a:solidFill>
            <a:prstDash val="solid"/>
          </a:ln>
        </p:spPr>
      </p:sp>
      <p:sp>
        <p:nvSpPr>
          <p:cNvPr id="6" name="Text 4"/>
          <p:cNvSpPr/>
          <p:nvPr/>
        </p:nvSpPr>
        <p:spPr>
          <a:xfrm>
            <a:off x="274320" y="822960"/>
            <a:ext cx="4023360" cy="411480"/>
          </a:xfrm>
          <a:prstGeom prst="rect">
            <a:avLst/>
          </a:prstGeom>
          <a:noFill/>
          <a:ln/>
        </p:spPr>
        <p:txBody>
          <a:bodyPr wrap="square" lIns="0" tIns="0" rIns="0" bIns="0" rtlCol="0" anchor="ctr"/>
          <a:lstStyle/>
          <a:p>
            <a:pPr marL="0" indent="0" algn="ctr">
              <a:buNone/>
            </a:pPr>
            <a:r>
              <a:rPr lang="en-US" sz="1300" b="1" dirty="0">
                <a:solidFill>
                  <a:srgbClr val="FFFFFF"/>
                </a:solidFill>
              </a:rPr>
              <a:t>Preprocessing Steps</a:t>
            </a:r>
            <a:endParaRPr lang="en-US" sz="1300" dirty="0"/>
          </a:p>
        </p:txBody>
      </p:sp>
      <p:sp>
        <p:nvSpPr>
          <p:cNvPr id="7" name="Text 5"/>
          <p:cNvSpPr/>
          <p:nvPr/>
        </p:nvSpPr>
        <p:spPr>
          <a:xfrm>
            <a:off x="411480" y="1298448"/>
            <a:ext cx="3749040" cy="384048"/>
          </a:xfrm>
          <a:prstGeom prst="rect">
            <a:avLst/>
          </a:prstGeom>
          <a:noFill/>
          <a:ln/>
        </p:spPr>
        <p:txBody>
          <a:bodyPr wrap="square" lIns="0" tIns="0" rIns="0" bIns="0" rtlCol="0" anchor="ctr"/>
          <a:lstStyle/>
          <a:p>
            <a:pPr marL="0" indent="0">
              <a:buNone/>
            </a:pPr>
            <a:r>
              <a:rPr lang="en-US" sz="1100" dirty="0">
                <a:solidFill>
                  <a:srgbClr val="3D3D3D"/>
                </a:solidFill>
              </a:rPr>
              <a:t>1.  Load CSV with pandas (latin-1 encoding)</a:t>
            </a:r>
            <a:endParaRPr lang="en-US" sz="1100" dirty="0"/>
          </a:p>
        </p:txBody>
      </p:sp>
      <p:sp>
        <p:nvSpPr>
          <p:cNvPr id="8" name="Text 6"/>
          <p:cNvSpPr/>
          <p:nvPr/>
        </p:nvSpPr>
        <p:spPr>
          <a:xfrm>
            <a:off x="411480" y="1728216"/>
            <a:ext cx="3749040" cy="384048"/>
          </a:xfrm>
          <a:prstGeom prst="rect">
            <a:avLst/>
          </a:prstGeom>
          <a:noFill/>
          <a:ln/>
        </p:spPr>
        <p:txBody>
          <a:bodyPr wrap="square" lIns="0" tIns="0" rIns="0" bIns="0" rtlCol="0" anchor="ctr"/>
          <a:lstStyle/>
          <a:p>
            <a:pPr marL="0" indent="0">
              <a:buNone/>
            </a:pPr>
            <a:r>
              <a:rPr lang="en-US" sz="1100" dirty="0">
                <a:solidFill>
                  <a:srgbClr val="3D3D3D"/>
                </a:solidFill>
              </a:rPr>
              <a:t>2.  Select only restaurant_name &amp; review columns</a:t>
            </a:r>
            <a:endParaRPr lang="en-US" sz="1100" dirty="0"/>
          </a:p>
        </p:txBody>
      </p:sp>
      <p:sp>
        <p:nvSpPr>
          <p:cNvPr id="9" name="Text 7"/>
          <p:cNvSpPr/>
          <p:nvPr/>
        </p:nvSpPr>
        <p:spPr>
          <a:xfrm>
            <a:off x="411480" y="2157984"/>
            <a:ext cx="3749040" cy="384048"/>
          </a:xfrm>
          <a:prstGeom prst="rect">
            <a:avLst/>
          </a:prstGeom>
          <a:noFill/>
          <a:ln/>
        </p:spPr>
        <p:txBody>
          <a:bodyPr wrap="square" lIns="0" tIns="0" rIns="0" bIns="0" rtlCol="0" anchor="ctr"/>
          <a:lstStyle/>
          <a:p>
            <a:pPr marL="0" indent="0">
              <a:buNone/>
            </a:pPr>
            <a:r>
              <a:rPr lang="en-US" sz="1100" dirty="0">
                <a:solidFill>
                  <a:srgbClr val="3D3D3D"/>
                </a:solidFill>
              </a:rPr>
              <a:t>3.  Drop rows with missing/null reviews</a:t>
            </a:r>
            <a:endParaRPr lang="en-US" sz="1100" dirty="0"/>
          </a:p>
        </p:txBody>
      </p:sp>
      <p:sp>
        <p:nvSpPr>
          <p:cNvPr id="10" name="Text 8"/>
          <p:cNvSpPr/>
          <p:nvPr/>
        </p:nvSpPr>
        <p:spPr>
          <a:xfrm>
            <a:off x="411480" y="2587752"/>
            <a:ext cx="3749040" cy="384048"/>
          </a:xfrm>
          <a:prstGeom prst="rect">
            <a:avLst/>
          </a:prstGeom>
          <a:noFill/>
          <a:ln/>
        </p:spPr>
        <p:txBody>
          <a:bodyPr wrap="square" lIns="0" tIns="0" rIns="0" bIns="0" rtlCol="0" anchor="ctr"/>
          <a:lstStyle/>
          <a:p>
            <a:pPr marL="0" indent="0">
              <a:buNone/>
            </a:pPr>
            <a:r>
              <a:rPr lang="en-US" sz="1100" dirty="0">
                <a:solidFill>
                  <a:srgbClr val="3D3D3D"/>
                </a:solidFill>
              </a:rPr>
              <a:t>4.  Convert all review text to string type</a:t>
            </a:r>
            <a:endParaRPr lang="en-US" sz="1100" dirty="0"/>
          </a:p>
        </p:txBody>
      </p:sp>
      <p:sp>
        <p:nvSpPr>
          <p:cNvPr id="11" name="Text 9"/>
          <p:cNvSpPr/>
          <p:nvPr/>
        </p:nvSpPr>
        <p:spPr>
          <a:xfrm>
            <a:off x="411480" y="3017520"/>
            <a:ext cx="3749040" cy="384048"/>
          </a:xfrm>
          <a:prstGeom prst="rect">
            <a:avLst/>
          </a:prstGeom>
          <a:noFill/>
          <a:ln/>
        </p:spPr>
        <p:txBody>
          <a:bodyPr wrap="square" lIns="0" tIns="0" rIns="0" bIns="0" rtlCol="0" anchor="ctr"/>
          <a:lstStyle/>
          <a:p>
            <a:pPr marL="0" indent="0">
              <a:buNone/>
            </a:pPr>
            <a:r>
              <a:rPr lang="en-US" sz="1100" dirty="0">
                <a:solidFill>
                  <a:srgbClr val="3D3D3D"/>
                </a:solidFill>
              </a:rPr>
              <a:t>5.  Pass each review to VADER analyzer</a:t>
            </a:r>
            <a:endParaRPr lang="en-US" sz="1100" dirty="0"/>
          </a:p>
        </p:txBody>
      </p:sp>
      <p:sp>
        <p:nvSpPr>
          <p:cNvPr id="12" name="Text 10"/>
          <p:cNvSpPr/>
          <p:nvPr/>
        </p:nvSpPr>
        <p:spPr>
          <a:xfrm>
            <a:off x="411480" y="3447288"/>
            <a:ext cx="3749040" cy="384048"/>
          </a:xfrm>
          <a:prstGeom prst="rect">
            <a:avLst/>
          </a:prstGeom>
          <a:noFill/>
          <a:ln/>
        </p:spPr>
        <p:txBody>
          <a:bodyPr wrap="square" lIns="0" tIns="0" rIns="0" bIns="0" rtlCol="0" anchor="ctr"/>
          <a:lstStyle/>
          <a:p>
            <a:pPr marL="0" indent="0">
              <a:buNone/>
            </a:pPr>
            <a:r>
              <a:rPr lang="en-US" sz="1100" dirty="0">
                <a:solidFill>
                  <a:srgbClr val="3D3D3D"/>
                </a:solidFill>
              </a:rPr>
              <a:t>6.  Extract compound score per review</a:t>
            </a:r>
            <a:endParaRPr lang="en-US" sz="1100" dirty="0"/>
          </a:p>
        </p:txBody>
      </p:sp>
      <p:sp>
        <p:nvSpPr>
          <p:cNvPr id="13" name="Text 11"/>
          <p:cNvSpPr/>
          <p:nvPr/>
        </p:nvSpPr>
        <p:spPr>
          <a:xfrm>
            <a:off x="411480" y="3877056"/>
            <a:ext cx="3749040" cy="384048"/>
          </a:xfrm>
          <a:prstGeom prst="rect">
            <a:avLst/>
          </a:prstGeom>
          <a:noFill/>
          <a:ln/>
        </p:spPr>
        <p:txBody>
          <a:bodyPr wrap="square" lIns="0" tIns="0" rIns="0" bIns="0" rtlCol="0" anchor="ctr"/>
          <a:lstStyle/>
          <a:p>
            <a:pPr marL="0" indent="0">
              <a:buNone/>
            </a:pPr>
            <a:r>
              <a:rPr lang="en-US" sz="1100" dirty="0">
                <a:solidFill>
                  <a:srgbClr val="3D3D3D"/>
                </a:solidFill>
              </a:rPr>
              <a:t>7.  Apply threshold rules to label sentiment</a:t>
            </a:r>
            <a:endParaRPr lang="en-US" sz="1100" dirty="0"/>
          </a:p>
        </p:txBody>
      </p:sp>
      <p:sp>
        <p:nvSpPr>
          <p:cNvPr id="14" name="Text 12"/>
          <p:cNvSpPr/>
          <p:nvPr/>
        </p:nvSpPr>
        <p:spPr>
          <a:xfrm>
            <a:off x="411480" y="4306824"/>
            <a:ext cx="3749040" cy="384048"/>
          </a:xfrm>
          <a:prstGeom prst="rect">
            <a:avLst/>
          </a:prstGeom>
          <a:noFill/>
          <a:ln/>
        </p:spPr>
        <p:txBody>
          <a:bodyPr wrap="square" lIns="0" tIns="0" rIns="0" bIns="0" rtlCol="0" anchor="ctr"/>
          <a:lstStyle/>
          <a:p>
            <a:pPr marL="0" indent="0">
              <a:buNone/>
            </a:pPr>
            <a:r>
              <a:rPr lang="en-US" sz="1100" dirty="0">
                <a:solidFill>
                  <a:srgbClr val="3D3D3D"/>
                </a:solidFill>
              </a:rPr>
              <a:t>8.  Group by restaurant → compute avg score</a:t>
            </a:r>
            <a:endParaRPr lang="en-US" sz="1100" dirty="0"/>
          </a:p>
        </p:txBody>
      </p:sp>
      <p:sp>
        <p:nvSpPr>
          <p:cNvPr id="15" name="Shape 13"/>
          <p:cNvSpPr/>
          <p:nvPr/>
        </p:nvSpPr>
        <p:spPr>
          <a:xfrm>
            <a:off x="4572000" y="822960"/>
            <a:ext cx="4297680" cy="4114800"/>
          </a:xfrm>
          <a:prstGeom prst="rect">
            <a:avLst/>
          </a:prstGeom>
          <a:solidFill>
            <a:srgbClr val="FFFFFF"/>
          </a:solidFill>
          <a:ln w="12700">
            <a:solidFill>
              <a:srgbClr val="D4C9B5"/>
            </a:solidFill>
            <a:prstDash val="solid"/>
          </a:ln>
        </p:spPr>
      </p:sp>
      <p:sp>
        <p:nvSpPr>
          <p:cNvPr id="16" name="Shape 14"/>
          <p:cNvSpPr/>
          <p:nvPr/>
        </p:nvSpPr>
        <p:spPr>
          <a:xfrm>
            <a:off x="4572000" y="822960"/>
            <a:ext cx="4297680" cy="411480"/>
          </a:xfrm>
          <a:prstGeom prst="rect">
            <a:avLst/>
          </a:prstGeom>
          <a:solidFill>
            <a:srgbClr val="4E7B56"/>
          </a:solidFill>
          <a:ln w="12700">
            <a:solidFill>
              <a:srgbClr val="4E7B56"/>
            </a:solidFill>
            <a:prstDash val="solid"/>
          </a:ln>
        </p:spPr>
      </p:sp>
      <p:sp>
        <p:nvSpPr>
          <p:cNvPr id="17" name="Text 15"/>
          <p:cNvSpPr/>
          <p:nvPr/>
        </p:nvSpPr>
        <p:spPr>
          <a:xfrm>
            <a:off x="4572000" y="822960"/>
            <a:ext cx="4297680" cy="411480"/>
          </a:xfrm>
          <a:prstGeom prst="rect">
            <a:avLst/>
          </a:prstGeom>
          <a:noFill/>
          <a:ln/>
        </p:spPr>
        <p:txBody>
          <a:bodyPr wrap="square" lIns="0" tIns="0" rIns="0" bIns="0" rtlCol="0" anchor="ctr"/>
          <a:lstStyle/>
          <a:p>
            <a:pPr marL="0" indent="0" algn="ctr">
              <a:buNone/>
            </a:pPr>
            <a:r>
              <a:rPr lang="en-US" sz="1300" b="1" dirty="0">
                <a:solidFill>
                  <a:srgbClr val="FFFFFF"/>
                </a:solidFill>
              </a:rPr>
              <a:t>VADER Scoring Logic</a:t>
            </a:r>
            <a:endParaRPr lang="en-US" sz="1300" dirty="0"/>
          </a:p>
        </p:txBody>
      </p:sp>
      <p:sp>
        <p:nvSpPr>
          <p:cNvPr id="18" name="Shape 16"/>
          <p:cNvSpPr/>
          <p:nvPr/>
        </p:nvSpPr>
        <p:spPr>
          <a:xfrm>
            <a:off x="4663440" y="1325880"/>
            <a:ext cx="4114800" cy="2011680"/>
          </a:xfrm>
          <a:prstGeom prst="rect">
            <a:avLst/>
          </a:prstGeom>
          <a:solidFill>
            <a:srgbClr val="1A2A1E"/>
          </a:solidFill>
          <a:ln w="12700">
            <a:solidFill>
              <a:srgbClr val="1A2A1E"/>
            </a:solidFill>
            <a:prstDash val="solid"/>
          </a:ln>
        </p:spPr>
      </p:sp>
      <p:sp>
        <p:nvSpPr>
          <p:cNvPr id="19" name="Text 17"/>
          <p:cNvSpPr/>
          <p:nvPr/>
        </p:nvSpPr>
        <p:spPr>
          <a:xfrm>
            <a:off x="4754880" y="1389888"/>
            <a:ext cx="3931920" cy="1874520"/>
          </a:xfrm>
          <a:prstGeom prst="rect">
            <a:avLst/>
          </a:prstGeom>
          <a:noFill/>
          <a:ln/>
        </p:spPr>
        <p:txBody>
          <a:bodyPr wrap="square" lIns="0" tIns="0" rIns="0" bIns="0" rtlCol="0" anchor="ctr"/>
          <a:lstStyle/>
          <a:p>
            <a:pPr marL="0" indent="0">
              <a:buNone/>
            </a:pPr>
            <a:r>
              <a:rPr lang="en-US" sz="1000" dirty="0">
                <a:solidFill>
                  <a:srgbClr val="569CD6"/>
                </a:solidFill>
                <a:latin typeface="Consolas" pitchFamily="34" charset="0"/>
                <a:ea typeface="Consolas" pitchFamily="34" charset="-122"/>
                <a:cs typeface="Consolas" pitchFamily="34" charset="-120"/>
              </a:rPr>
              <a:t>def </a:t>
            </a:r>
            <a:r>
              <a:rPr lang="en-US" sz="1000" b="1" dirty="0">
                <a:solidFill>
                  <a:srgbClr val="DCDCAA"/>
                </a:solidFill>
                <a:latin typeface="Consolas" pitchFamily="34" charset="0"/>
                <a:ea typeface="Consolas" pitchFamily="34" charset="-122"/>
                <a:cs typeface="Consolas" pitchFamily="34" charset="-120"/>
              </a:rPr>
              <a:t>get_sentiment</a:t>
            </a:r>
            <a:r>
              <a:rPr lang="en-US" sz="1000" dirty="0">
                <a:solidFill>
                  <a:srgbClr val="FFFFFF"/>
                </a:solidFill>
                <a:latin typeface="Consolas" pitchFamily="34" charset="0"/>
                <a:ea typeface="Consolas" pitchFamily="34" charset="-122"/>
                <a:cs typeface="Consolas" pitchFamily="34" charset="-120"/>
              </a:rPr>
              <a:t>(text):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scores = analyzer.</a:t>
            </a:r>
            <a:r>
              <a:rPr lang="en-US" sz="1000" dirty="0">
                <a:solidFill>
                  <a:srgbClr val="DCDCAA"/>
                </a:solidFill>
                <a:latin typeface="Consolas" pitchFamily="34" charset="0"/>
                <a:ea typeface="Consolas" pitchFamily="34" charset="-122"/>
                <a:cs typeface="Consolas" pitchFamily="34" charset="-120"/>
              </a:rPr>
              <a:t>polarity_scores</a:t>
            </a:r>
            <a:r>
              <a:rPr lang="en-US" sz="1000" dirty="0">
                <a:solidFill>
                  <a:srgbClr val="FFFFFF"/>
                </a:solidFill>
                <a:latin typeface="Consolas" pitchFamily="34" charset="0"/>
                <a:ea typeface="Consolas" pitchFamily="34" charset="-122"/>
                <a:cs typeface="Consolas" pitchFamily="34" charset="-120"/>
              </a:rPr>
              <a:t>(text)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compound = scores[</a:t>
            </a:r>
            <a:r>
              <a:rPr lang="en-US" sz="1000" dirty="0">
                <a:solidFill>
                  <a:srgbClr val="CE9178"/>
                </a:solidFill>
                <a:latin typeface="Consolas" pitchFamily="34" charset="0"/>
                <a:ea typeface="Consolas" pitchFamily="34" charset="-122"/>
                <a:cs typeface="Consolas" pitchFamily="34" charset="-120"/>
              </a:rPr>
              <a:t>'compound'</a:t>
            </a: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569CD6"/>
                </a:solidFill>
                <a:latin typeface="Consolas" pitchFamily="34" charset="0"/>
                <a:ea typeface="Consolas" pitchFamily="34" charset="-122"/>
                <a:cs typeface="Consolas" pitchFamily="34" charset="-120"/>
              </a:rPr>
              <a:t>  if </a:t>
            </a:r>
            <a:r>
              <a:rPr lang="en-US" sz="1000" dirty="0">
                <a:solidFill>
                  <a:srgbClr val="FFFFFF"/>
                </a:solidFill>
                <a:latin typeface="Consolas" pitchFamily="34" charset="0"/>
                <a:ea typeface="Consolas" pitchFamily="34" charset="-122"/>
                <a:cs typeface="Consolas" pitchFamily="34" charset="-120"/>
              </a:rPr>
              <a:t>compound &gt;= 0.05:</a:t>
            </a:r>
            <a:endParaRPr lang="en-US" sz="1000" dirty="0"/>
          </a:p>
          <a:p>
            <a:pPr marL="0" indent="0">
              <a:buNone/>
            </a:pPr>
            <a:r>
              <a:rPr lang="en-US" sz="1000" dirty="0">
                <a:solidFill>
                  <a:srgbClr val="569CD6"/>
                </a:solidFill>
                <a:latin typeface="Consolas" pitchFamily="34" charset="0"/>
                <a:ea typeface="Consolas" pitchFamily="34" charset="-122"/>
                <a:cs typeface="Consolas" pitchFamily="34" charset="-120"/>
              </a:rPr>
              <a:t>    return </a:t>
            </a:r>
            <a:r>
              <a:rPr lang="en-US" sz="1000" dirty="0">
                <a:solidFill>
                  <a:srgbClr val="CE9178"/>
                </a:solidFill>
                <a:latin typeface="Consolas" pitchFamily="34" charset="0"/>
                <a:ea typeface="Consolas" pitchFamily="34" charset="-122"/>
                <a:cs typeface="Consolas" pitchFamily="34" charset="-120"/>
              </a:rPr>
              <a:t>'Positive'</a:t>
            </a:r>
            <a:endParaRPr lang="en-US" sz="1000" dirty="0"/>
          </a:p>
          <a:p>
            <a:pPr marL="0" indent="0">
              <a:buNone/>
            </a:pPr>
            <a:r>
              <a:rPr lang="en-US" sz="1000" dirty="0">
                <a:solidFill>
                  <a:srgbClr val="569CD6"/>
                </a:solidFill>
                <a:latin typeface="Consolas" pitchFamily="34" charset="0"/>
                <a:ea typeface="Consolas" pitchFamily="34" charset="-122"/>
                <a:cs typeface="Consolas" pitchFamily="34" charset="-120"/>
              </a:rPr>
              <a:t>  elif </a:t>
            </a:r>
            <a:r>
              <a:rPr lang="en-US" sz="1000" dirty="0">
                <a:solidFill>
                  <a:srgbClr val="FFFFFF"/>
                </a:solidFill>
                <a:latin typeface="Consolas" pitchFamily="34" charset="0"/>
                <a:ea typeface="Consolas" pitchFamily="34" charset="-122"/>
                <a:cs typeface="Consolas" pitchFamily="34" charset="-120"/>
              </a:rPr>
              <a:t>compound &lt;= -0.05:</a:t>
            </a:r>
            <a:endParaRPr lang="en-US" sz="1000" dirty="0"/>
          </a:p>
          <a:p>
            <a:pPr marL="0" indent="0">
              <a:buNone/>
            </a:pPr>
            <a:r>
              <a:rPr lang="en-US" sz="1000" dirty="0">
                <a:solidFill>
                  <a:srgbClr val="569CD6"/>
                </a:solidFill>
                <a:latin typeface="Consolas" pitchFamily="34" charset="0"/>
                <a:ea typeface="Consolas" pitchFamily="34" charset="-122"/>
                <a:cs typeface="Consolas" pitchFamily="34" charset="-120"/>
              </a:rPr>
              <a:t>    return </a:t>
            </a:r>
            <a:r>
              <a:rPr lang="en-US" sz="1000" dirty="0">
                <a:solidFill>
                  <a:srgbClr val="CE9178"/>
                </a:solidFill>
                <a:latin typeface="Consolas" pitchFamily="34" charset="0"/>
                <a:ea typeface="Consolas" pitchFamily="34" charset="-122"/>
                <a:cs typeface="Consolas" pitchFamily="34" charset="-120"/>
              </a:rPr>
              <a:t>'Negative'</a:t>
            </a:r>
            <a:endParaRPr lang="en-US" sz="1000" dirty="0"/>
          </a:p>
          <a:p>
            <a:pPr marL="0" indent="0">
              <a:buNone/>
            </a:pPr>
            <a:r>
              <a:rPr lang="en-US" sz="1000" dirty="0">
                <a:solidFill>
                  <a:srgbClr val="569CD6"/>
                </a:solidFill>
                <a:latin typeface="Consolas" pitchFamily="34" charset="0"/>
                <a:ea typeface="Consolas" pitchFamily="34" charset="-122"/>
                <a:cs typeface="Consolas" pitchFamily="34" charset="-120"/>
              </a:rPr>
              <a:t>  else: return </a:t>
            </a:r>
            <a:r>
              <a:rPr lang="en-US" sz="1000" dirty="0">
                <a:solidFill>
                  <a:srgbClr val="CE9178"/>
                </a:solidFill>
                <a:latin typeface="Consolas" pitchFamily="34" charset="0"/>
                <a:ea typeface="Consolas" pitchFamily="34" charset="-122"/>
                <a:cs typeface="Consolas" pitchFamily="34" charset="-120"/>
              </a:rPr>
              <a:t>'Neutral'</a:t>
            </a:r>
            <a:endParaRPr lang="en-US" sz="1000" dirty="0"/>
          </a:p>
        </p:txBody>
      </p:sp>
      <p:sp>
        <p:nvSpPr>
          <p:cNvPr id="20" name="Shape 18"/>
          <p:cNvSpPr/>
          <p:nvPr/>
        </p:nvSpPr>
        <p:spPr>
          <a:xfrm>
            <a:off x="4663440" y="3493008"/>
            <a:ext cx="1371600" cy="347472"/>
          </a:xfrm>
          <a:prstGeom prst="rect">
            <a:avLst/>
          </a:prstGeom>
          <a:solidFill>
            <a:srgbClr val="C0392B"/>
          </a:solidFill>
          <a:ln w="12700">
            <a:solidFill>
              <a:srgbClr val="C0392B"/>
            </a:solidFill>
            <a:prstDash val="solid"/>
          </a:ln>
        </p:spPr>
      </p:sp>
      <p:sp>
        <p:nvSpPr>
          <p:cNvPr id="21" name="Text 19"/>
          <p:cNvSpPr/>
          <p:nvPr/>
        </p:nvSpPr>
        <p:spPr>
          <a:xfrm>
            <a:off x="4663440" y="3493008"/>
            <a:ext cx="1371600" cy="347472"/>
          </a:xfrm>
          <a:prstGeom prst="rect">
            <a:avLst/>
          </a:prstGeom>
          <a:noFill/>
          <a:ln/>
        </p:spPr>
        <p:txBody>
          <a:bodyPr wrap="square" lIns="0" tIns="0" rIns="0" bIns="0" rtlCol="0" anchor="ctr"/>
          <a:lstStyle/>
          <a:p>
            <a:pPr marL="0" indent="0" algn="ctr">
              <a:buNone/>
            </a:pPr>
            <a:r>
              <a:rPr lang="en-US" sz="1000" b="1" dirty="0">
                <a:solidFill>
                  <a:srgbClr val="FFFFFF"/>
                </a:solidFill>
              </a:rPr>
              <a:t>≤ –0.05</a:t>
            </a:r>
            <a:endParaRPr lang="en-US" sz="1000" dirty="0"/>
          </a:p>
        </p:txBody>
      </p:sp>
      <p:sp>
        <p:nvSpPr>
          <p:cNvPr id="22" name="Text 20"/>
          <p:cNvSpPr/>
          <p:nvPr/>
        </p:nvSpPr>
        <p:spPr>
          <a:xfrm>
            <a:off x="6172200" y="3493008"/>
            <a:ext cx="2651760" cy="347472"/>
          </a:xfrm>
          <a:prstGeom prst="rect">
            <a:avLst/>
          </a:prstGeom>
          <a:noFill/>
          <a:ln/>
        </p:spPr>
        <p:txBody>
          <a:bodyPr wrap="square" lIns="0" tIns="0" rIns="0" bIns="0" rtlCol="0" anchor="ctr"/>
          <a:lstStyle/>
          <a:p>
            <a:pPr marL="0" indent="0">
              <a:buNone/>
            </a:pPr>
            <a:r>
              <a:rPr lang="en-US" sz="1100" dirty="0">
                <a:solidFill>
                  <a:srgbClr val="3D3D3D"/>
                </a:solidFill>
              </a:rPr>
              <a:t>→  NEGATIVE</a:t>
            </a:r>
            <a:endParaRPr lang="en-US" sz="1100" dirty="0"/>
          </a:p>
        </p:txBody>
      </p:sp>
      <p:sp>
        <p:nvSpPr>
          <p:cNvPr id="23" name="Shape 21"/>
          <p:cNvSpPr/>
          <p:nvPr/>
        </p:nvSpPr>
        <p:spPr>
          <a:xfrm>
            <a:off x="4663440" y="3922776"/>
            <a:ext cx="1371600" cy="347472"/>
          </a:xfrm>
          <a:prstGeom prst="rect">
            <a:avLst/>
          </a:prstGeom>
          <a:solidFill>
            <a:srgbClr val="7A7A6A"/>
          </a:solidFill>
          <a:ln w="12700">
            <a:solidFill>
              <a:srgbClr val="7A7A6A"/>
            </a:solidFill>
            <a:prstDash val="solid"/>
          </a:ln>
        </p:spPr>
      </p:sp>
      <p:sp>
        <p:nvSpPr>
          <p:cNvPr id="24" name="Text 22"/>
          <p:cNvSpPr/>
          <p:nvPr/>
        </p:nvSpPr>
        <p:spPr>
          <a:xfrm>
            <a:off x="4663440" y="3922776"/>
            <a:ext cx="1371600" cy="347472"/>
          </a:xfrm>
          <a:prstGeom prst="rect">
            <a:avLst/>
          </a:prstGeom>
          <a:noFill/>
          <a:ln/>
        </p:spPr>
        <p:txBody>
          <a:bodyPr wrap="square" lIns="0" tIns="0" rIns="0" bIns="0" rtlCol="0" anchor="ctr"/>
          <a:lstStyle/>
          <a:p>
            <a:pPr marL="0" indent="0" algn="ctr">
              <a:buNone/>
            </a:pPr>
            <a:r>
              <a:rPr lang="en-US" sz="1000" b="1" dirty="0">
                <a:solidFill>
                  <a:srgbClr val="FFFFFF"/>
                </a:solidFill>
              </a:rPr>
              <a:t>–0.05 to +0.05</a:t>
            </a:r>
            <a:endParaRPr lang="en-US" sz="1000" dirty="0"/>
          </a:p>
        </p:txBody>
      </p:sp>
      <p:sp>
        <p:nvSpPr>
          <p:cNvPr id="25" name="Text 23"/>
          <p:cNvSpPr/>
          <p:nvPr/>
        </p:nvSpPr>
        <p:spPr>
          <a:xfrm>
            <a:off x="6172200" y="3922776"/>
            <a:ext cx="2651760" cy="347472"/>
          </a:xfrm>
          <a:prstGeom prst="rect">
            <a:avLst/>
          </a:prstGeom>
          <a:noFill/>
          <a:ln/>
        </p:spPr>
        <p:txBody>
          <a:bodyPr wrap="square" lIns="0" tIns="0" rIns="0" bIns="0" rtlCol="0" anchor="ctr"/>
          <a:lstStyle/>
          <a:p>
            <a:pPr marL="0" indent="0">
              <a:buNone/>
            </a:pPr>
            <a:r>
              <a:rPr lang="en-US" sz="1100" dirty="0">
                <a:solidFill>
                  <a:srgbClr val="3D3D3D"/>
                </a:solidFill>
              </a:rPr>
              <a:t>→  NEUTRAL</a:t>
            </a:r>
            <a:endParaRPr lang="en-US" sz="1100" dirty="0"/>
          </a:p>
        </p:txBody>
      </p:sp>
      <p:sp>
        <p:nvSpPr>
          <p:cNvPr id="26" name="Shape 24"/>
          <p:cNvSpPr/>
          <p:nvPr/>
        </p:nvSpPr>
        <p:spPr>
          <a:xfrm>
            <a:off x="4663440" y="4352544"/>
            <a:ext cx="1371600" cy="347472"/>
          </a:xfrm>
          <a:prstGeom prst="rect">
            <a:avLst/>
          </a:prstGeom>
          <a:solidFill>
            <a:srgbClr val="3A7D44"/>
          </a:solidFill>
          <a:ln w="12700">
            <a:solidFill>
              <a:srgbClr val="3A7D44"/>
            </a:solidFill>
            <a:prstDash val="solid"/>
          </a:ln>
        </p:spPr>
      </p:sp>
      <p:sp>
        <p:nvSpPr>
          <p:cNvPr id="27" name="Text 25"/>
          <p:cNvSpPr/>
          <p:nvPr/>
        </p:nvSpPr>
        <p:spPr>
          <a:xfrm>
            <a:off x="4663440" y="4352544"/>
            <a:ext cx="1371600" cy="347472"/>
          </a:xfrm>
          <a:prstGeom prst="rect">
            <a:avLst/>
          </a:prstGeom>
          <a:noFill/>
          <a:ln/>
        </p:spPr>
        <p:txBody>
          <a:bodyPr wrap="square" lIns="0" tIns="0" rIns="0" bIns="0" rtlCol="0" anchor="ctr"/>
          <a:lstStyle/>
          <a:p>
            <a:pPr marL="0" indent="0" algn="ctr">
              <a:buNone/>
            </a:pPr>
            <a:r>
              <a:rPr lang="en-US" sz="1000" b="1" dirty="0">
                <a:solidFill>
                  <a:srgbClr val="FFFFFF"/>
                </a:solidFill>
              </a:rPr>
              <a:t>≥ +0.05</a:t>
            </a:r>
            <a:endParaRPr lang="en-US" sz="1000" dirty="0"/>
          </a:p>
        </p:txBody>
      </p:sp>
      <p:sp>
        <p:nvSpPr>
          <p:cNvPr id="28" name="Text 26"/>
          <p:cNvSpPr/>
          <p:nvPr/>
        </p:nvSpPr>
        <p:spPr>
          <a:xfrm>
            <a:off x="6172200" y="4352544"/>
            <a:ext cx="2651760" cy="347472"/>
          </a:xfrm>
          <a:prstGeom prst="rect">
            <a:avLst/>
          </a:prstGeom>
          <a:noFill/>
          <a:ln/>
        </p:spPr>
        <p:txBody>
          <a:bodyPr wrap="square" lIns="0" tIns="0" rIns="0" bIns="0" rtlCol="0" anchor="ctr"/>
          <a:lstStyle/>
          <a:p>
            <a:pPr marL="0" indent="0">
              <a:buNone/>
            </a:pPr>
            <a:r>
              <a:rPr lang="en-US" sz="1100" dirty="0">
                <a:solidFill>
                  <a:srgbClr val="3D3D3D"/>
                </a:solidFill>
              </a:rPr>
              <a:t>→  POSITIVE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Sentiment Distribution Results</a:t>
            </a:r>
            <a:endParaRPr lang="en-US" sz="2200" dirty="0"/>
          </a:p>
        </p:txBody>
      </p:sp>
      <p:pic>
        <p:nvPicPr>
          <p:cNvPr id="4" name="Image 0" descr="/home/claude/pptx_project/img_distribution.jpg"/>
          <p:cNvPicPr>
            <a:picLocks noChangeAspect="1"/>
          </p:cNvPicPr>
          <p:nvPr/>
        </p:nvPicPr>
        <p:blipFill>
          <a:blip r:embed="rId3"/>
          <a:stretch>
            <a:fillRect/>
          </a:stretch>
        </p:blipFill>
        <p:spPr>
          <a:xfrm>
            <a:off x="274320" y="1470660"/>
            <a:ext cx="3200400" cy="1417320"/>
          </a:xfrm>
          <a:prstGeom prst="rect">
            <a:avLst/>
          </a:prstGeom>
        </p:spPr>
      </p:pic>
      <p:sp>
        <p:nvSpPr>
          <p:cNvPr id="5" name="Text 2"/>
          <p:cNvSpPr/>
          <p:nvPr/>
        </p:nvSpPr>
        <p:spPr>
          <a:xfrm>
            <a:off x="220980" y="3162300"/>
            <a:ext cx="3200400" cy="274320"/>
          </a:xfrm>
          <a:prstGeom prst="rect">
            <a:avLst/>
          </a:prstGeom>
          <a:noFill/>
          <a:ln/>
        </p:spPr>
        <p:txBody>
          <a:bodyPr wrap="square" lIns="0" tIns="0" rIns="0" bIns="0" rtlCol="0" anchor="ctr"/>
          <a:lstStyle/>
          <a:p>
            <a:pPr marL="0" indent="0" algn="ctr">
              <a:buNone/>
            </a:pPr>
            <a:r>
              <a:rPr lang="en-US" sz="900" i="1" dirty="0">
                <a:solidFill>
                  <a:srgbClr val="8A8A7A"/>
                </a:solidFill>
              </a:rPr>
              <a:t>Sentiment count output from VADER classifier</a:t>
            </a:r>
            <a:endParaRPr lang="en-US" sz="900" dirty="0"/>
          </a:p>
        </p:txBody>
      </p:sp>
      <p:pic>
        <p:nvPicPr>
          <p:cNvPr id="6" name="Image 1" descr="/home/claude/pptx_project/img_pie.jpg"/>
          <p:cNvPicPr>
            <a:picLocks noChangeAspect="1"/>
          </p:cNvPicPr>
          <p:nvPr/>
        </p:nvPicPr>
        <p:blipFill>
          <a:blip r:embed="rId4"/>
          <a:stretch>
            <a:fillRect/>
          </a:stretch>
        </p:blipFill>
        <p:spPr>
          <a:xfrm>
            <a:off x="3771900" y="731520"/>
            <a:ext cx="5097780" cy="3840480"/>
          </a:xfrm>
          <a:prstGeom prst="rect">
            <a:avLst/>
          </a:prstGeom>
        </p:spPr>
      </p:pic>
      <p:sp>
        <p:nvSpPr>
          <p:cNvPr id="7" name="Shape 3"/>
          <p:cNvSpPr/>
          <p:nvPr/>
        </p:nvSpPr>
        <p:spPr>
          <a:xfrm>
            <a:off x="274320" y="4160520"/>
            <a:ext cx="8595360" cy="731520"/>
          </a:xfrm>
          <a:prstGeom prst="rect">
            <a:avLst/>
          </a:prstGeom>
          <a:solidFill>
            <a:srgbClr val="EDE8DF"/>
          </a:solidFill>
          <a:ln w="12700">
            <a:solidFill>
              <a:srgbClr val="D4C9B5"/>
            </a:solidFill>
            <a:prstDash val="solid"/>
          </a:ln>
        </p:spPr>
      </p:sp>
      <p:sp>
        <p:nvSpPr>
          <p:cNvPr id="8" name="Text 4"/>
          <p:cNvSpPr/>
          <p:nvPr/>
        </p:nvSpPr>
        <p:spPr>
          <a:xfrm>
            <a:off x="411480" y="4206240"/>
            <a:ext cx="8321040" cy="640080"/>
          </a:xfrm>
          <a:prstGeom prst="rect">
            <a:avLst/>
          </a:prstGeom>
          <a:noFill/>
          <a:ln/>
        </p:spPr>
        <p:txBody>
          <a:bodyPr wrap="square" lIns="0" tIns="0" rIns="0" bIns="0" rtlCol="0" anchor="ctr"/>
          <a:lstStyle/>
          <a:p>
            <a:pPr marL="0" indent="0">
              <a:buNone/>
            </a:pPr>
            <a:r>
              <a:rPr lang="en-US" sz="1100" b="1" dirty="0">
                <a:solidFill>
                  <a:srgbClr val="C9973A"/>
                </a:solidFill>
              </a:rPr>
              <a:t>Key Insight:  </a:t>
            </a:r>
            <a:r>
              <a:rPr lang="en-US" sz="1100" dirty="0">
                <a:solidFill>
                  <a:srgbClr val="3D3D3D"/>
                </a:solidFill>
              </a:rPr>
              <a:t>84.4% of all 205 reviews across 21 Majhitar restaurants are Positive. Only 12.7% are Negative and 2.9% Neutral — indicating a predominantly satisfying dining experience in the region.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Restaurant Ranking by Sentiment Score</a:t>
            </a:r>
            <a:endParaRPr lang="en-US" sz="2200" dirty="0"/>
          </a:p>
        </p:txBody>
      </p:sp>
      <p:pic>
        <p:nvPicPr>
          <p:cNvPr id="4" name="Image 0" descr="/home/claude/pptx_project/img_table.jpg"/>
          <p:cNvPicPr>
            <a:picLocks noChangeAspect="1"/>
          </p:cNvPicPr>
          <p:nvPr/>
        </p:nvPicPr>
        <p:blipFill>
          <a:blip r:embed="rId3"/>
          <a:stretch>
            <a:fillRect/>
          </a:stretch>
        </p:blipFill>
        <p:spPr>
          <a:xfrm>
            <a:off x="274320" y="777240"/>
            <a:ext cx="8595360" cy="3657600"/>
          </a:xfrm>
          <a:prstGeom prst="rect">
            <a:avLst/>
          </a:prstGeom>
        </p:spPr>
      </p:pic>
      <p:sp>
        <p:nvSpPr>
          <p:cNvPr id="5" name="Shape 2"/>
          <p:cNvSpPr/>
          <p:nvPr/>
        </p:nvSpPr>
        <p:spPr>
          <a:xfrm>
            <a:off x="274320" y="4526280"/>
            <a:ext cx="8595360" cy="411480"/>
          </a:xfrm>
          <a:prstGeom prst="rect">
            <a:avLst/>
          </a:prstGeom>
          <a:solidFill>
            <a:srgbClr val="EDE8DF"/>
          </a:solidFill>
          <a:ln w="12700">
            <a:solidFill>
              <a:srgbClr val="D4C9B5"/>
            </a:solidFill>
            <a:prstDash val="solid"/>
          </a:ln>
        </p:spPr>
      </p:sp>
      <p:sp>
        <p:nvSpPr>
          <p:cNvPr id="6" name="Text 3"/>
          <p:cNvSpPr/>
          <p:nvPr/>
        </p:nvSpPr>
        <p:spPr>
          <a:xfrm>
            <a:off x="411480" y="4544568"/>
            <a:ext cx="8321040" cy="347472"/>
          </a:xfrm>
          <a:prstGeom prst="rect">
            <a:avLst/>
          </a:prstGeom>
          <a:noFill/>
          <a:ln/>
        </p:spPr>
        <p:txBody>
          <a:bodyPr wrap="square" lIns="0" tIns="0" rIns="0" bIns="0" rtlCol="0" anchor="ctr"/>
          <a:lstStyle/>
          <a:p>
            <a:pPr marL="0" indent="0">
              <a:buNone/>
            </a:pPr>
            <a:r>
              <a:rPr lang="en-US" sz="1000" b="1" dirty="0">
                <a:solidFill>
                  <a:srgbClr val="3A7D44"/>
                </a:solidFill>
              </a:rPr>
              <a:t>Top performers:  </a:t>
            </a:r>
            <a:r>
              <a:rPr lang="en-US" sz="1000" dirty="0">
                <a:solidFill>
                  <a:srgbClr val="3D3D3D"/>
                </a:solidFill>
              </a:rPr>
              <a:t>Coffee Break (0.77), Palate Tender Bar (0.77), Downtown Restro (0.75)  |  </a:t>
            </a:r>
            <a:r>
              <a:rPr lang="en-US" sz="1000" b="1" dirty="0">
                <a:solidFill>
                  <a:srgbClr val="C0392B"/>
                </a:solidFill>
              </a:rPr>
              <a:t>Not Recommended:  </a:t>
            </a:r>
            <a:r>
              <a:rPr lang="en-US" sz="1000" dirty="0">
                <a:solidFill>
                  <a:srgbClr val="3D3D3D"/>
                </a:solidFill>
              </a:rPr>
              <a:t>Highway Inn (0.02), Food Court SMIT (–0.14)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Visualization — Sentiment Score per Restaurant</a:t>
            </a:r>
            <a:endParaRPr lang="en-US" sz="2200" dirty="0"/>
          </a:p>
        </p:txBody>
      </p:sp>
      <p:pic>
        <p:nvPicPr>
          <p:cNvPr id="4" name="Image 0" descr="/home/claude/pptx_project/img_bar.jpg"/>
          <p:cNvPicPr>
            <a:picLocks noChangeAspect="1"/>
          </p:cNvPicPr>
          <p:nvPr/>
        </p:nvPicPr>
        <p:blipFill>
          <a:blip r:embed="rId3"/>
          <a:stretch>
            <a:fillRect/>
          </a:stretch>
        </p:blipFill>
        <p:spPr>
          <a:xfrm>
            <a:off x="274320" y="777240"/>
            <a:ext cx="8595360" cy="3566160"/>
          </a:xfrm>
          <a:prstGeom prst="rect">
            <a:avLst/>
          </a:prstGeom>
        </p:spPr>
      </p:pic>
      <p:sp>
        <p:nvSpPr>
          <p:cNvPr id="5" name="Shape 2"/>
          <p:cNvSpPr/>
          <p:nvPr/>
        </p:nvSpPr>
        <p:spPr>
          <a:xfrm>
            <a:off x="274320" y="4434840"/>
            <a:ext cx="8595360" cy="548640"/>
          </a:xfrm>
          <a:prstGeom prst="rect">
            <a:avLst/>
          </a:prstGeom>
          <a:solidFill>
            <a:srgbClr val="EDE8DF"/>
          </a:solidFill>
          <a:ln w="12700">
            <a:solidFill>
              <a:srgbClr val="D4C9B5"/>
            </a:solidFill>
            <a:prstDash val="solid"/>
          </a:ln>
        </p:spPr>
      </p:sp>
      <p:sp>
        <p:nvSpPr>
          <p:cNvPr id="6" name="Text 3"/>
          <p:cNvSpPr/>
          <p:nvPr/>
        </p:nvSpPr>
        <p:spPr>
          <a:xfrm>
            <a:off x="411480" y="4462272"/>
            <a:ext cx="8321040" cy="475488"/>
          </a:xfrm>
          <a:prstGeom prst="rect">
            <a:avLst/>
          </a:prstGeom>
          <a:noFill/>
          <a:ln/>
        </p:spPr>
        <p:txBody>
          <a:bodyPr wrap="square" lIns="0" tIns="0" rIns="0" bIns="0" rtlCol="0" anchor="ctr"/>
          <a:lstStyle/>
          <a:p>
            <a:pPr marL="0" indent="0">
              <a:buNone/>
            </a:pPr>
            <a:r>
              <a:rPr lang="en-US" sz="1050" b="1" dirty="0">
                <a:solidFill>
                  <a:srgbClr val="C9973A"/>
                </a:solidFill>
              </a:rPr>
              <a:t>Chart Details:  </a:t>
            </a:r>
            <a:r>
              <a:rPr lang="en-US" sz="1050" dirty="0">
                <a:solidFill>
                  <a:srgbClr val="3D3D3D"/>
                </a:solidFill>
              </a:rPr>
              <a:t>Horizontal bar chart sorted by average VADER compound score. </a:t>
            </a:r>
            <a:r>
              <a:rPr lang="en-US" sz="1050" b="1" dirty="0">
                <a:solidFill>
                  <a:srgbClr val="3A7D44"/>
                </a:solidFill>
              </a:rPr>
              <a:t>Green bars</a:t>
            </a:r>
            <a:r>
              <a:rPr lang="en-US" sz="1050" dirty="0">
                <a:solidFill>
                  <a:srgbClr val="3D3D3D"/>
                </a:solidFill>
              </a:rPr>
              <a:t> = recommended (score ≥ 0.05).  </a:t>
            </a:r>
            <a:r>
              <a:rPr lang="en-US" sz="1050" b="1" dirty="0">
                <a:solidFill>
                  <a:srgbClr val="C0392B"/>
                </a:solidFill>
              </a:rPr>
              <a:t>Red bars</a:t>
            </a:r>
            <a:r>
              <a:rPr lang="en-US" sz="1050" dirty="0">
                <a:solidFill>
                  <a:srgbClr val="3D3D3D"/>
                </a:solidFill>
              </a:rPr>
              <a:t> = not recommended.  The dashed orange line marks the recommendation threshold at 0.05.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Visualization — Sentiment Breakdown per Restaurant</a:t>
            </a:r>
            <a:endParaRPr lang="en-US" sz="2200" dirty="0"/>
          </a:p>
        </p:txBody>
      </p:sp>
      <p:pic>
        <p:nvPicPr>
          <p:cNvPr id="4" name="Image 0" descr="/home/claude/pptx_project/img_breakdown.jpg"/>
          <p:cNvPicPr>
            <a:picLocks noChangeAspect="1"/>
          </p:cNvPicPr>
          <p:nvPr/>
        </p:nvPicPr>
        <p:blipFill>
          <a:blip r:embed="rId3"/>
          <a:stretch>
            <a:fillRect/>
          </a:stretch>
        </p:blipFill>
        <p:spPr>
          <a:xfrm>
            <a:off x="274320" y="777240"/>
            <a:ext cx="8595360" cy="3566160"/>
          </a:xfrm>
          <a:prstGeom prst="rect">
            <a:avLst/>
          </a:prstGeom>
        </p:spPr>
      </p:pic>
      <p:sp>
        <p:nvSpPr>
          <p:cNvPr id="5" name="Shape 2"/>
          <p:cNvSpPr/>
          <p:nvPr/>
        </p:nvSpPr>
        <p:spPr>
          <a:xfrm>
            <a:off x="274320" y="4434840"/>
            <a:ext cx="8595360" cy="548640"/>
          </a:xfrm>
          <a:prstGeom prst="rect">
            <a:avLst/>
          </a:prstGeom>
          <a:solidFill>
            <a:srgbClr val="EDE8DF"/>
          </a:solidFill>
          <a:ln w="12700">
            <a:solidFill>
              <a:srgbClr val="D4C9B5"/>
            </a:solidFill>
            <a:prstDash val="solid"/>
          </a:ln>
        </p:spPr>
      </p:sp>
      <p:sp>
        <p:nvSpPr>
          <p:cNvPr id="6" name="Text 3"/>
          <p:cNvSpPr/>
          <p:nvPr/>
        </p:nvSpPr>
        <p:spPr>
          <a:xfrm>
            <a:off x="411480" y="4462272"/>
            <a:ext cx="8321040" cy="475488"/>
          </a:xfrm>
          <a:prstGeom prst="rect">
            <a:avLst/>
          </a:prstGeom>
          <a:noFill/>
          <a:ln/>
        </p:spPr>
        <p:txBody>
          <a:bodyPr wrap="square" lIns="0" tIns="0" rIns="0" bIns="0" rtlCol="0" anchor="ctr"/>
          <a:lstStyle/>
          <a:p>
            <a:pPr marL="0" indent="0">
              <a:buNone/>
            </a:pPr>
            <a:r>
              <a:rPr lang="en-US" sz="1050" b="1" dirty="0">
                <a:solidFill>
                  <a:srgbClr val="C9973A"/>
                </a:solidFill>
              </a:rPr>
              <a:t>Chart Details:  </a:t>
            </a:r>
            <a:r>
              <a:rPr lang="en-US" sz="1050" dirty="0">
                <a:solidFill>
                  <a:srgbClr val="3D3D3D"/>
                </a:solidFill>
              </a:rPr>
              <a:t>Stacked bar chart showing the count of Positive (green), Neutral (gray), and Negative (red) reviews per restaurant. Punjabi Kitchen has the highest total review count (26). Restaurants like Coffee Break and Palate Tender have entirely positive reviews.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Dish-Based Restaurant Recommendation System</a:t>
            </a:r>
            <a:endParaRPr lang="en-US" sz="2200" dirty="0"/>
          </a:p>
        </p:txBody>
      </p:sp>
      <p:sp>
        <p:nvSpPr>
          <p:cNvPr id="4" name="Shape 2"/>
          <p:cNvSpPr/>
          <p:nvPr/>
        </p:nvSpPr>
        <p:spPr>
          <a:xfrm>
            <a:off x="274320" y="822960"/>
            <a:ext cx="3474720" cy="3566160"/>
          </a:xfrm>
          <a:prstGeom prst="rect">
            <a:avLst/>
          </a:prstGeom>
          <a:solidFill>
            <a:srgbClr val="FFFFFF"/>
          </a:solidFill>
          <a:ln w="12700">
            <a:solidFill>
              <a:srgbClr val="D4C9B5"/>
            </a:solidFill>
            <a:prstDash val="solid"/>
          </a:ln>
        </p:spPr>
      </p:sp>
      <p:sp>
        <p:nvSpPr>
          <p:cNvPr id="5" name="Shape 3"/>
          <p:cNvSpPr/>
          <p:nvPr/>
        </p:nvSpPr>
        <p:spPr>
          <a:xfrm>
            <a:off x="274320" y="822960"/>
            <a:ext cx="3474720" cy="411480"/>
          </a:xfrm>
          <a:prstGeom prst="rect">
            <a:avLst/>
          </a:prstGeom>
          <a:solidFill>
            <a:srgbClr val="C9973A"/>
          </a:solidFill>
          <a:ln w="12700">
            <a:solidFill>
              <a:srgbClr val="C9973A"/>
            </a:solidFill>
            <a:prstDash val="solid"/>
          </a:ln>
        </p:spPr>
      </p:sp>
      <p:sp>
        <p:nvSpPr>
          <p:cNvPr id="6" name="Text 4"/>
          <p:cNvSpPr/>
          <p:nvPr/>
        </p:nvSpPr>
        <p:spPr>
          <a:xfrm>
            <a:off x="274320" y="822960"/>
            <a:ext cx="3474720" cy="411480"/>
          </a:xfrm>
          <a:prstGeom prst="rect">
            <a:avLst/>
          </a:prstGeom>
          <a:noFill/>
          <a:ln/>
        </p:spPr>
        <p:txBody>
          <a:bodyPr wrap="square" lIns="0" tIns="0" rIns="0" bIns="0" rtlCol="0" anchor="ctr"/>
          <a:lstStyle/>
          <a:p>
            <a:pPr marL="0" indent="0" algn="ctr">
              <a:buNone/>
            </a:pPr>
            <a:r>
              <a:rPr lang="en-US" sz="1300" b="1" dirty="0">
                <a:solidFill>
                  <a:srgbClr val="FFFFFF"/>
                </a:solidFill>
              </a:rPr>
              <a:t>How It Works</a:t>
            </a:r>
            <a:endParaRPr lang="en-US" sz="1300" dirty="0"/>
          </a:p>
        </p:txBody>
      </p:sp>
      <p:sp>
        <p:nvSpPr>
          <p:cNvPr id="7" name="Shape 5"/>
          <p:cNvSpPr/>
          <p:nvPr/>
        </p:nvSpPr>
        <p:spPr>
          <a:xfrm>
            <a:off x="365760" y="1325880"/>
            <a:ext cx="292608" cy="292608"/>
          </a:xfrm>
          <a:prstGeom prst="rect">
            <a:avLst/>
          </a:prstGeom>
          <a:solidFill>
            <a:srgbClr val="4E7B56"/>
          </a:solidFill>
          <a:ln w="12700">
            <a:solidFill>
              <a:srgbClr val="4E7B56"/>
            </a:solidFill>
            <a:prstDash val="solid"/>
          </a:ln>
        </p:spPr>
      </p:sp>
      <p:sp>
        <p:nvSpPr>
          <p:cNvPr id="8" name="Text 6"/>
          <p:cNvSpPr/>
          <p:nvPr/>
        </p:nvSpPr>
        <p:spPr>
          <a:xfrm>
            <a:off x="365760" y="132588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749808" y="1344168"/>
            <a:ext cx="2926080" cy="457200"/>
          </a:xfrm>
          <a:prstGeom prst="rect">
            <a:avLst/>
          </a:prstGeom>
          <a:noFill/>
          <a:ln/>
        </p:spPr>
        <p:txBody>
          <a:bodyPr wrap="square" lIns="0" tIns="0" rIns="0" bIns="0" rtlCol="0" anchor="ctr"/>
          <a:lstStyle/>
          <a:p>
            <a:pPr marL="0" indent="0">
              <a:buNone/>
            </a:pPr>
            <a:r>
              <a:rPr lang="en-US" sz="1050" dirty="0">
                <a:solidFill>
                  <a:srgbClr val="3D3D3D"/>
                </a:solidFill>
              </a:rPr>
              <a:t>User types a dish name (e.g. momo, biryani, coffee)</a:t>
            </a:r>
            <a:endParaRPr lang="en-US" sz="1050" dirty="0"/>
          </a:p>
        </p:txBody>
      </p:sp>
      <p:sp>
        <p:nvSpPr>
          <p:cNvPr id="10" name="Shape 8"/>
          <p:cNvSpPr/>
          <p:nvPr/>
        </p:nvSpPr>
        <p:spPr>
          <a:xfrm>
            <a:off x="365760" y="1901952"/>
            <a:ext cx="292608" cy="292608"/>
          </a:xfrm>
          <a:prstGeom prst="rect">
            <a:avLst/>
          </a:prstGeom>
          <a:solidFill>
            <a:srgbClr val="4E7B56"/>
          </a:solidFill>
          <a:ln w="12700">
            <a:solidFill>
              <a:srgbClr val="4E7B56"/>
            </a:solidFill>
            <a:prstDash val="solid"/>
          </a:ln>
        </p:spPr>
      </p:sp>
      <p:sp>
        <p:nvSpPr>
          <p:cNvPr id="11" name="Text 9"/>
          <p:cNvSpPr/>
          <p:nvPr/>
        </p:nvSpPr>
        <p:spPr>
          <a:xfrm>
            <a:off x="365760" y="190195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2" name="Text 10"/>
          <p:cNvSpPr/>
          <p:nvPr/>
        </p:nvSpPr>
        <p:spPr>
          <a:xfrm>
            <a:off x="749808" y="1920240"/>
            <a:ext cx="2926080" cy="457200"/>
          </a:xfrm>
          <a:prstGeom prst="rect">
            <a:avLst/>
          </a:prstGeom>
          <a:noFill/>
          <a:ln/>
        </p:spPr>
        <p:txBody>
          <a:bodyPr wrap="square" lIns="0" tIns="0" rIns="0" bIns="0" rtlCol="0" anchor="ctr"/>
          <a:lstStyle/>
          <a:p>
            <a:pPr marL="0" indent="0">
              <a:buNone/>
            </a:pPr>
            <a:r>
              <a:rPr lang="en-US" sz="1050" dirty="0">
                <a:solidFill>
                  <a:srgbClr val="3D3D3D"/>
                </a:solidFill>
              </a:rPr>
              <a:t>System filters all reviews that mention the dish keyword</a:t>
            </a:r>
            <a:endParaRPr lang="en-US" sz="1050" dirty="0"/>
          </a:p>
        </p:txBody>
      </p:sp>
      <p:sp>
        <p:nvSpPr>
          <p:cNvPr id="13" name="Shape 11"/>
          <p:cNvSpPr/>
          <p:nvPr/>
        </p:nvSpPr>
        <p:spPr>
          <a:xfrm>
            <a:off x="365760" y="2478024"/>
            <a:ext cx="292608" cy="292608"/>
          </a:xfrm>
          <a:prstGeom prst="rect">
            <a:avLst/>
          </a:prstGeom>
          <a:solidFill>
            <a:srgbClr val="4E7B56"/>
          </a:solidFill>
          <a:ln w="12700">
            <a:solidFill>
              <a:srgbClr val="4E7B56"/>
            </a:solidFill>
            <a:prstDash val="solid"/>
          </a:ln>
        </p:spPr>
      </p:sp>
      <p:sp>
        <p:nvSpPr>
          <p:cNvPr id="14" name="Text 12"/>
          <p:cNvSpPr/>
          <p:nvPr/>
        </p:nvSpPr>
        <p:spPr>
          <a:xfrm>
            <a:off x="365760" y="24780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5" name="Text 13"/>
          <p:cNvSpPr/>
          <p:nvPr/>
        </p:nvSpPr>
        <p:spPr>
          <a:xfrm>
            <a:off x="749808" y="2496312"/>
            <a:ext cx="2926080" cy="457200"/>
          </a:xfrm>
          <a:prstGeom prst="rect">
            <a:avLst/>
          </a:prstGeom>
          <a:noFill/>
          <a:ln/>
        </p:spPr>
        <p:txBody>
          <a:bodyPr wrap="square" lIns="0" tIns="0" rIns="0" bIns="0" rtlCol="0" anchor="ctr"/>
          <a:lstStyle/>
          <a:p>
            <a:pPr marL="0" indent="0">
              <a:buNone/>
            </a:pPr>
            <a:r>
              <a:rPr lang="en-US" sz="1050" dirty="0">
                <a:solidFill>
                  <a:srgbClr val="3D3D3D"/>
                </a:solidFill>
              </a:rPr>
              <a:t>VADER compound score of matched reviews is averaged per restaurant</a:t>
            </a:r>
            <a:endParaRPr lang="en-US" sz="1050" dirty="0"/>
          </a:p>
        </p:txBody>
      </p:sp>
      <p:sp>
        <p:nvSpPr>
          <p:cNvPr id="16" name="Shape 14"/>
          <p:cNvSpPr/>
          <p:nvPr/>
        </p:nvSpPr>
        <p:spPr>
          <a:xfrm>
            <a:off x="365760" y="3054096"/>
            <a:ext cx="292608" cy="292608"/>
          </a:xfrm>
          <a:prstGeom prst="rect">
            <a:avLst/>
          </a:prstGeom>
          <a:solidFill>
            <a:srgbClr val="4E7B56"/>
          </a:solidFill>
          <a:ln w="12700">
            <a:solidFill>
              <a:srgbClr val="4E7B56"/>
            </a:solidFill>
            <a:prstDash val="solid"/>
          </a:ln>
        </p:spPr>
      </p:sp>
      <p:sp>
        <p:nvSpPr>
          <p:cNvPr id="17" name="Text 15"/>
          <p:cNvSpPr/>
          <p:nvPr/>
        </p:nvSpPr>
        <p:spPr>
          <a:xfrm>
            <a:off x="365760" y="30540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8" name="Text 16"/>
          <p:cNvSpPr/>
          <p:nvPr/>
        </p:nvSpPr>
        <p:spPr>
          <a:xfrm>
            <a:off x="749808" y="3072384"/>
            <a:ext cx="2926080" cy="457200"/>
          </a:xfrm>
          <a:prstGeom prst="rect">
            <a:avLst/>
          </a:prstGeom>
          <a:noFill/>
          <a:ln/>
        </p:spPr>
        <p:txBody>
          <a:bodyPr wrap="square" lIns="0" tIns="0" rIns="0" bIns="0" rtlCol="0" anchor="ctr"/>
          <a:lstStyle/>
          <a:p>
            <a:pPr marL="0" indent="0">
              <a:buNone/>
            </a:pPr>
            <a:r>
              <a:rPr lang="en-US" sz="1050" dirty="0">
                <a:solidFill>
                  <a:srgbClr val="3D3D3D"/>
                </a:solidFill>
              </a:rPr>
              <a:t>Restaurants are ranked by their dish-specific sentiment score</a:t>
            </a:r>
            <a:endParaRPr lang="en-US" sz="1050" dirty="0"/>
          </a:p>
        </p:txBody>
      </p:sp>
      <p:sp>
        <p:nvSpPr>
          <p:cNvPr id="19" name="Shape 17"/>
          <p:cNvSpPr/>
          <p:nvPr/>
        </p:nvSpPr>
        <p:spPr>
          <a:xfrm>
            <a:off x="365760" y="3630168"/>
            <a:ext cx="292608" cy="292608"/>
          </a:xfrm>
          <a:prstGeom prst="rect">
            <a:avLst/>
          </a:prstGeom>
          <a:solidFill>
            <a:srgbClr val="4E7B56"/>
          </a:solidFill>
          <a:ln w="12700">
            <a:solidFill>
              <a:srgbClr val="4E7B56"/>
            </a:solidFill>
            <a:prstDash val="solid"/>
          </a:ln>
        </p:spPr>
      </p:sp>
      <p:sp>
        <p:nvSpPr>
          <p:cNvPr id="20" name="Text 18"/>
          <p:cNvSpPr/>
          <p:nvPr/>
        </p:nvSpPr>
        <p:spPr>
          <a:xfrm>
            <a:off x="365760" y="363016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1" name="Text 19"/>
          <p:cNvSpPr/>
          <p:nvPr/>
        </p:nvSpPr>
        <p:spPr>
          <a:xfrm>
            <a:off x="749808" y="3648456"/>
            <a:ext cx="2926080" cy="457200"/>
          </a:xfrm>
          <a:prstGeom prst="rect">
            <a:avLst/>
          </a:prstGeom>
          <a:noFill/>
          <a:ln/>
        </p:spPr>
        <p:txBody>
          <a:bodyPr wrap="square" lIns="0" tIns="0" rIns="0" bIns="0" rtlCol="0" anchor="ctr"/>
          <a:lstStyle/>
          <a:p>
            <a:pPr marL="0" indent="0">
              <a:buNone/>
            </a:pPr>
            <a:r>
              <a:rPr lang="en-US" sz="1050" dirty="0">
                <a:solidFill>
                  <a:srgbClr val="3D3D3D"/>
                </a:solidFill>
              </a:rPr>
              <a:t>Top 3 restaurants with score ≥ 0.05 are recommended with review snippets</a:t>
            </a:r>
            <a:endParaRPr lang="en-US" sz="1050" dirty="0"/>
          </a:p>
        </p:txBody>
      </p:sp>
      <p:pic>
        <p:nvPicPr>
          <p:cNvPr id="22" name="Image 0"/>
          <p:cNvPicPr>
            <a:picLocks noChangeAspect="1"/>
          </p:cNvPicPr>
          <p:nvPr/>
        </p:nvPicPr>
        <p:blipFill>
          <a:blip r:embed="rId3"/>
          <a:srcRect/>
          <a:stretch/>
        </p:blipFill>
        <p:spPr>
          <a:xfrm>
            <a:off x="3931920" y="1371167"/>
            <a:ext cx="4983480" cy="2433169"/>
          </a:xfrm>
          <a:prstGeom prst="rect">
            <a:avLst/>
          </a:prstGeom>
        </p:spPr>
      </p:pic>
      <p:sp>
        <p:nvSpPr>
          <p:cNvPr id="23" name="Text 20"/>
          <p:cNvSpPr/>
          <p:nvPr/>
        </p:nvSpPr>
        <p:spPr>
          <a:xfrm>
            <a:off x="274320" y="4544568"/>
            <a:ext cx="8595360" cy="347472"/>
          </a:xfrm>
          <a:prstGeom prst="rect">
            <a:avLst/>
          </a:prstGeom>
          <a:noFill/>
          <a:ln/>
        </p:spPr>
        <p:txBody>
          <a:bodyPr wrap="square" lIns="0" tIns="0" rIns="0" bIns="0" rtlCol="0" anchor="ctr"/>
          <a:lstStyle/>
          <a:p>
            <a:pPr marL="0" indent="0" algn="ctr">
              <a:buNone/>
            </a:pPr>
            <a:r>
              <a:rPr lang="en-US" sz="1000" i="1" dirty="0">
                <a:solidFill>
                  <a:srgbClr val="8A8A7A"/>
                </a:solidFill>
              </a:rPr>
              <a:t>Example: Searching 'momo' returns Tashi Shaa-Khang, Paddington Coffee House &amp; Pradhan's Eatery with review snippets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Model Evaluation</a:t>
            </a:r>
            <a:endParaRPr lang="en-US" sz="2200" dirty="0"/>
          </a:p>
        </p:txBody>
      </p:sp>
      <p:pic>
        <p:nvPicPr>
          <p:cNvPr id="4" name="Image 0" descr="/home/claude/pptx_project/img_evaluation.jpg"/>
          <p:cNvPicPr>
            <a:picLocks noChangeAspect="1"/>
          </p:cNvPicPr>
          <p:nvPr/>
        </p:nvPicPr>
        <p:blipFill>
          <a:blip r:embed="rId3"/>
          <a:stretch>
            <a:fillRect/>
          </a:stretch>
        </p:blipFill>
        <p:spPr>
          <a:xfrm>
            <a:off x="274320" y="777240"/>
            <a:ext cx="4114800" cy="3017520"/>
          </a:xfrm>
          <a:prstGeom prst="rect">
            <a:avLst/>
          </a:prstGeom>
        </p:spPr>
      </p:pic>
      <p:sp>
        <p:nvSpPr>
          <p:cNvPr id="5" name="Shape 2"/>
          <p:cNvSpPr/>
          <p:nvPr/>
        </p:nvSpPr>
        <p:spPr>
          <a:xfrm>
            <a:off x="4663440" y="804672"/>
            <a:ext cx="4206240" cy="685800"/>
          </a:xfrm>
          <a:prstGeom prst="rect">
            <a:avLst/>
          </a:prstGeom>
          <a:solidFill>
            <a:srgbClr val="FFFFFF"/>
          </a:solidFill>
          <a:ln w="12700">
            <a:solidFill>
              <a:srgbClr val="D4C9B5"/>
            </a:solidFill>
            <a:prstDash val="solid"/>
          </a:ln>
        </p:spPr>
      </p:sp>
      <p:sp>
        <p:nvSpPr>
          <p:cNvPr id="6" name="Shape 3"/>
          <p:cNvSpPr/>
          <p:nvPr/>
        </p:nvSpPr>
        <p:spPr>
          <a:xfrm>
            <a:off x="4663440" y="804672"/>
            <a:ext cx="1280160" cy="685800"/>
          </a:xfrm>
          <a:prstGeom prst="rect">
            <a:avLst/>
          </a:prstGeom>
          <a:solidFill>
            <a:srgbClr val="C9973A"/>
          </a:solidFill>
          <a:ln w="12700">
            <a:solidFill>
              <a:srgbClr val="C9973A"/>
            </a:solidFill>
            <a:prstDash val="solid"/>
          </a:ln>
        </p:spPr>
      </p:sp>
      <p:sp>
        <p:nvSpPr>
          <p:cNvPr id="7" name="Text 4"/>
          <p:cNvSpPr/>
          <p:nvPr/>
        </p:nvSpPr>
        <p:spPr>
          <a:xfrm>
            <a:off x="4663440" y="804672"/>
            <a:ext cx="1280160" cy="685800"/>
          </a:xfrm>
          <a:prstGeom prst="rect">
            <a:avLst/>
          </a:prstGeom>
          <a:noFill/>
          <a:ln/>
        </p:spPr>
        <p:txBody>
          <a:bodyPr wrap="square" lIns="0" tIns="0" rIns="0" bIns="0" rtlCol="0" anchor="ctr"/>
          <a:lstStyle/>
          <a:p>
            <a:pPr marL="0" indent="0" algn="ctr">
              <a:buNone/>
            </a:pPr>
            <a:r>
              <a:rPr lang="en-US" sz="1200" b="1" dirty="0">
                <a:solidFill>
                  <a:srgbClr val="FFFFFF"/>
                </a:solidFill>
              </a:rPr>
              <a:t>Accuracy</a:t>
            </a:r>
            <a:endParaRPr lang="en-US" sz="1200" dirty="0"/>
          </a:p>
        </p:txBody>
      </p:sp>
      <p:sp>
        <p:nvSpPr>
          <p:cNvPr id="8" name="Text 5"/>
          <p:cNvSpPr/>
          <p:nvPr/>
        </p:nvSpPr>
        <p:spPr>
          <a:xfrm>
            <a:off x="6035040" y="804672"/>
            <a:ext cx="1188720" cy="685800"/>
          </a:xfrm>
          <a:prstGeom prst="rect">
            <a:avLst/>
          </a:prstGeom>
          <a:noFill/>
          <a:ln/>
        </p:spPr>
        <p:txBody>
          <a:bodyPr wrap="square" lIns="0" tIns="0" rIns="0" bIns="0" rtlCol="0" anchor="ctr"/>
          <a:lstStyle/>
          <a:p>
            <a:pPr marL="0" indent="0" algn="ctr">
              <a:buNone/>
            </a:pPr>
            <a:r>
              <a:rPr lang="en-US" sz="2000" b="1" dirty="0">
                <a:solidFill>
                  <a:srgbClr val="C9973A"/>
                </a:solidFill>
              </a:rPr>
              <a:t>95.00%</a:t>
            </a:r>
            <a:endParaRPr lang="en-US" sz="2000" dirty="0"/>
          </a:p>
        </p:txBody>
      </p:sp>
      <p:sp>
        <p:nvSpPr>
          <p:cNvPr id="9" name="Text 6"/>
          <p:cNvSpPr/>
          <p:nvPr/>
        </p:nvSpPr>
        <p:spPr>
          <a:xfrm>
            <a:off x="7315200" y="822960"/>
            <a:ext cx="1508760" cy="640080"/>
          </a:xfrm>
          <a:prstGeom prst="rect">
            <a:avLst/>
          </a:prstGeom>
          <a:noFill/>
          <a:ln/>
        </p:spPr>
        <p:txBody>
          <a:bodyPr wrap="square" lIns="0" tIns="0" rIns="0" bIns="0" rtlCol="0" anchor="ctr"/>
          <a:lstStyle/>
          <a:p>
            <a:pPr marL="0" indent="0">
              <a:buNone/>
            </a:pPr>
            <a:r>
              <a:rPr lang="en-US" sz="900" dirty="0">
                <a:solidFill>
                  <a:srgbClr val="3D3D3D"/>
                </a:solidFill>
              </a:rPr>
              <a:t>95 out of 100 predictions are correct</a:t>
            </a:r>
            <a:endParaRPr lang="en-US" sz="900" dirty="0"/>
          </a:p>
        </p:txBody>
      </p:sp>
      <p:sp>
        <p:nvSpPr>
          <p:cNvPr id="10" name="Shape 7"/>
          <p:cNvSpPr/>
          <p:nvPr/>
        </p:nvSpPr>
        <p:spPr>
          <a:xfrm>
            <a:off x="4663440" y="1591056"/>
            <a:ext cx="4206240" cy="685800"/>
          </a:xfrm>
          <a:prstGeom prst="rect">
            <a:avLst/>
          </a:prstGeom>
          <a:solidFill>
            <a:srgbClr val="FFFFFF"/>
          </a:solidFill>
          <a:ln w="12700">
            <a:solidFill>
              <a:srgbClr val="D4C9B5"/>
            </a:solidFill>
            <a:prstDash val="solid"/>
          </a:ln>
        </p:spPr>
      </p:sp>
      <p:sp>
        <p:nvSpPr>
          <p:cNvPr id="11" name="Shape 8"/>
          <p:cNvSpPr/>
          <p:nvPr/>
        </p:nvSpPr>
        <p:spPr>
          <a:xfrm>
            <a:off x="4663440" y="1591056"/>
            <a:ext cx="1280160" cy="685800"/>
          </a:xfrm>
          <a:prstGeom prst="rect">
            <a:avLst/>
          </a:prstGeom>
          <a:solidFill>
            <a:srgbClr val="C9973A"/>
          </a:solidFill>
          <a:ln w="12700">
            <a:solidFill>
              <a:srgbClr val="C9973A"/>
            </a:solidFill>
            <a:prstDash val="solid"/>
          </a:ln>
        </p:spPr>
      </p:sp>
      <p:sp>
        <p:nvSpPr>
          <p:cNvPr id="12" name="Text 9"/>
          <p:cNvSpPr/>
          <p:nvPr/>
        </p:nvSpPr>
        <p:spPr>
          <a:xfrm>
            <a:off x="4663440" y="1591056"/>
            <a:ext cx="1280160" cy="685800"/>
          </a:xfrm>
          <a:prstGeom prst="rect">
            <a:avLst/>
          </a:prstGeom>
          <a:noFill/>
          <a:ln/>
        </p:spPr>
        <p:txBody>
          <a:bodyPr wrap="square" lIns="0" tIns="0" rIns="0" bIns="0" rtlCol="0" anchor="ctr"/>
          <a:lstStyle/>
          <a:p>
            <a:pPr marL="0" indent="0" algn="ctr">
              <a:buNone/>
            </a:pPr>
            <a:r>
              <a:rPr lang="en-US" sz="1200" b="1" dirty="0">
                <a:solidFill>
                  <a:srgbClr val="FFFFFF"/>
                </a:solidFill>
              </a:rPr>
              <a:t>Precision</a:t>
            </a:r>
            <a:endParaRPr lang="en-US" sz="1200" dirty="0"/>
          </a:p>
        </p:txBody>
      </p:sp>
      <p:sp>
        <p:nvSpPr>
          <p:cNvPr id="13" name="Text 10"/>
          <p:cNvSpPr/>
          <p:nvPr/>
        </p:nvSpPr>
        <p:spPr>
          <a:xfrm>
            <a:off x="6035040" y="1591056"/>
            <a:ext cx="1188720" cy="685800"/>
          </a:xfrm>
          <a:prstGeom prst="rect">
            <a:avLst/>
          </a:prstGeom>
          <a:noFill/>
          <a:ln/>
        </p:spPr>
        <p:txBody>
          <a:bodyPr wrap="square" lIns="0" tIns="0" rIns="0" bIns="0" rtlCol="0" anchor="ctr"/>
          <a:lstStyle/>
          <a:p>
            <a:pPr marL="0" indent="0" algn="ctr">
              <a:buNone/>
            </a:pPr>
            <a:r>
              <a:rPr lang="en-US" sz="2000" b="1" dirty="0">
                <a:solidFill>
                  <a:srgbClr val="C9973A"/>
                </a:solidFill>
              </a:rPr>
              <a:t>100%</a:t>
            </a:r>
            <a:endParaRPr lang="en-US" sz="2000" dirty="0"/>
          </a:p>
        </p:txBody>
      </p:sp>
      <p:sp>
        <p:nvSpPr>
          <p:cNvPr id="14" name="Text 11"/>
          <p:cNvSpPr/>
          <p:nvPr/>
        </p:nvSpPr>
        <p:spPr>
          <a:xfrm>
            <a:off x="7315200" y="1609344"/>
            <a:ext cx="1508760" cy="640080"/>
          </a:xfrm>
          <a:prstGeom prst="rect">
            <a:avLst/>
          </a:prstGeom>
          <a:noFill/>
          <a:ln/>
        </p:spPr>
        <p:txBody>
          <a:bodyPr wrap="square" lIns="0" tIns="0" rIns="0" bIns="0" rtlCol="0" anchor="ctr"/>
          <a:lstStyle/>
          <a:p>
            <a:pPr marL="0" indent="0">
              <a:buNone/>
            </a:pPr>
            <a:r>
              <a:rPr lang="en-US" sz="900" dirty="0">
                <a:solidFill>
                  <a:srgbClr val="3D3D3D"/>
                </a:solidFill>
              </a:rPr>
              <a:t>Every positive prediction was truly positive</a:t>
            </a:r>
            <a:endParaRPr lang="en-US" sz="900" dirty="0"/>
          </a:p>
        </p:txBody>
      </p:sp>
      <p:sp>
        <p:nvSpPr>
          <p:cNvPr id="15" name="Shape 12"/>
          <p:cNvSpPr/>
          <p:nvPr/>
        </p:nvSpPr>
        <p:spPr>
          <a:xfrm>
            <a:off x="4663440" y="2377440"/>
            <a:ext cx="4206240" cy="685800"/>
          </a:xfrm>
          <a:prstGeom prst="rect">
            <a:avLst/>
          </a:prstGeom>
          <a:solidFill>
            <a:srgbClr val="FFFFFF"/>
          </a:solidFill>
          <a:ln w="12700">
            <a:solidFill>
              <a:srgbClr val="D4C9B5"/>
            </a:solidFill>
            <a:prstDash val="solid"/>
          </a:ln>
        </p:spPr>
      </p:sp>
      <p:sp>
        <p:nvSpPr>
          <p:cNvPr id="16" name="Shape 13"/>
          <p:cNvSpPr/>
          <p:nvPr/>
        </p:nvSpPr>
        <p:spPr>
          <a:xfrm>
            <a:off x="4663440" y="2377440"/>
            <a:ext cx="1280160" cy="685800"/>
          </a:xfrm>
          <a:prstGeom prst="rect">
            <a:avLst/>
          </a:prstGeom>
          <a:solidFill>
            <a:srgbClr val="C9973A"/>
          </a:solidFill>
          <a:ln w="12700">
            <a:solidFill>
              <a:srgbClr val="C9973A"/>
            </a:solidFill>
            <a:prstDash val="solid"/>
          </a:ln>
        </p:spPr>
      </p:sp>
      <p:sp>
        <p:nvSpPr>
          <p:cNvPr id="17" name="Text 14"/>
          <p:cNvSpPr/>
          <p:nvPr/>
        </p:nvSpPr>
        <p:spPr>
          <a:xfrm>
            <a:off x="4663440" y="2377440"/>
            <a:ext cx="1280160" cy="685800"/>
          </a:xfrm>
          <a:prstGeom prst="rect">
            <a:avLst/>
          </a:prstGeom>
          <a:noFill/>
          <a:ln/>
        </p:spPr>
        <p:txBody>
          <a:bodyPr wrap="square" lIns="0" tIns="0" rIns="0" bIns="0" rtlCol="0" anchor="ctr"/>
          <a:lstStyle/>
          <a:p>
            <a:pPr marL="0" indent="0" algn="ctr">
              <a:buNone/>
            </a:pPr>
            <a:r>
              <a:rPr lang="en-US" sz="1200" b="1" dirty="0">
                <a:solidFill>
                  <a:srgbClr val="FFFFFF"/>
                </a:solidFill>
              </a:rPr>
              <a:t>Recall</a:t>
            </a:r>
            <a:endParaRPr lang="en-US" sz="1200" dirty="0"/>
          </a:p>
        </p:txBody>
      </p:sp>
      <p:sp>
        <p:nvSpPr>
          <p:cNvPr id="18" name="Text 15"/>
          <p:cNvSpPr/>
          <p:nvPr/>
        </p:nvSpPr>
        <p:spPr>
          <a:xfrm>
            <a:off x="6035040" y="2377440"/>
            <a:ext cx="1188720" cy="685800"/>
          </a:xfrm>
          <a:prstGeom prst="rect">
            <a:avLst/>
          </a:prstGeom>
          <a:noFill/>
          <a:ln/>
        </p:spPr>
        <p:txBody>
          <a:bodyPr wrap="square" lIns="0" tIns="0" rIns="0" bIns="0" rtlCol="0" anchor="ctr"/>
          <a:lstStyle/>
          <a:p>
            <a:pPr marL="0" indent="0" algn="ctr">
              <a:buNone/>
            </a:pPr>
            <a:r>
              <a:rPr lang="en-US" sz="2000" b="1" dirty="0">
                <a:solidFill>
                  <a:srgbClr val="C9973A"/>
                </a:solidFill>
              </a:rPr>
              <a:t>91.67%</a:t>
            </a:r>
            <a:endParaRPr lang="en-US" sz="2000" dirty="0"/>
          </a:p>
        </p:txBody>
      </p:sp>
      <p:sp>
        <p:nvSpPr>
          <p:cNvPr id="19" name="Text 16"/>
          <p:cNvSpPr/>
          <p:nvPr/>
        </p:nvSpPr>
        <p:spPr>
          <a:xfrm>
            <a:off x="7315200" y="2395728"/>
            <a:ext cx="1508760" cy="640080"/>
          </a:xfrm>
          <a:prstGeom prst="rect">
            <a:avLst/>
          </a:prstGeom>
          <a:noFill/>
          <a:ln/>
        </p:spPr>
        <p:txBody>
          <a:bodyPr wrap="square" lIns="0" tIns="0" rIns="0" bIns="0" rtlCol="0" anchor="ctr"/>
          <a:lstStyle/>
          <a:p>
            <a:pPr marL="0" indent="0">
              <a:buNone/>
            </a:pPr>
            <a:r>
              <a:rPr lang="en-US" sz="900" dirty="0">
                <a:solidFill>
                  <a:srgbClr val="3D3D3D"/>
                </a:solidFill>
              </a:rPr>
              <a:t>92% of actual positives were correctly found</a:t>
            </a:r>
            <a:endParaRPr lang="en-US" sz="900" dirty="0"/>
          </a:p>
        </p:txBody>
      </p:sp>
      <p:sp>
        <p:nvSpPr>
          <p:cNvPr id="20" name="Shape 17"/>
          <p:cNvSpPr/>
          <p:nvPr/>
        </p:nvSpPr>
        <p:spPr>
          <a:xfrm>
            <a:off x="4663440" y="3163824"/>
            <a:ext cx="4206240" cy="685800"/>
          </a:xfrm>
          <a:prstGeom prst="rect">
            <a:avLst/>
          </a:prstGeom>
          <a:solidFill>
            <a:srgbClr val="FFFFFF"/>
          </a:solidFill>
          <a:ln w="12700">
            <a:solidFill>
              <a:srgbClr val="D4C9B5"/>
            </a:solidFill>
            <a:prstDash val="solid"/>
          </a:ln>
        </p:spPr>
      </p:sp>
      <p:sp>
        <p:nvSpPr>
          <p:cNvPr id="21" name="Shape 18"/>
          <p:cNvSpPr/>
          <p:nvPr/>
        </p:nvSpPr>
        <p:spPr>
          <a:xfrm>
            <a:off x="4663440" y="3163824"/>
            <a:ext cx="1280160" cy="685800"/>
          </a:xfrm>
          <a:prstGeom prst="rect">
            <a:avLst/>
          </a:prstGeom>
          <a:solidFill>
            <a:srgbClr val="C9973A"/>
          </a:solidFill>
          <a:ln w="12700">
            <a:solidFill>
              <a:srgbClr val="C9973A"/>
            </a:solidFill>
            <a:prstDash val="solid"/>
          </a:ln>
        </p:spPr>
      </p:sp>
      <p:sp>
        <p:nvSpPr>
          <p:cNvPr id="22" name="Text 19"/>
          <p:cNvSpPr/>
          <p:nvPr/>
        </p:nvSpPr>
        <p:spPr>
          <a:xfrm>
            <a:off x="4663440" y="3163824"/>
            <a:ext cx="1280160" cy="685800"/>
          </a:xfrm>
          <a:prstGeom prst="rect">
            <a:avLst/>
          </a:prstGeom>
          <a:noFill/>
          <a:ln/>
        </p:spPr>
        <p:txBody>
          <a:bodyPr wrap="square" lIns="0" tIns="0" rIns="0" bIns="0" rtlCol="0" anchor="ctr"/>
          <a:lstStyle/>
          <a:p>
            <a:pPr marL="0" indent="0" algn="ctr">
              <a:buNone/>
            </a:pPr>
            <a:r>
              <a:rPr lang="en-US" sz="1200" b="1" dirty="0">
                <a:solidFill>
                  <a:srgbClr val="FFFFFF"/>
                </a:solidFill>
              </a:rPr>
              <a:t>F1 Score</a:t>
            </a:r>
            <a:endParaRPr lang="en-US" sz="1200" dirty="0"/>
          </a:p>
        </p:txBody>
      </p:sp>
      <p:sp>
        <p:nvSpPr>
          <p:cNvPr id="23" name="Text 20"/>
          <p:cNvSpPr/>
          <p:nvPr/>
        </p:nvSpPr>
        <p:spPr>
          <a:xfrm>
            <a:off x="6035040" y="3163824"/>
            <a:ext cx="1188720" cy="685800"/>
          </a:xfrm>
          <a:prstGeom prst="rect">
            <a:avLst/>
          </a:prstGeom>
          <a:noFill/>
          <a:ln/>
        </p:spPr>
        <p:txBody>
          <a:bodyPr wrap="square" lIns="0" tIns="0" rIns="0" bIns="0" rtlCol="0" anchor="ctr"/>
          <a:lstStyle/>
          <a:p>
            <a:pPr marL="0" indent="0" algn="ctr">
              <a:buNone/>
            </a:pPr>
            <a:r>
              <a:rPr lang="en-US" sz="2000" b="1" dirty="0">
                <a:solidFill>
                  <a:srgbClr val="C9973A"/>
                </a:solidFill>
              </a:rPr>
              <a:t>95.65%</a:t>
            </a:r>
            <a:endParaRPr lang="en-US" sz="2000" dirty="0"/>
          </a:p>
        </p:txBody>
      </p:sp>
      <p:sp>
        <p:nvSpPr>
          <p:cNvPr id="24" name="Text 21"/>
          <p:cNvSpPr/>
          <p:nvPr/>
        </p:nvSpPr>
        <p:spPr>
          <a:xfrm>
            <a:off x="7315200" y="3182112"/>
            <a:ext cx="1508760" cy="640080"/>
          </a:xfrm>
          <a:prstGeom prst="rect">
            <a:avLst/>
          </a:prstGeom>
          <a:noFill/>
          <a:ln/>
        </p:spPr>
        <p:txBody>
          <a:bodyPr wrap="square" lIns="0" tIns="0" rIns="0" bIns="0" rtlCol="0" anchor="ctr"/>
          <a:lstStyle/>
          <a:p>
            <a:pPr marL="0" indent="0">
              <a:buNone/>
            </a:pPr>
            <a:r>
              <a:rPr lang="en-US" sz="900" dirty="0">
                <a:solidFill>
                  <a:srgbClr val="3D3D3D"/>
                </a:solidFill>
              </a:rPr>
              <a:t>Harmonic mean of precision and recall</a:t>
            </a:r>
            <a:endParaRPr lang="en-US" sz="900" dirty="0"/>
          </a:p>
        </p:txBody>
      </p:sp>
      <p:sp>
        <p:nvSpPr>
          <p:cNvPr id="25" name="Shape 22"/>
          <p:cNvSpPr/>
          <p:nvPr/>
        </p:nvSpPr>
        <p:spPr>
          <a:xfrm>
            <a:off x="274320" y="3931920"/>
            <a:ext cx="8595360" cy="548640"/>
          </a:xfrm>
          <a:prstGeom prst="rect">
            <a:avLst/>
          </a:prstGeom>
          <a:solidFill>
            <a:srgbClr val="EDE8DF"/>
          </a:solidFill>
          <a:ln w="12700">
            <a:solidFill>
              <a:srgbClr val="D4C9B5"/>
            </a:solidFill>
            <a:prstDash val="solid"/>
          </a:ln>
        </p:spPr>
      </p:sp>
      <p:sp>
        <p:nvSpPr>
          <p:cNvPr id="26" name="Text 23"/>
          <p:cNvSpPr/>
          <p:nvPr/>
        </p:nvSpPr>
        <p:spPr>
          <a:xfrm>
            <a:off x="411480" y="3959352"/>
            <a:ext cx="8321040" cy="493776"/>
          </a:xfrm>
          <a:prstGeom prst="rect">
            <a:avLst/>
          </a:prstGeom>
          <a:noFill/>
          <a:ln/>
        </p:spPr>
        <p:txBody>
          <a:bodyPr wrap="square" lIns="0" tIns="0" rIns="0" bIns="0" rtlCol="0" anchor="ctr"/>
          <a:lstStyle/>
          <a:p>
            <a:pPr marL="0" indent="0">
              <a:buNone/>
            </a:pPr>
            <a:r>
              <a:rPr lang="en-US" sz="1050" b="1" dirty="0">
                <a:solidFill>
                  <a:srgbClr val="C9973A"/>
                </a:solidFill>
              </a:rPr>
              <a:t>Evaluation Method:  </a:t>
            </a:r>
            <a:r>
              <a:rPr lang="en-US" sz="1050" dirty="0">
                <a:solidFill>
                  <a:srgbClr val="3D3D3D"/>
                </a:solidFill>
              </a:rPr>
              <a:t>A sample of 20 reviews (8 negative, 12 positive) was manually labelled as ground truth. VADER predictions were compared against these labels using sklearn metrics. The model achieved excellent results with 0 false positives.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rPr>
              <a:t>Confusion Matrix</a:t>
            </a:r>
            <a:endParaRPr lang="en-US" sz="2200" dirty="0"/>
          </a:p>
        </p:txBody>
      </p:sp>
      <p:pic>
        <p:nvPicPr>
          <p:cNvPr id="4" name="Image 0"/>
          <p:cNvPicPr>
            <a:picLocks noChangeAspect="1"/>
          </p:cNvPicPr>
          <p:nvPr/>
        </p:nvPicPr>
        <p:blipFill>
          <a:blip r:embed="rId3"/>
          <a:srcRect/>
          <a:stretch/>
        </p:blipFill>
        <p:spPr>
          <a:xfrm>
            <a:off x="502920" y="777240"/>
            <a:ext cx="4937759" cy="4114800"/>
          </a:xfrm>
          <a:prstGeom prst="rect">
            <a:avLst/>
          </a:prstGeom>
        </p:spPr>
      </p:pic>
      <p:sp>
        <p:nvSpPr>
          <p:cNvPr id="5" name="Shape 2"/>
          <p:cNvSpPr/>
          <p:nvPr/>
        </p:nvSpPr>
        <p:spPr>
          <a:xfrm>
            <a:off x="5669280" y="804672"/>
            <a:ext cx="3200400" cy="4114800"/>
          </a:xfrm>
          <a:prstGeom prst="rect">
            <a:avLst/>
          </a:prstGeom>
          <a:solidFill>
            <a:srgbClr val="FFFFFF"/>
          </a:solidFill>
          <a:ln w="12700">
            <a:solidFill>
              <a:srgbClr val="D4C9B5"/>
            </a:solidFill>
            <a:prstDash val="solid"/>
          </a:ln>
        </p:spPr>
      </p:sp>
      <p:sp>
        <p:nvSpPr>
          <p:cNvPr id="6" name="Shape 3"/>
          <p:cNvSpPr/>
          <p:nvPr/>
        </p:nvSpPr>
        <p:spPr>
          <a:xfrm>
            <a:off x="5669280" y="804672"/>
            <a:ext cx="3200400" cy="411480"/>
          </a:xfrm>
          <a:prstGeom prst="rect">
            <a:avLst/>
          </a:prstGeom>
          <a:solidFill>
            <a:srgbClr val="4E7B56"/>
          </a:solidFill>
          <a:ln w="12700">
            <a:solidFill>
              <a:srgbClr val="4E7B56"/>
            </a:solidFill>
            <a:prstDash val="solid"/>
          </a:ln>
        </p:spPr>
      </p:sp>
      <p:sp>
        <p:nvSpPr>
          <p:cNvPr id="7" name="Text 4"/>
          <p:cNvSpPr/>
          <p:nvPr/>
        </p:nvSpPr>
        <p:spPr>
          <a:xfrm>
            <a:off x="5669280" y="804672"/>
            <a:ext cx="3200400" cy="411480"/>
          </a:xfrm>
          <a:prstGeom prst="rect">
            <a:avLst/>
          </a:prstGeom>
          <a:noFill/>
          <a:ln/>
        </p:spPr>
        <p:txBody>
          <a:bodyPr wrap="square" lIns="0" tIns="0" rIns="0" bIns="0" rtlCol="0" anchor="ctr"/>
          <a:lstStyle/>
          <a:p>
            <a:pPr marL="0" indent="0" algn="ctr">
              <a:buNone/>
            </a:pPr>
            <a:r>
              <a:rPr lang="en-US" sz="1200" b="1" dirty="0">
                <a:solidFill>
                  <a:srgbClr val="FFFFFF"/>
                </a:solidFill>
              </a:rPr>
              <a:t>Interpretation</a:t>
            </a:r>
            <a:endParaRPr lang="en-US" sz="1200" dirty="0"/>
          </a:p>
        </p:txBody>
      </p:sp>
      <p:sp>
        <p:nvSpPr>
          <p:cNvPr id="8" name="Shape 5"/>
          <p:cNvSpPr/>
          <p:nvPr/>
        </p:nvSpPr>
        <p:spPr>
          <a:xfrm>
            <a:off x="5760720" y="1325880"/>
            <a:ext cx="457200" cy="502920"/>
          </a:xfrm>
          <a:prstGeom prst="rect">
            <a:avLst/>
          </a:prstGeom>
          <a:solidFill>
            <a:srgbClr val="3A7D44"/>
          </a:solidFill>
          <a:ln w="12700">
            <a:solidFill>
              <a:srgbClr val="3A7D44"/>
            </a:solidFill>
            <a:prstDash val="solid"/>
          </a:ln>
        </p:spPr>
      </p:sp>
      <p:sp>
        <p:nvSpPr>
          <p:cNvPr id="9" name="Text 6"/>
          <p:cNvSpPr/>
          <p:nvPr/>
        </p:nvSpPr>
        <p:spPr>
          <a:xfrm>
            <a:off x="5760720" y="132588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11</a:t>
            </a:r>
            <a:endParaRPr lang="en-US" sz="1600" dirty="0"/>
          </a:p>
        </p:txBody>
      </p:sp>
      <p:sp>
        <p:nvSpPr>
          <p:cNvPr id="10" name="Text 7"/>
          <p:cNvSpPr/>
          <p:nvPr/>
        </p:nvSpPr>
        <p:spPr>
          <a:xfrm>
            <a:off x="6309360" y="1325880"/>
            <a:ext cx="2468880" cy="228600"/>
          </a:xfrm>
          <a:prstGeom prst="rect">
            <a:avLst/>
          </a:prstGeom>
          <a:noFill/>
          <a:ln/>
        </p:spPr>
        <p:txBody>
          <a:bodyPr wrap="square" lIns="0" tIns="0" rIns="0" bIns="0" rtlCol="0" anchor="ctr"/>
          <a:lstStyle/>
          <a:p>
            <a:pPr marL="0" indent="0">
              <a:buNone/>
            </a:pPr>
            <a:r>
              <a:rPr lang="en-US" sz="1100" b="1" dirty="0">
                <a:solidFill>
                  <a:srgbClr val="243B28"/>
                </a:solidFill>
              </a:rPr>
              <a:t>True Positive</a:t>
            </a:r>
            <a:endParaRPr lang="en-US" sz="1100" dirty="0"/>
          </a:p>
        </p:txBody>
      </p:sp>
      <p:sp>
        <p:nvSpPr>
          <p:cNvPr id="11" name="Text 8"/>
          <p:cNvSpPr/>
          <p:nvPr/>
        </p:nvSpPr>
        <p:spPr>
          <a:xfrm>
            <a:off x="6309360" y="1572768"/>
            <a:ext cx="2468880" cy="256032"/>
          </a:xfrm>
          <a:prstGeom prst="rect">
            <a:avLst/>
          </a:prstGeom>
          <a:noFill/>
          <a:ln/>
        </p:spPr>
        <p:txBody>
          <a:bodyPr wrap="square" lIns="0" tIns="0" rIns="0" bIns="0" rtlCol="0" anchor="ctr"/>
          <a:lstStyle/>
          <a:p>
            <a:pPr marL="0" indent="0">
              <a:buNone/>
            </a:pPr>
            <a:r>
              <a:rPr lang="en-US" sz="1000" dirty="0">
                <a:solidFill>
                  <a:srgbClr val="3D3D3D"/>
                </a:solidFill>
              </a:rPr>
              <a:t>Correctly predicted positive</a:t>
            </a:r>
            <a:endParaRPr lang="en-US" sz="1000" dirty="0"/>
          </a:p>
        </p:txBody>
      </p:sp>
      <p:sp>
        <p:nvSpPr>
          <p:cNvPr id="12" name="Shape 9"/>
          <p:cNvSpPr/>
          <p:nvPr/>
        </p:nvSpPr>
        <p:spPr>
          <a:xfrm>
            <a:off x="5760720" y="2075688"/>
            <a:ext cx="457200" cy="502920"/>
          </a:xfrm>
          <a:prstGeom prst="rect">
            <a:avLst/>
          </a:prstGeom>
          <a:solidFill>
            <a:srgbClr val="3A7D44"/>
          </a:solidFill>
          <a:ln w="12700">
            <a:solidFill>
              <a:srgbClr val="3A7D44"/>
            </a:solidFill>
            <a:prstDash val="solid"/>
          </a:ln>
        </p:spPr>
      </p:sp>
      <p:sp>
        <p:nvSpPr>
          <p:cNvPr id="13" name="Text 10"/>
          <p:cNvSpPr/>
          <p:nvPr/>
        </p:nvSpPr>
        <p:spPr>
          <a:xfrm>
            <a:off x="5760720" y="2075688"/>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8</a:t>
            </a:r>
            <a:endParaRPr lang="en-US" sz="1600" dirty="0"/>
          </a:p>
        </p:txBody>
      </p:sp>
      <p:sp>
        <p:nvSpPr>
          <p:cNvPr id="14" name="Text 11"/>
          <p:cNvSpPr/>
          <p:nvPr/>
        </p:nvSpPr>
        <p:spPr>
          <a:xfrm>
            <a:off x="6309360" y="2075688"/>
            <a:ext cx="2468880" cy="228600"/>
          </a:xfrm>
          <a:prstGeom prst="rect">
            <a:avLst/>
          </a:prstGeom>
          <a:noFill/>
          <a:ln/>
        </p:spPr>
        <p:txBody>
          <a:bodyPr wrap="square" lIns="0" tIns="0" rIns="0" bIns="0" rtlCol="0" anchor="ctr"/>
          <a:lstStyle/>
          <a:p>
            <a:pPr marL="0" indent="0">
              <a:buNone/>
            </a:pPr>
            <a:r>
              <a:rPr lang="en-US" sz="1100" b="1" dirty="0">
                <a:solidFill>
                  <a:srgbClr val="243B28"/>
                </a:solidFill>
              </a:rPr>
              <a:t>True Negative</a:t>
            </a:r>
            <a:endParaRPr lang="en-US" sz="1100" dirty="0"/>
          </a:p>
        </p:txBody>
      </p:sp>
      <p:sp>
        <p:nvSpPr>
          <p:cNvPr id="15" name="Text 12"/>
          <p:cNvSpPr/>
          <p:nvPr/>
        </p:nvSpPr>
        <p:spPr>
          <a:xfrm>
            <a:off x="6309360" y="2322576"/>
            <a:ext cx="2468880" cy="256032"/>
          </a:xfrm>
          <a:prstGeom prst="rect">
            <a:avLst/>
          </a:prstGeom>
          <a:noFill/>
          <a:ln/>
        </p:spPr>
        <p:txBody>
          <a:bodyPr wrap="square" lIns="0" tIns="0" rIns="0" bIns="0" rtlCol="0" anchor="ctr"/>
          <a:lstStyle/>
          <a:p>
            <a:pPr marL="0" indent="0">
              <a:buNone/>
            </a:pPr>
            <a:r>
              <a:rPr lang="en-US" sz="1000" dirty="0">
                <a:solidFill>
                  <a:srgbClr val="3D3D3D"/>
                </a:solidFill>
              </a:rPr>
              <a:t>Correctly predicted negative</a:t>
            </a:r>
            <a:endParaRPr lang="en-US" sz="1000" dirty="0"/>
          </a:p>
        </p:txBody>
      </p:sp>
      <p:sp>
        <p:nvSpPr>
          <p:cNvPr id="16" name="Shape 13"/>
          <p:cNvSpPr/>
          <p:nvPr/>
        </p:nvSpPr>
        <p:spPr>
          <a:xfrm>
            <a:off x="5760720" y="2825496"/>
            <a:ext cx="457200" cy="502920"/>
          </a:xfrm>
          <a:prstGeom prst="rect">
            <a:avLst/>
          </a:prstGeom>
          <a:solidFill>
            <a:srgbClr val="7A7A6A"/>
          </a:solidFill>
          <a:ln w="12700">
            <a:solidFill>
              <a:srgbClr val="7A7A6A"/>
            </a:solidFill>
            <a:prstDash val="solid"/>
          </a:ln>
        </p:spPr>
      </p:sp>
      <p:sp>
        <p:nvSpPr>
          <p:cNvPr id="17" name="Text 14"/>
          <p:cNvSpPr/>
          <p:nvPr/>
        </p:nvSpPr>
        <p:spPr>
          <a:xfrm>
            <a:off x="5760720" y="2825496"/>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a:t>
            </a:r>
            <a:endParaRPr lang="en-US" sz="1600" dirty="0"/>
          </a:p>
        </p:txBody>
      </p:sp>
      <p:sp>
        <p:nvSpPr>
          <p:cNvPr id="18" name="Text 15"/>
          <p:cNvSpPr/>
          <p:nvPr/>
        </p:nvSpPr>
        <p:spPr>
          <a:xfrm>
            <a:off x="6309360" y="2825496"/>
            <a:ext cx="2468880" cy="228600"/>
          </a:xfrm>
          <a:prstGeom prst="rect">
            <a:avLst/>
          </a:prstGeom>
          <a:noFill/>
          <a:ln/>
        </p:spPr>
        <p:txBody>
          <a:bodyPr wrap="square" lIns="0" tIns="0" rIns="0" bIns="0" rtlCol="0" anchor="ctr"/>
          <a:lstStyle/>
          <a:p>
            <a:pPr marL="0" indent="0">
              <a:buNone/>
            </a:pPr>
            <a:r>
              <a:rPr lang="en-US" sz="1100" b="1" dirty="0">
                <a:solidFill>
                  <a:srgbClr val="243B28"/>
                </a:solidFill>
              </a:rPr>
              <a:t>False Positive</a:t>
            </a:r>
            <a:endParaRPr lang="en-US" sz="1100" dirty="0"/>
          </a:p>
        </p:txBody>
      </p:sp>
      <p:sp>
        <p:nvSpPr>
          <p:cNvPr id="19" name="Text 16"/>
          <p:cNvSpPr/>
          <p:nvPr/>
        </p:nvSpPr>
        <p:spPr>
          <a:xfrm>
            <a:off x="6309360" y="3072384"/>
            <a:ext cx="2468880" cy="256032"/>
          </a:xfrm>
          <a:prstGeom prst="rect">
            <a:avLst/>
          </a:prstGeom>
          <a:noFill/>
          <a:ln/>
        </p:spPr>
        <p:txBody>
          <a:bodyPr wrap="square" lIns="0" tIns="0" rIns="0" bIns="0" rtlCol="0" anchor="ctr"/>
          <a:lstStyle/>
          <a:p>
            <a:pPr marL="0" indent="0">
              <a:buNone/>
            </a:pPr>
            <a:r>
              <a:rPr lang="en-US" sz="1000" dirty="0">
                <a:solidFill>
                  <a:srgbClr val="3D3D3D"/>
                </a:solidFill>
              </a:rPr>
              <a:t>No false positive alarms</a:t>
            </a:r>
            <a:endParaRPr lang="en-US" sz="1000" dirty="0"/>
          </a:p>
        </p:txBody>
      </p:sp>
      <p:sp>
        <p:nvSpPr>
          <p:cNvPr id="20" name="Shape 17"/>
          <p:cNvSpPr/>
          <p:nvPr/>
        </p:nvSpPr>
        <p:spPr>
          <a:xfrm>
            <a:off x="5760720" y="3575304"/>
            <a:ext cx="457200" cy="502920"/>
          </a:xfrm>
          <a:prstGeom prst="rect">
            <a:avLst/>
          </a:prstGeom>
          <a:solidFill>
            <a:srgbClr val="C0392B"/>
          </a:solidFill>
          <a:ln w="12700">
            <a:solidFill>
              <a:srgbClr val="C0392B"/>
            </a:solidFill>
            <a:prstDash val="solid"/>
          </a:ln>
        </p:spPr>
      </p:sp>
      <p:sp>
        <p:nvSpPr>
          <p:cNvPr id="21" name="Text 18"/>
          <p:cNvSpPr/>
          <p:nvPr/>
        </p:nvSpPr>
        <p:spPr>
          <a:xfrm>
            <a:off x="5760720" y="3575304"/>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22" name="Text 19"/>
          <p:cNvSpPr/>
          <p:nvPr/>
        </p:nvSpPr>
        <p:spPr>
          <a:xfrm>
            <a:off x="6309360" y="3575304"/>
            <a:ext cx="2468880" cy="228600"/>
          </a:xfrm>
          <a:prstGeom prst="rect">
            <a:avLst/>
          </a:prstGeom>
          <a:noFill/>
          <a:ln/>
        </p:spPr>
        <p:txBody>
          <a:bodyPr wrap="square" lIns="0" tIns="0" rIns="0" bIns="0" rtlCol="0" anchor="ctr"/>
          <a:lstStyle/>
          <a:p>
            <a:pPr marL="0" indent="0">
              <a:buNone/>
            </a:pPr>
            <a:r>
              <a:rPr lang="en-US" sz="1100" b="1" dirty="0">
                <a:solidFill>
                  <a:srgbClr val="243B28"/>
                </a:solidFill>
              </a:rPr>
              <a:t>False Negative</a:t>
            </a:r>
            <a:endParaRPr lang="en-US" sz="1100" dirty="0"/>
          </a:p>
        </p:txBody>
      </p:sp>
      <p:sp>
        <p:nvSpPr>
          <p:cNvPr id="23" name="Text 20"/>
          <p:cNvSpPr/>
          <p:nvPr/>
        </p:nvSpPr>
        <p:spPr>
          <a:xfrm>
            <a:off x="6309360" y="3822192"/>
            <a:ext cx="2468880" cy="256032"/>
          </a:xfrm>
          <a:prstGeom prst="rect">
            <a:avLst/>
          </a:prstGeom>
          <a:noFill/>
          <a:ln/>
        </p:spPr>
        <p:txBody>
          <a:bodyPr wrap="square" lIns="0" tIns="0" rIns="0" bIns="0" rtlCol="0" anchor="ctr"/>
          <a:lstStyle/>
          <a:p>
            <a:pPr marL="0" indent="0">
              <a:buNone/>
            </a:pPr>
            <a:r>
              <a:rPr lang="en-US" sz="1000" dirty="0">
                <a:solidFill>
                  <a:srgbClr val="3D3D3D"/>
                </a:solidFill>
              </a:rPr>
              <a:t>1 positive missed as negative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Key Findings &amp; Observations</a:t>
            </a:r>
            <a:endParaRPr lang="en-US" sz="2200" dirty="0"/>
          </a:p>
        </p:txBody>
      </p:sp>
      <p:sp>
        <p:nvSpPr>
          <p:cNvPr id="4" name="Shape 2"/>
          <p:cNvSpPr/>
          <p:nvPr/>
        </p:nvSpPr>
        <p:spPr>
          <a:xfrm>
            <a:off x="274320" y="822960"/>
            <a:ext cx="4206240" cy="1234440"/>
          </a:xfrm>
          <a:prstGeom prst="rect">
            <a:avLst/>
          </a:prstGeom>
          <a:solidFill>
            <a:srgbClr val="FFFFFF"/>
          </a:solidFill>
          <a:ln w="12700">
            <a:solidFill>
              <a:srgbClr val="D4C9B5"/>
            </a:solidFill>
            <a:prstDash val="solid"/>
          </a:ln>
        </p:spPr>
      </p:sp>
      <p:sp>
        <p:nvSpPr>
          <p:cNvPr id="5" name="Shape 3"/>
          <p:cNvSpPr/>
          <p:nvPr/>
        </p:nvSpPr>
        <p:spPr>
          <a:xfrm>
            <a:off x="274320" y="822960"/>
            <a:ext cx="54864" cy="1234440"/>
          </a:xfrm>
          <a:prstGeom prst="rect">
            <a:avLst/>
          </a:prstGeom>
          <a:solidFill>
            <a:srgbClr val="C9973A"/>
          </a:solidFill>
          <a:ln w="12700">
            <a:solidFill>
              <a:srgbClr val="C9973A"/>
            </a:solidFill>
            <a:prstDash val="solid"/>
          </a:ln>
        </p:spPr>
      </p:sp>
      <p:sp>
        <p:nvSpPr>
          <p:cNvPr id="6" name="Text 4"/>
          <p:cNvSpPr/>
          <p:nvPr/>
        </p:nvSpPr>
        <p:spPr>
          <a:xfrm>
            <a:off x="411480" y="8961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Top Restaurants</a:t>
            </a:r>
            <a:endParaRPr lang="en-US" sz="1200" dirty="0"/>
          </a:p>
        </p:txBody>
      </p:sp>
      <p:sp>
        <p:nvSpPr>
          <p:cNvPr id="7" name="Text 5"/>
          <p:cNvSpPr/>
          <p:nvPr/>
        </p:nvSpPr>
        <p:spPr>
          <a:xfrm>
            <a:off x="411480" y="12344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Coffee Break &amp; Palate Tender Bar and Restaurant both scored 0.77 — the highest avg compound scores with entirely positive reviews.</a:t>
            </a:r>
            <a:endParaRPr lang="en-US" sz="1050" dirty="0"/>
          </a:p>
        </p:txBody>
      </p:sp>
      <p:sp>
        <p:nvSpPr>
          <p:cNvPr id="8" name="Shape 6"/>
          <p:cNvSpPr/>
          <p:nvPr/>
        </p:nvSpPr>
        <p:spPr>
          <a:xfrm>
            <a:off x="4709160" y="822960"/>
            <a:ext cx="4206240" cy="1234440"/>
          </a:xfrm>
          <a:prstGeom prst="rect">
            <a:avLst/>
          </a:prstGeom>
          <a:solidFill>
            <a:srgbClr val="FFFFFF"/>
          </a:solidFill>
          <a:ln w="12700">
            <a:solidFill>
              <a:srgbClr val="D4C9B5"/>
            </a:solidFill>
            <a:prstDash val="solid"/>
          </a:ln>
        </p:spPr>
      </p:sp>
      <p:sp>
        <p:nvSpPr>
          <p:cNvPr id="9" name="Shape 7"/>
          <p:cNvSpPr/>
          <p:nvPr/>
        </p:nvSpPr>
        <p:spPr>
          <a:xfrm>
            <a:off x="4709160" y="822960"/>
            <a:ext cx="54864" cy="1234440"/>
          </a:xfrm>
          <a:prstGeom prst="rect">
            <a:avLst/>
          </a:prstGeom>
          <a:solidFill>
            <a:srgbClr val="C9973A"/>
          </a:solidFill>
          <a:ln w="12700">
            <a:solidFill>
              <a:srgbClr val="C9973A"/>
            </a:solidFill>
            <a:prstDash val="solid"/>
          </a:ln>
        </p:spPr>
      </p:sp>
      <p:sp>
        <p:nvSpPr>
          <p:cNvPr id="10" name="Text 8"/>
          <p:cNvSpPr/>
          <p:nvPr/>
        </p:nvSpPr>
        <p:spPr>
          <a:xfrm>
            <a:off x="4846320" y="8961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Underperformers</a:t>
            </a:r>
            <a:endParaRPr lang="en-US" sz="1200" dirty="0"/>
          </a:p>
        </p:txBody>
      </p:sp>
      <p:sp>
        <p:nvSpPr>
          <p:cNvPr id="11" name="Text 9"/>
          <p:cNvSpPr/>
          <p:nvPr/>
        </p:nvSpPr>
        <p:spPr>
          <a:xfrm>
            <a:off x="4846320" y="12344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Food Court SMIT (–0.14) and Highway Inn (0.02) scored below threshold. Most of their reviews reflect service and food quality issues.</a:t>
            </a:r>
            <a:endParaRPr lang="en-US" sz="1050" dirty="0"/>
          </a:p>
        </p:txBody>
      </p:sp>
      <p:sp>
        <p:nvSpPr>
          <p:cNvPr id="12" name="Shape 10"/>
          <p:cNvSpPr/>
          <p:nvPr/>
        </p:nvSpPr>
        <p:spPr>
          <a:xfrm>
            <a:off x="274320" y="2194560"/>
            <a:ext cx="4206240" cy="1234440"/>
          </a:xfrm>
          <a:prstGeom prst="rect">
            <a:avLst/>
          </a:prstGeom>
          <a:solidFill>
            <a:srgbClr val="FFFFFF"/>
          </a:solidFill>
          <a:ln w="12700">
            <a:solidFill>
              <a:srgbClr val="D4C9B5"/>
            </a:solidFill>
            <a:prstDash val="solid"/>
          </a:ln>
        </p:spPr>
      </p:sp>
      <p:sp>
        <p:nvSpPr>
          <p:cNvPr id="13" name="Shape 11"/>
          <p:cNvSpPr/>
          <p:nvPr/>
        </p:nvSpPr>
        <p:spPr>
          <a:xfrm>
            <a:off x="274320" y="2194560"/>
            <a:ext cx="54864" cy="1234440"/>
          </a:xfrm>
          <a:prstGeom prst="rect">
            <a:avLst/>
          </a:prstGeom>
          <a:solidFill>
            <a:srgbClr val="C9973A"/>
          </a:solidFill>
          <a:ln w="12700">
            <a:solidFill>
              <a:srgbClr val="C9973A"/>
            </a:solidFill>
            <a:prstDash val="solid"/>
          </a:ln>
        </p:spPr>
      </p:sp>
      <p:sp>
        <p:nvSpPr>
          <p:cNvPr id="14" name="Text 12"/>
          <p:cNvSpPr/>
          <p:nvPr/>
        </p:nvSpPr>
        <p:spPr>
          <a:xfrm>
            <a:off x="411480" y="22677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Dataset Skew</a:t>
            </a:r>
            <a:endParaRPr lang="en-US" sz="1200" dirty="0"/>
          </a:p>
        </p:txBody>
      </p:sp>
      <p:sp>
        <p:nvSpPr>
          <p:cNvPr id="15" name="Text 13"/>
          <p:cNvSpPr/>
          <p:nvPr/>
        </p:nvSpPr>
        <p:spPr>
          <a:xfrm>
            <a:off x="411480" y="26060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84.4% positive reviews indicate Majhitar eateries are generally well-received. The small negative sample (26) slightly limits evaluation diversity.</a:t>
            </a:r>
            <a:endParaRPr lang="en-US" sz="1050" dirty="0"/>
          </a:p>
        </p:txBody>
      </p:sp>
      <p:sp>
        <p:nvSpPr>
          <p:cNvPr id="16" name="Shape 14"/>
          <p:cNvSpPr/>
          <p:nvPr/>
        </p:nvSpPr>
        <p:spPr>
          <a:xfrm>
            <a:off x="4709160" y="2194560"/>
            <a:ext cx="4206240" cy="1234440"/>
          </a:xfrm>
          <a:prstGeom prst="rect">
            <a:avLst/>
          </a:prstGeom>
          <a:solidFill>
            <a:srgbClr val="FFFFFF"/>
          </a:solidFill>
          <a:ln w="12700">
            <a:solidFill>
              <a:srgbClr val="D4C9B5"/>
            </a:solidFill>
            <a:prstDash val="solid"/>
          </a:ln>
        </p:spPr>
      </p:sp>
      <p:sp>
        <p:nvSpPr>
          <p:cNvPr id="17" name="Shape 15"/>
          <p:cNvSpPr/>
          <p:nvPr/>
        </p:nvSpPr>
        <p:spPr>
          <a:xfrm>
            <a:off x="4709160" y="2194560"/>
            <a:ext cx="54864" cy="1234440"/>
          </a:xfrm>
          <a:prstGeom prst="rect">
            <a:avLst/>
          </a:prstGeom>
          <a:solidFill>
            <a:srgbClr val="C9973A"/>
          </a:solidFill>
          <a:ln w="12700">
            <a:solidFill>
              <a:srgbClr val="C9973A"/>
            </a:solidFill>
            <a:prstDash val="solid"/>
          </a:ln>
        </p:spPr>
      </p:sp>
      <p:sp>
        <p:nvSpPr>
          <p:cNvPr id="18" name="Text 16"/>
          <p:cNvSpPr/>
          <p:nvPr/>
        </p:nvSpPr>
        <p:spPr>
          <a:xfrm>
            <a:off x="4846320" y="22677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Dish Insight</a:t>
            </a:r>
            <a:endParaRPr lang="en-US" sz="1200" dirty="0"/>
          </a:p>
        </p:txBody>
      </p:sp>
      <p:sp>
        <p:nvSpPr>
          <p:cNvPr id="19" name="Text 17"/>
          <p:cNvSpPr/>
          <p:nvPr/>
        </p:nvSpPr>
        <p:spPr>
          <a:xfrm>
            <a:off x="4846320" y="26060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Momos were the most mentioned dish across reviews, with Tashi Shaa-Khang Chinese Restaurant earning the highest dish-level sentiment score (0.827).</a:t>
            </a:r>
            <a:endParaRPr lang="en-US" sz="1050" dirty="0"/>
          </a:p>
        </p:txBody>
      </p:sp>
      <p:sp>
        <p:nvSpPr>
          <p:cNvPr id="20" name="Shape 18"/>
          <p:cNvSpPr/>
          <p:nvPr/>
        </p:nvSpPr>
        <p:spPr>
          <a:xfrm>
            <a:off x="274320" y="3566160"/>
            <a:ext cx="4206240" cy="1234440"/>
          </a:xfrm>
          <a:prstGeom prst="rect">
            <a:avLst/>
          </a:prstGeom>
          <a:solidFill>
            <a:srgbClr val="FFFFFF"/>
          </a:solidFill>
          <a:ln w="12700">
            <a:solidFill>
              <a:srgbClr val="D4C9B5"/>
            </a:solidFill>
            <a:prstDash val="solid"/>
          </a:ln>
        </p:spPr>
      </p:sp>
      <p:sp>
        <p:nvSpPr>
          <p:cNvPr id="21" name="Shape 19"/>
          <p:cNvSpPr/>
          <p:nvPr/>
        </p:nvSpPr>
        <p:spPr>
          <a:xfrm>
            <a:off x="274320" y="3566160"/>
            <a:ext cx="54864" cy="1234440"/>
          </a:xfrm>
          <a:prstGeom prst="rect">
            <a:avLst/>
          </a:prstGeom>
          <a:solidFill>
            <a:srgbClr val="C9973A"/>
          </a:solidFill>
          <a:ln w="12700">
            <a:solidFill>
              <a:srgbClr val="C9973A"/>
            </a:solidFill>
            <a:prstDash val="solid"/>
          </a:ln>
        </p:spPr>
      </p:sp>
      <p:sp>
        <p:nvSpPr>
          <p:cNvPr id="22" name="Text 20"/>
          <p:cNvSpPr/>
          <p:nvPr/>
        </p:nvSpPr>
        <p:spPr>
          <a:xfrm>
            <a:off x="411480" y="36393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VADER Performance</a:t>
            </a:r>
            <a:endParaRPr lang="en-US" sz="1200" dirty="0"/>
          </a:p>
        </p:txBody>
      </p:sp>
      <p:sp>
        <p:nvSpPr>
          <p:cNvPr id="23" name="Text 21"/>
          <p:cNvSpPr/>
          <p:nvPr/>
        </p:nvSpPr>
        <p:spPr>
          <a:xfrm>
            <a:off x="411480" y="39776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VADER achieved 95% accuracy on a 20-sample ground-truth test, with 100% precision — meaning zero false positives in positive classification.</a:t>
            </a:r>
            <a:endParaRPr lang="en-US" sz="1050" dirty="0"/>
          </a:p>
        </p:txBody>
      </p:sp>
      <p:sp>
        <p:nvSpPr>
          <p:cNvPr id="24" name="Shape 22"/>
          <p:cNvSpPr/>
          <p:nvPr/>
        </p:nvSpPr>
        <p:spPr>
          <a:xfrm>
            <a:off x="4709160" y="3566160"/>
            <a:ext cx="4206240" cy="1234440"/>
          </a:xfrm>
          <a:prstGeom prst="rect">
            <a:avLst/>
          </a:prstGeom>
          <a:solidFill>
            <a:srgbClr val="FFFFFF"/>
          </a:solidFill>
          <a:ln w="12700">
            <a:solidFill>
              <a:srgbClr val="D4C9B5"/>
            </a:solidFill>
            <a:prstDash val="solid"/>
          </a:ln>
        </p:spPr>
      </p:sp>
      <p:sp>
        <p:nvSpPr>
          <p:cNvPr id="25" name="Shape 23"/>
          <p:cNvSpPr/>
          <p:nvPr/>
        </p:nvSpPr>
        <p:spPr>
          <a:xfrm>
            <a:off x="4709160" y="3566160"/>
            <a:ext cx="54864" cy="1234440"/>
          </a:xfrm>
          <a:prstGeom prst="rect">
            <a:avLst/>
          </a:prstGeom>
          <a:solidFill>
            <a:srgbClr val="C9973A"/>
          </a:solidFill>
          <a:ln w="12700">
            <a:solidFill>
              <a:srgbClr val="C9973A"/>
            </a:solidFill>
            <a:prstDash val="solid"/>
          </a:ln>
        </p:spPr>
      </p:sp>
      <p:sp>
        <p:nvSpPr>
          <p:cNvPr id="26" name="Text 24"/>
          <p:cNvSpPr/>
          <p:nvPr/>
        </p:nvSpPr>
        <p:spPr>
          <a:xfrm>
            <a:off x="4846320" y="3639312"/>
            <a:ext cx="3977640" cy="320040"/>
          </a:xfrm>
          <a:prstGeom prst="rect">
            <a:avLst/>
          </a:prstGeom>
          <a:noFill/>
          <a:ln/>
        </p:spPr>
        <p:txBody>
          <a:bodyPr wrap="square" lIns="0" tIns="0" rIns="0" bIns="0" rtlCol="0" anchor="ctr"/>
          <a:lstStyle/>
          <a:p>
            <a:pPr marL="0" indent="0">
              <a:buNone/>
            </a:pPr>
            <a:r>
              <a:rPr lang="en-US" sz="1200" b="1" dirty="0">
                <a:solidFill>
                  <a:srgbClr val="243B28"/>
                </a:solidFill>
              </a:rPr>
              <a:t>🔍  Neutral Reviews</a:t>
            </a:r>
            <a:endParaRPr lang="en-US" sz="1200" dirty="0"/>
          </a:p>
        </p:txBody>
      </p:sp>
      <p:sp>
        <p:nvSpPr>
          <p:cNvPr id="27" name="Text 25"/>
          <p:cNvSpPr/>
          <p:nvPr/>
        </p:nvSpPr>
        <p:spPr>
          <a:xfrm>
            <a:off x="4846320" y="3977640"/>
            <a:ext cx="3977640" cy="749808"/>
          </a:xfrm>
          <a:prstGeom prst="rect">
            <a:avLst/>
          </a:prstGeom>
          <a:noFill/>
          <a:ln/>
        </p:spPr>
        <p:txBody>
          <a:bodyPr wrap="square" lIns="0" tIns="0" rIns="0" bIns="0" rtlCol="0" anchor="ctr"/>
          <a:lstStyle/>
          <a:p>
            <a:pPr marL="0" indent="0">
              <a:buNone/>
            </a:pPr>
            <a:r>
              <a:rPr lang="en-US" sz="1050" dirty="0">
                <a:solidFill>
                  <a:srgbClr val="3D3D3D"/>
                </a:solidFill>
              </a:rPr>
              <a:t>Only 6 reviews (2.9%) were classified as neutral — most reviewers had strong positive or negative opinions about Majhitar restaurants.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B28"/>
          </a:solidFill>
          <a:ln w="12700">
            <a:solidFill>
              <a:srgbClr val="243B2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dirty="0">
                <a:solidFill>
                  <a:srgbClr val="FFFFFF"/>
                </a:solidFill>
              </a:rPr>
              <a:t>Future Scope</a:t>
            </a:r>
            <a:endParaRPr lang="en-US" sz="2200" dirty="0"/>
          </a:p>
        </p:txBody>
      </p:sp>
      <p:sp>
        <p:nvSpPr>
          <p:cNvPr id="4" name="Shape 2"/>
          <p:cNvSpPr/>
          <p:nvPr/>
        </p:nvSpPr>
        <p:spPr>
          <a:xfrm>
            <a:off x="274320" y="822960"/>
            <a:ext cx="4206240" cy="1261872"/>
          </a:xfrm>
          <a:prstGeom prst="rect">
            <a:avLst/>
          </a:prstGeom>
          <a:solidFill>
            <a:srgbClr val="FFFFFF"/>
          </a:solidFill>
          <a:ln w="12700">
            <a:solidFill>
              <a:srgbClr val="D4C9B5"/>
            </a:solidFill>
            <a:prstDash val="solid"/>
          </a:ln>
        </p:spPr>
      </p:sp>
      <p:sp>
        <p:nvSpPr>
          <p:cNvPr id="5" name="Shape 3"/>
          <p:cNvSpPr/>
          <p:nvPr/>
        </p:nvSpPr>
        <p:spPr>
          <a:xfrm>
            <a:off x="274320" y="822960"/>
            <a:ext cx="594360" cy="1261872"/>
          </a:xfrm>
          <a:prstGeom prst="rect">
            <a:avLst/>
          </a:prstGeom>
          <a:solidFill>
            <a:srgbClr val="4E7B56"/>
          </a:solidFill>
          <a:ln w="12700">
            <a:solidFill>
              <a:srgbClr val="4E7B56"/>
            </a:solidFill>
            <a:prstDash val="solid"/>
          </a:ln>
        </p:spPr>
      </p:sp>
      <p:sp>
        <p:nvSpPr>
          <p:cNvPr id="6" name="Text 4"/>
          <p:cNvSpPr/>
          <p:nvPr/>
        </p:nvSpPr>
        <p:spPr>
          <a:xfrm>
            <a:off x="274320" y="822960"/>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7" name="Text 5"/>
          <p:cNvSpPr/>
          <p:nvPr/>
        </p:nvSpPr>
        <p:spPr>
          <a:xfrm>
            <a:off x="960120" y="914400"/>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Deep Learning Models</a:t>
            </a:r>
            <a:endParaRPr lang="en-US" sz="1200" dirty="0"/>
          </a:p>
        </p:txBody>
      </p:sp>
      <p:sp>
        <p:nvSpPr>
          <p:cNvPr id="8" name="Text 6"/>
          <p:cNvSpPr/>
          <p:nvPr/>
        </p:nvSpPr>
        <p:spPr>
          <a:xfrm>
            <a:off x="960120" y="1261872"/>
            <a:ext cx="3429000" cy="749808"/>
          </a:xfrm>
          <a:prstGeom prst="rect">
            <a:avLst/>
          </a:prstGeom>
          <a:noFill/>
          <a:ln/>
        </p:spPr>
        <p:txBody>
          <a:bodyPr wrap="square" lIns="0" tIns="0" rIns="0" bIns="0" rtlCol="0" anchor="ctr"/>
          <a:lstStyle/>
          <a:p>
            <a:pPr marL="0" indent="0">
              <a:buNone/>
            </a:pPr>
            <a:r>
              <a:rPr lang="en-US" sz="1050" dirty="0">
                <a:solidFill>
                  <a:srgbClr val="3D3D3D"/>
                </a:solidFill>
              </a:rPr>
              <a:t>Replace VADER with transformer-based models (BERT, RoBERTa) for context-aware sentiment — especially for sarcastic or mixed-language reviews.</a:t>
            </a:r>
            <a:endParaRPr lang="en-US" sz="1050" dirty="0"/>
          </a:p>
        </p:txBody>
      </p:sp>
      <p:sp>
        <p:nvSpPr>
          <p:cNvPr id="9" name="Shape 7"/>
          <p:cNvSpPr/>
          <p:nvPr/>
        </p:nvSpPr>
        <p:spPr>
          <a:xfrm>
            <a:off x="4709160" y="822960"/>
            <a:ext cx="4206240" cy="1261872"/>
          </a:xfrm>
          <a:prstGeom prst="rect">
            <a:avLst/>
          </a:prstGeom>
          <a:solidFill>
            <a:srgbClr val="FFFFFF"/>
          </a:solidFill>
          <a:ln w="12700">
            <a:solidFill>
              <a:srgbClr val="D4C9B5"/>
            </a:solidFill>
            <a:prstDash val="solid"/>
          </a:ln>
        </p:spPr>
      </p:sp>
      <p:sp>
        <p:nvSpPr>
          <p:cNvPr id="10" name="Shape 8"/>
          <p:cNvSpPr/>
          <p:nvPr/>
        </p:nvSpPr>
        <p:spPr>
          <a:xfrm>
            <a:off x="4709160" y="822960"/>
            <a:ext cx="594360" cy="1261872"/>
          </a:xfrm>
          <a:prstGeom prst="rect">
            <a:avLst/>
          </a:prstGeom>
          <a:solidFill>
            <a:srgbClr val="4E7B56"/>
          </a:solidFill>
          <a:ln w="12700">
            <a:solidFill>
              <a:srgbClr val="4E7B56"/>
            </a:solidFill>
            <a:prstDash val="solid"/>
          </a:ln>
        </p:spPr>
      </p:sp>
      <p:sp>
        <p:nvSpPr>
          <p:cNvPr id="11" name="Text 9"/>
          <p:cNvSpPr/>
          <p:nvPr/>
        </p:nvSpPr>
        <p:spPr>
          <a:xfrm>
            <a:off x="4709160" y="822960"/>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2" name="Text 10"/>
          <p:cNvSpPr/>
          <p:nvPr/>
        </p:nvSpPr>
        <p:spPr>
          <a:xfrm>
            <a:off x="5394960" y="914400"/>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Multilingual Support</a:t>
            </a:r>
            <a:endParaRPr lang="en-US" sz="1200" dirty="0"/>
          </a:p>
        </p:txBody>
      </p:sp>
      <p:sp>
        <p:nvSpPr>
          <p:cNvPr id="13" name="Text 11"/>
          <p:cNvSpPr/>
          <p:nvPr/>
        </p:nvSpPr>
        <p:spPr>
          <a:xfrm>
            <a:off x="5394960" y="1261872"/>
            <a:ext cx="3429000" cy="749808"/>
          </a:xfrm>
          <a:prstGeom prst="rect">
            <a:avLst/>
          </a:prstGeom>
          <a:noFill/>
          <a:ln/>
        </p:spPr>
        <p:txBody>
          <a:bodyPr wrap="square" lIns="0" tIns="0" rIns="0" bIns="0" rtlCol="0" anchor="ctr"/>
          <a:lstStyle/>
          <a:p>
            <a:pPr marL="0" indent="0">
              <a:buNone/>
            </a:pPr>
            <a:r>
              <a:rPr lang="en-US" sz="1050" dirty="0">
                <a:solidFill>
                  <a:srgbClr val="3D3D3D"/>
                </a:solidFill>
              </a:rPr>
              <a:t>Incorporate Nepali and Hindi reviews which are common in Sikkim. Use multilingual NLP models to cover non-English feedback.</a:t>
            </a:r>
            <a:endParaRPr lang="en-US" sz="1050" dirty="0"/>
          </a:p>
        </p:txBody>
      </p:sp>
      <p:sp>
        <p:nvSpPr>
          <p:cNvPr id="14" name="Shape 12"/>
          <p:cNvSpPr/>
          <p:nvPr/>
        </p:nvSpPr>
        <p:spPr>
          <a:xfrm>
            <a:off x="274320" y="2212848"/>
            <a:ext cx="4206240" cy="1261872"/>
          </a:xfrm>
          <a:prstGeom prst="rect">
            <a:avLst/>
          </a:prstGeom>
          <a:solidFill>
            <a:srgbClr val="FFFFFF"/>
          </a:solidFill>
          <a:ln w="12700">
            <a:solidFill>
              <a:srgbClr val="D4C9B5"/>
            </a:solidFill>
            <a:prstDash val="solid"/>
          </a:ln>
        </p:spPr>
      </p:sp>
      <p:sp>
        <p:nvSpPr>
          <p:cNvPr id="15" name="Shape 13"/>
          <p:cNvSpPr/>
          <p:nvPr/>
        </p:nvSpPr>
        <p:spPr>
          <a:xfrm>
            <a:off x="274320" y="2212848"/>
            <a:ext cx="594360" cy="1261872"/>
          </a:xfrm>
          <a:prstGeom prst="rect">
            <a:avLst/>
          </a:prstGeom>
          <a:solidFill>
            <a:srgbClr val="4E7B56"/>
          </a:solidFill>
          <a:ln w="12700">
            <a:solidFill>
              <a:srgbClr val="4E7B56"/>
            </a:solidFill>
            <a:prstDash val="solid"/>
          </a:ln>
        </p:spPr>
      </p:sp>
      <p:sp>
        <p:nvSpPr>
          <p:cNvPr id="16" name="Text 14"/>
          <p:cNvSpPr/>
          <p:nvPr/>
        </p:nvSpPr>
        <p:spPr>
          <a:xfrm>
            <a:off x="274320" y="2212848"/>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7" name="Text 15"/>
          <p:cNvSpPr/>
          <p:nvPr/>
        </p:nvSpPr>
        <p:spPr>
          <a:xfrm>
            <a:off x="960120" y="2304288"/>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Aspect-Based Sentiment</a:t>
            </a:r>
            <a:endParaRPr lang="en-US" sz="1200" dirty="0"/>
          </a:p>
        </p:txBody>
      </p:sp>
      <p:sp>
        <p:nvSpPr>
          <p:cNvPr id="18" name="Text 16"/>
          <p:cNvSpPr/>
          <p:nvPr/>
        </p:nvSpPr>
        <p:spPr>
          <a:xfrm>
            <a:off x="960120" y="2651760"/>
            <a:ext cx="3429000" cy="749808"/>
          </a:xfrm>
          <a:prstGeom prst="rect">
            <a:avLst/>
          </a:prstGeom>
          <a:noFill/>
          <a:ln/>
        </p:spPr>
        <p:txBody>
          <a:bodyPr wrap="square" lIns="0" tIns="0" rIns="0" bIns="0" rtlCol="0" anchor="ctr"/>
          <a:lstStyle/>
          <a:p>
            <a:pPr marL="0" indent="0">
              <a:buNone/>
            </a:pPr>
            <a:r>
              <a:rPr lang="en-US" sz="1050" dirty="0">
                <a:solidFill>
                  <a:srgbClr val="3D3D3D"/>
                </a:solidFill>
              </a:rPr>
              <a:t>Identify sentiment for specific aspects: food quality, service, ambience, pricing — rather than a single overall sentiment score.</a:t>
            </a:r>
            <a:endParaRPr lang="en-US" sz="1050" dirty="0"/>
          </a:p>
        </p:txBody>
      </p:sp>
      <p:sp>
        <p:nvSpPr>
          <p:cNvPr id="19" name="Shape 17"/>
          <p:cNvSpPr/>
          <p:nvPr/>
        </p:nvSpPr>
        <p:spPr>
          <a:xfrm>
            <a:off x="4709160" y="2212848"/>
            <a:ext cx="4206240" cy="1261872"/>
          </a:xfrm>
          <a:prstGeom prst="rect">
            <a:avLst/>
          </a:prstGeom>
          <a:solidFill>
            <a:srgbClr val="FFFFFF"/>
          </a:solidFill>
          <a:ln w="12700">
            <a:solidFill>
              <a:srgbClr val="D4C9B5"/>
            </a:solidFill>
            <a:prstDash val="solid"/>
          </a:ln>
        </p:spPr>
      </p:sp>
      <p:sp>
        <p:nvSpPr>
          <p:cNvPr id="20" name="Shape 18"/>
          <p:cNvSpPr/>
          <p:nvPr/>
        </p:nvSpPr>
        <p:spPr>
          <a:xfrm>
            <a:off x="4709160" y="2212848"/>
            <a:ext cx="594360" cy="1261872"/>
          </a:xfrm>
          <a:prstGeom prst="rect">
            <a:avLst/>
          </a:prstGeom>
          <a:solidFill>
            <a:srgbClr val="4E7B56"/>
          </a:solidFill>
          <a:ln w="12700">
            <a:solidFill>
              <a:srgbClr val="4E7B56"/>
            </a:solidFill>
            <a:prstDash val="solid"/>
          </a:ln>
        </p:spPr>
      </p:sp>
      <p:sp>
        <p:nvSpPr>
          <p:cNvPr id="21" name="Text 19"/>
          <p:cNvSpPr/>
          <p:nvPr/>
        </p:nvSpPr>
        <p:spPr>
          <a:xfrm>
            <a:off x="4709160" y="2212848"/>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2" name="Text 20"/>
          <p:cNvSpPr/>
          <p:nvPr/>
        </p:nvSpPr>
        <p:spPr>
          <a:xfrm>
            <a:off x="5394960" y="2304288"/>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Real-Time Data Pipeline</a:t>
            </a:r>
            <a:endParaRPr lang="en-US" sz="1200" dirty="0"/>
          </a:p>
        </p:txBody>
      </p:sp>
      <p:sp>
        <p:nvSpPr>
          <p:cNvPr id="23" name="Text 21"/>
          <p:cNvSpPr/>
          <p:nvPr/>
        </p:nvSpPr>
        <p:spPr>
          <a:xfrm>
            <a:off x="5394960" y="2651760"/>
            <a:ext cx="3429000" cy="749808"/>
          </a:xfrm>
          <a:prstGeom prst="rect">
            <a:avLst/>
          </a:prstGeom>
          <a:noFill/>
          <a:ln/>
        </p:spPr>
        <p:txBody>
          <a:bodyPr wrap="square" lIns="0" tIns="0" rIns="0" bIns="0" rtlCol="0" anchor="ctr"/>
          <a:lstStyle/>
          <a:p>
            <a:pPr marL="0" indent="0">
              <a:buNone/>
            </a:pPr>
            <a:r>
              <a:rPr lang="en-US" sz="1050" dirty="0">
                <a:solidFill>
                  <a:srgbClr val="3D3D3D"/>
                </a:solidFill>
              </a:rPr>
              <a:t>Automate data collection via Google Places API or web scraping to refresh reviews periodically without manual CSV entry.</a:t>
            </a:r>
            <a:endParaRPr lang="en-US" sz="1050" dirty="0"/>
          </a:p>
        </p:txBody>
      </p:sp>
      <p:sp>
        <p:nvSpPr>
          <p:cNvPr id="24" name="Shape 22"/>
          <p:cNvSpPr/>
          <p:nvPr/>
        </p:nvSpPr>
        <p:spPr>
          <a:xfrm>
            <a:off x="274320" y="3602736"/>
            <a:ext cx="4206240" cy="1261872"/>
          </a:xfrm>
          <a:prstGeom prst="rect">
            <a:avLst/>
          </a:prstGeom>
          <a:solidFill>
            <a:srgbClr val="FFFFFF"/>
          </a:solidFill>
          <a:ln w="12700">
            <a:solidFill>
              <a:srgbClr val="D4C9B5"/>
            </a:solidFill>
            <a:prstDash val="solid"/>
          </a:ln>
        </p:spPr>
      </p:sp>
      <p:sp>
        <p:nvSpPr>
          <p:cNvPr id="25" name="Shape 23"/>
          <p:cNvSpPr/>
          <p:nvPr/>
        </p:nvSpPr>
        <p:spPr>
          <a:xfrm>
            <a:off x="274320" y="3602736"/>
            <a:ext cx="594360" cy="1261872"/>
          </a:xfrm>
          <a:prstGeom prst="rect">
            <a:avLst/>
          </a:prstGeom>
          <a:solidFill>
            <a:srgbClr val="4E7B56"/>
          </a:solidFill>
          <a:ln w="12700">
            <a:solidFill>
              <a:srgbClr val="4E7B56"/>
            </a:solidFill>
            <a:prstDash val="solid"/>
          </a:ln>
        </p:spPr>
      </p:sp>
      <p:sp>
        <p:nvSpPr>
          <p:cNvPr id="26" name="Text 24"/>
          <p:cNvSpPr/>
          <p:nvPr/>
        </p:nvSpPr>
        <p:spPr>
          <a:xfrm>
            <a:off x="274320" y="3602736"/>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7" name="Text 25"/>
          <p:cNvSpPr/>
          <p:nvPr/>
        </p:nvSpPr>
        <p:spPr>
          <a:xfrm>
            <a:off x="960120" y="3694176"/>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Web Application</a:t>
            </a:r>
            <a:endParaRPr lang="en-US" sz="1200" dirty="0"/>
          </a:p>
        </p:txBody>
      </p:sp>
      <p:sp>
        <p:nvSpPr>
          <p:cNvPr id="28" name="Text 26"/>
          <p:cNvSpPr/>
          <p:nvPr/>
        </p:nvSpPr>
        <p:spPr>
          <a:xfrm>
            <a:off x="960120" y="4041648"/>
            <a:ext cx="3429000" cy="749808"/>
          </a:xfrm>
          <a:prstGeom prst="rect">
            <a:avLst/>
          </a:prstGeom>
          <a:noFill/>
          <a:ln/>
        </p:spPr>
        <p:txBody>
          <a:bodyPr wrap="square" lIns="0" tIns="0" rIns="0" bIns="0" rtlCol="0" anchor="ctr"/>
          <a:lstStyle/>
          <a:p>
            <a:pPr marL="0" indent="0">
              <a:buNone/>
            </a:pPr>
            <a:r>
              <a:rPr lang="en-US" sz="1050" dirty="0">
                <a:solidFill>
                  <a:srgbClr val="3D3D3D"/>
                </a:solidFill>
              </a:rPr>
              <a:t>Build a user-facing web app (Flask/Streamlit) where locals and tourists can search for dishes and get real-time restaurant recommendations.</a:t>
            </a:r>
            <a:endParaRPr lang="en-US" sz="1050" dirty="0"/>
          </a:p>
        </p:txBody>
      </p:sp>
      <p:sp>
        <p:nvSpPr>
          <p:cNvPr id="29" name="Shape 27"/>
          <p:cNvSpPr/>
          <p:nvPr/>
        </p:nvSpPr>
        <p:spPr>
          <a:xfrm>
            <a:off x="4709160" y="3602736"/>
            <a:ext cx="4206240" cy="1261872"/>
          </a:xfrm>
          <a:prstGeom prst="rect">
            <a:avLst/>
          </a:prstGeom>
          <a:solidFill>
            <a:srgbClr val="FFFFFF"/>
          </a:solidFill>
          <a:ln w="12700">
            <a:solidFill>
              <a:srgbClr val="D4C9B5"/>
            </a:solidFill>
            <a:prstDash val="solid"/>
          </a:ln>
        </p:spPr>
      </p:sp>
      <p:sp>
        <p:nvSpPr>
          <p:cNvPr id="30" name="Shape 28"/>
          <p:cNvSpPr/>
          <p:nvPr/>
        </p:nvSpPr>
        <p:spPr>
          <a:xfrm>
            <a:off x="4709160" y="3602736"/>
            <a:ext cx="594360" cy="1261872"/>
          </a:xfrm>
          <a:prstGeom prst="rect">
            <a:avLst/>
          </a:prstGeom>
          <a:solidFill>
            <a:srgbClr val="4E7B56"/>
          </a:solidFill>
          <a:ln w="12700">
            <a:solidFill>
              <a:srgbClr val="4E7B56"/>
            </a:solidFill>
            <a:prstDash val="solid"/>
          </a:ln>
        </p:spPr>
      </p:sp>
      <p:sp>
        <p:nvSpPr>
          <p:cNvPr id="31" name="Text 29"/>
          <p:cNvSpPr/>
          <p:nvPr/>
        </p:nvSpPr>
        <p:spPr>
          <a:xfrm>
            <a:off x="4709160" y="3602736"/>
            <a:ext cx="594360" cy="1261872"/>
          </a:xfrm>
          <a:prstGeom prst="rect">
            <a:avLst/>
          </a:prstGeom>
          <a:noFill/>
          <a:ln/>
        </p:spPr>
        <p:txBody>
          <a:bodyPr wrap="square" lIns="0" tIns="0" rIns="0" bIns="0" rtlCol="0" anchor="ctr"/>
          <a:lstStyle/>
          <a:p>
            <a:pPr marL="0" indent="0" algn="ctr">
              <a:buNone/>
            </a:pPr>
            <a:r>
              <a:rPr lang="en-US" sz="1800" b="1" dirty="0">
                <a:solidFill>
                  <a:srgbClr val="FFFFFF"/>
                </a:solidFill>
              </a:rPr>
              <a:t>06</a:t>
            </a:r>
            <a:endParaRPr lang="en-US" sz="1800" dirty="0"/>
          </a:p>
        </p:txBody>
      </p:sp>
      <p:sp>
        <p:nvSpPr>
          <p:cNvPr id="32" name="Text 30"/>
          <p:cNvSpPr/>
          <p:nvPr/>
        </p:nvSpPr>
        <p:spPr>
          <a:xfrm>
            <a:off x="5394960" y="3694176"/>
            <a:ext cx="3429000" cy="320040"/>
          </a:xfrm>
          <a:prstGeom prst="rect">
            <a:avLst/>
          </a:prstGeom>
          <a:noFill/>
          <a:ln/>
        </p:spPr>
        <p:txBody>
          <a:bodyPr wrap="square" lIns="0" tIns="0" rIns="0" bIns="0" rtlCol="0" anchor="ctr"/>
          <a:lstStyle/>
          <a:p>
            <a:pPr marL="0" indent="0">
              <a:buNone/>
            </a:pPr>
            <a:r>
              <a:rPr lang="en-US" sz="1200" b="1" dirty="0">
                <a:solidFill>
                  <a:srgbClr val="243B28"/>
                </a:solidFill>
              </a:rPr>
              <a:t>Larger Dataset</a:t>
            </a:r>
            <a:endParaRPr lang="en-US" sz="1200" dirty="0"/>
          </a:p>
        </p:txBody>
      </p:sp>
      <p:sp>
        <p:nvSpPr>
          <p:cNvPr id="33" name="Text 31"/>
          <p:cNvSpPr/>
          <p:nvPr/>
        </p:nvSpPr>
        <p:spPr>
          <a:xfrm>
            <a:off x="5394960" y="4041648"/>
            <a:ext cx="3429000" cy="749808"/>
          </a:xfrm>
          <a:prstGeom prst="rect">
            <a:avLst/>
          </a:prstGeom>
          <a:noFill/>
          <a:ln/>
        </p:spPr>
        <p:txBody>
          <a:bodyPr wrap="square" lIns="0" tIns="0" rIns="0" bIns="0" rtlCol="0" anchor="ctr"/>
          <a:lstStyle/>
          <a:p>
            <a:pPr marL="0" indent="0">
              <a:buNone/>
            </a:pPr>
            <a:r>
              <a:rPr lang="en-US" sz="1050" dirty="0">
                <a:solidFill>
                  <a:srgbClr val="3D3D3D"/>
                </a:solidFill>
              </a:rPr>
              <a:t>Expand coverage to more restaurants, nearby towns (Rangpo, Singtam), and include star ratings to improve model evaluation accuracy.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A1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73A"/>
          </a:solidFill>
          <a:ln w="12700">
            <a:solidFill>
              <a:srgbClr val="C9973A"/>
            </a:solidFill>
            <a:prstDash val="solid"/>
          </a:ln>
        </p:spPr>
      </p:sp>
      <p:sp>
        <p:nvSpPr>
          <p:cNvPr id="3" name="Text 1"/>
          <p:cNvSpPr/>
          <p:nvPr/>
        </p:nvSpPr>
        <p:spPr>
          <a:xfrm>
            <a:off x="320040" y="457200"/>
            <a:ext cx="8503920" cy="640080"/>
          </a:xfrm>
          <a:prstGeom prst="rect">
            <a:avLst/>
          </a:prstGeom>
          <a:noFill/>
          <a:ln/>
        </p:spPr>
        <p:txBody>
          <a:bodyPr wrap="square" lIns="0" tIns="0" rIns="0" bIns="0" rtlCol="0" anchor="ctr"/>
          <a:lstStyle/>
          <a:p>
            <a:pPr marL="0" indent="0" algn="ctr">
              <a:buNone/>
            </a:pPr>
            <a:r>
              <a:rPr lang="en-US" sz="3200" b="1" dirty="0">
                <a:solidFill>
                  <a:srgbClr val="FFFFFF"/>
                </a:solidFill>
              </a:rPr>
              <a:t>GitHub Repository</a:t>
            </a:r>
            <a:endParaRPr lang="en-US" sz="3200" dirty="0"/>
          </a:p>
        </p:txBody>
      </p:sp>
      <p:sp>
        <p:nvSpPr>
          <p:cNvPr id="4" name="Text 2"/>
          <p:cNvSpPr/>
          <p:nvPr/>
        </p:nvSpPr>
        <p:spPr>
          <a:xfrm>
            <a:off x="320040" y="1097280"/>
            <a:ext cx="8503920" cy="411480"/>
          </a:xfrm>
          <a:prstGeom prst="rect">
            <a:avLst/>
          </a:prstGeom>
          <a:noFill/>
          <a:ln/>
        </p:spPr>
        <p:txBody>
          <a:bodyPr wrap="square" lIns="0" tIns="0" rIns="0" bIns="0" rtlCol="0" anchor="ctr"/>
          <a:lstStyle/>
          <a:p>
            <a:pPr marL="0" indent="0" algn="ctr">
              <a:buNone/>
            </a:pPr>
            <a:r>
              <a:rPr lang="en-US" sz="1600" i="1" dirty="0">
                <a:solidFill>
                  <a:srgbClr val="A8C5AB"/>
                </a:solidFill>
              </a:rPr>
              <a:t>Sentiment Analysis on Restaurant Reviews</a:t>
            </a:r>
            <a:endParaRPr lang="en-US" sz="1600" dirty="0"/>
          </a:p>
        </p:txBody>
      </p:sp>
      <p:sp>
        <p:nvSpPr>
          <p:cNvPr id="5" name="Shape 3"/>
          <p:cNvSpPr/>
          <p:nvPr/>
        </p:nvSpPr>
        <p:spPr>
          <a:xfrm>
            <a:off x="411480" y="1664208"/>
            <a:ext cx="8503920" cy="1371600"/>
          </a:xfrm>
          <a:prstGeom prst="rect">
            <a:avLst/>
          </a:prstGeom>
          <a:solidFill>
            <a:srgbClr val="253520"/>
          </a:solidFill>
          <a:ln w="12700">
            <a:solidFill>
              <a:srgbClr val="C9973A"/>
            </a:solidFill>
            <a:prstDash val="solid"/>
          </a:ln>
        </p:spPr>
        <p:txBody>
          <a:bodyPr/>
          <a:lstStyle/>
          <a:p>
            <a:endParaRPr lang="en-IN" dirty="0"/>
          </a:p>
        </p:txBody>
      </p:sp>
      <p:sp>
        <p:nvSpPr>
          <p:cNvPr id="6" name="Text 4"/>
          <p:cNvSpPr/>
          <p:nvPr/>
        </p:nvSpPr>
        <p:spPr>
          <a:xfrm>
            <a:off x="411480" y="1981200"/>
            <a:ext cx="8321040" cy="594360"/>
          </a:xfrm>
          <a:prstGeom prst="rect">
            <a:avLst/>
          </a:prstGeom>
          <a:noFill/>
          <a:ln/>
        </p:spPr>
        <p:txBody>
          <a:bodyPr wrap="square" lIns="0" tIns="0" rIns="0" bIns="0" rtlCol="0" anchor="ctr"/>
          <a:lstStyle/>
          <a:p>
            <a:pPr algn="ctr"/>
            <a:r>
              <a:rPr lang="en-IN" u="sng" dirty="0">
                <a:solidFill>
                  <a:schemeClr val="bg2"/>
                </a:solidFill>
              </a:rPr>
              <a:t>https://github.com/</a:t>
            </a:r>
            <a:r>
              <a:rPr lang="en-IN" u="sng" dirty="0" err="1">
                <a:solidFill>
                  <a:schemeClr val="bg2"/>
                </a:solidFill>
              </a:rPr>
              <a:t>nkhllptnk</a:t>
            </a:r>
            <a:r>
              <a:rPr lang="en-IN" u="sng" dirty="0">
                <a:solidFill>
                  <a:schemeClr val="bg2"/>
                </a:solidFill>
              </a:rPr>
              <a:t>/sentiment-analysis-of-restaurant-</a:t>
            </a:r>
            <a:r>
              <a:rPr lang="en-IN" u="sng" dirty="0" err="1">
                <a:solidFill>
                  <a:schemeClr val="bg2"/>
                </a:solidFill>
              </a:rPr>
              <a:t>reviews.git</a:t>
            </a:r>
            <a:r>
              <a:rPr lang="en-IN" u="sng" dirty="0">
                <a:solidFill>
                  <a:schemeClr val="bg2"/>
                </a:solidFill>
              </a:rPr>
              <a:t>⁠</a:t>
            </a:r>
          </a:p>
        </p:txBody>
      </p:sp>
      <p:sp>
        <p:nvSpPr>
          <p:cNvPr id="7" name="Text 5"/>
          <p:cNvSpPr/>
          <p:nvPr/>
        </p:nvSpPr>
        <p:spPr>
          <a:xfrm>
            <a:off x="411480" y="2350008"/>
            <a:ext cx="8321040" cy="594360"/>
          </a:xfrm>
          <a:prstGeom prst="rect">
            <a:avLst/>
          </a:prstGeom>
          <a:noFill/>
          <a:ln/>
        </p:spPr>
        <p:txBody>
          <a:bodyPr wrap="square" lIns="0" tIns="0" rIns="0" bIns="0" rtlCol="0" anchor="ctr"/>
          <a:lstStyle/>
          <a:p>
            <a:pPr marL="0" indent="0" algn="ctr">
              <a:buNone/>
            </a:pPr>
            <a:endParaRPr lang="en-US" sz="1300" dirty="0"/>
          </a:p>
        </p:txBody>
      </p:sp>
      <p:sp>
        <p:nvSpPr>
          <p:cNvPr id="8" name="Text 6"/>
          <p:cNvSpPr/>
          <p:nvPr/>
        </p:nvSpPr>
        <p:spPr>
          <a:xfrm>
            <a:off x="320040" y="3246120"/>
            <a:ext cx="8503920" cy="347472"/>
          </a:xfrm>
          <a:prstGeom prst="rect">
            <a:avLst/>
          </a:prstGeom>
          <a:noFill/>
          <a:ln/>
        </p:spPr>
        <p:txBody>
          <a:bodyPr wrap="square" lIns="0" tIns="0" rIns="0" bIns="0" rtlCol="0" anchor="ctr"/>
          <a:lstStyle/>
          <a:p>
            <a:pPr marL="0" indent="0">
              <a:buNone/>
            </a:pPr>
            <a:r>
              <a:rPr lang="en-US" sz="1400" b="1" dirty="0">
                <a:solidFill>
                  <a:srgbClr val="A8C5AB"/>
                </a:solidFill>
              </a:rPr>
              <a:t>Repository Contents</a:t>
            </a:r>
            <a:endParaRPr lang="en-US" sz="1400" dirty="0"/>
          </a:p>
        </p:txBody>
      </p:sp>
      <p:sp>
        <p:nvSpPr>
          <p:cNvPr id="9" name="Text 7"/>
          <p:cNvSpPr/>
          <p:nvPr/>
        </p:nvSpPr>
        <p:spPr>
          <a:xfrm>
            <a:off x="457200" y="3703320"/>
            <a:ext cx="3474720" cy="256032"/>
          </a:xfrm>
          <a:prstGeom prst="rect">
            <a:avLst/>
          </a:prstGeom>
          <a:noFill/>
          <a:ln/>
        </p:spPr>
        <p:txBody>
          <a:bodyPr wrap="square" lIns="0" tIns="0" rIns="0" bIns="0" rtlCol="0" anchor="ctr"/>
          <a:lstStyle/>
          <a:p>
            <a:pPr marL="0" indent="0">
              <a:buNone/>
            </a:pPr>
            <a:r>
              <a:rPr lang="en-US" sz="1050" dirty="0">
                <a:solidFill>
                  <a:srgbClr val="C9973A"/>
                </a:solidFill>
                <a:latin typeface="Consolas" pitchFamily="34" charset="0"/>
                <a:ea typeface="Consolas" pitchFamily="34" charset="-122"/>
                <a:cs typeface="Consolas" pitchFamily="34" charset="-120"/>
              </a:rPr>
              <a:t>📄  restaurant_reviews_majhitar.csv</a:t>
            </a:r>
            <a:endParaRPr lang="en-US" sz="1050" dirty="0"/>
          </a:p>
        </p:txBody>
      </p:sp>
      <p:sp>
        <p:nvSpPr>
          <p:cNvPr id="10" name="Text 8"/>
          <p:cNvSpPr/>
          <p:nvPr/>
        </p:nvSpPr>
        <p:spPr>
          <a:xfrm>
            <a:off x="4023360" y="3703320"/>
            <a:ext cx="4754880" cy="256032"/>
          </a:xfrm>
          <a:prstGeom prst="rect">
            <a:avLst/>
          </a:prstGeom>
          <a:noFill/>
          <a:ln/>
        </p:spPr>
        <p:txBody>
          <a:bodyPr wrap="square" lIns="0" tIns="0" rIns="0" bIns="0" rtlCol="0" anchor="ctr"/>
          <a:lstStyle/>
          <a:p>
            <a:pPr marL="0" indent="0">
              <a:buNone/>
            </a:pPr>
            <a:r>
              <a:rPr lang="en-US" sz="1050" dirty="0">
                <a:solidFill>
                  <a:srgbClr val="8A8A7A"/>
                </a:solidFill>
              </a:rPr>
              <a:t>—  Manually collected dataset — 205 reviews, 21 restaurants</a:t>
            </a:r>
            <a:endParaRPr lang="en-US" sz="1050" dirty="0"/>
          </a:p>
        </p:txBody>
      </p:sp>
      <p:sp>
        <p:nvSpPr>
          <p:cNvPr id="11" name="Text 9"/>
          <p:cNvSpPr/>
          <p:nvPr/>
        </p:nvSpPr>
        <p:spPr>
          <a:xfrm>
            <a:off x="457200" y="3995928"/>
            <a:ext cx="3474720" cy="256032"/>
          </a:xfrm>
          <a:prstGeom prst="rect">
            <a:avLst/>
          </a:prstGeom>
          <a:noFill/>
          <a:ln/>
        </p:spPr>
        <p:txBody>
          <a:bodyPr wrap="square" lIns="0" tIns="0" rIns="0" bIns="0" rtlCol="0" anchor="ctr"/>
          <a:lstStyle/>
          <a:p>
            <a:pPr marL="0" indent="0">
              <a:buNone/>
            </a:pPr>
            <a:r>
              <a:rPr lang="en-US" sz="1050" dirty="0">
                <a:solidFill>
                  <a:srgbClr val="C9973A"/>
                </a:solidFill>
                <a:latin typeface="Consolas" pitchFamily="34" charset="0"/>
                <a:ea typeface="Consolas" pitchFamily="34" charset="-122"/>
                <a:cs typeface="Consolas" pitchFamily="34" charset="-120"/>
              </a:rPr>
              <a:t>📄  sentiment_analysis.ipynb</a:t>
            </a:r>
            <a:endParaRPr lang="en-US" sz="1050" dirty="0"/>
          </a:p>
        </p:txBody>
      </p:sp>
      <p:sp>
        <p:nvSpPr>
          <p:cNvPr id="12" name="Text 10"/>
          <p:cNvSpPr/>
          <p:nvPr/>
        </p:nvSpPr>
        <p:spPr>
          <a:xfrm>
            <a:off x="4023360" y="3995928"/>
            <a:ext cx="4754880" cy="256032"/>
          </a:xfrm>
          <a:prstGeom prst="rect">
            <a:avLst/>
          </a:prstGeom>
          <a:noFill/>
          <a:ln/>
        </p:spPr>
        <p:txBody>
          <a:bodyPr wrap="square" lIns="0" tIns="0" rIns="0" bIns="0" rtlCol="0" anchor="ctr"/>
          <a:lstStyle/>
          <a:p>
            <a:pPr marL="0" indent="0">
              <a:buNone/>
            </a:pPr>
            <a:r>
              <a:rPr lang="en-US" sz="1050" dirty="0">
                <a:solidFill>
                  <a:srgbClr val="8A8A7A"/>
                </a:solidFill>
              </a:rPr>
              <a:t>—  Main Jupyter notebook with full pipeline &amp; visualizations</a:t>
            </a:r>
            <a:endParaRPr lang="en-US" sz="1050" dirty="0"/>
          </a:p>
        </p:txBody>
      </p:sp>
      <p:sp>
        <p:nvSpPr>
          <p:cNvPr id="13" name="Text 11"/>
          <p:cNvSpPr/>
          <p:nvPr/>
        </p:nvSpPr>
        <p:spPr>
          <a:xfrm>
            <a:off x="457200" y="4288536"/>
            <a:ext cx="3474720" cy="256032"/>
          </a:xfrm>
          <a:prstGeom prst="rect">
            <a:avLst/>
          </a:prstGeom>
          <a:noFill/>
          <a:ln/>
        </p:spPr>
        <p:txBody>
          <a:bodyPr wrap="square" lIns="0" tIns="0" rIns="0" bIns="0" rtlCol="0" anchor="ctr"/>
          <a:lstStyle/>
          <a:p>
            <a:pPr marL="0" indent="0">
              <a:buNone/>
            </a:pPr>
            <a:r>
              <a:rPr lang="en-US" sz="1050" dirty="0">
                <a:solidFill>
                  <a:srgbClr val="C9973A"/>
                </a:solidFill>
                <a:latin typeface="Consolas" pitchFamily="34" charset="0"/>
                <a:ea typeface="Consolas" pitchFamily="34" charset="-122"/>
                <a:cs typeface="Consolas" pitchFamily="34" charset="-120"/>
              </a:rPr>
              <a:t>📄  requirements.txt</a:t>
            </a:r>
            <a:endParaRPr lang="en-US" sz="1050" dirty="0"/>
          </a:p>
        </p:txBody>
      </p:sp>
      <p:sp>
        <p:nvSpPr>
          <p:cNvPr id="14" name="Text 12"/>
          <p:cNvSpPr/>
          <p:nvPr/>
        </p:nvSpPr>
        <p:spPr>
          <a:xfrm>
            <a:off x="4023360" y="4288536"/>
            <a:ext cx="4754880" cy="256032"/>
          </a:xfrm>
          <a:prstGeom prst="rect">
            <a:avLst/>
          </a:prstGeom>
          <a:noFill/>
          <a:ln/>
        </p:spPr>
        <p:txBody>
          <a:bodyPr wrap="square" lIns="0" tIns="0" rIns="0" bIns="0" rtlCol="0" anchor="ctr"/>
          <a:lstStyle/>
          <a:p>
            <a:pPr marL="0" indent="0">
              <a:buNone/>
            </a:pPr>
            <a:r>
              <a:rPr lang="en-US" sz="1050" dirty="0">
                <a:solidFill>
                  <a:srgbClr val="8A8A7A"/>
                </a:solidFill>
              </a:rPr>
              <a:t>—  Python dependencies (vaderSentiment, sklearn, pandas, etc.)</a:t>
            </a:r>
            <a:endParaRPr lang="en-US" sz="1050" dirty="0"/>
          </a:p>
        </p:txBody>
      </p:sp>
      <p:sp>
        <p:nvSpPr>
          <p:cNvPr id="15" name="Text 13"/>
          <p:cNvSpPr/>
          <p:nvPr/>
        </p:nvSpPr>
        <p:spPr>
          <a:xfrm>
            <a:off x="457200" y="4581144"/>
            <a:ext cx="3474720" cy="256032"/>
          </a:xfrm>
          <a:prstGeom prst="rect">
            <a:avLst/>
          </a:prstGeom>
          <a:noFill/>
          <a:ln/>
        </p:spPr>
        <p:txBody>
          <a:bodyPr wrap="square" lIns="0" tIns="0" rIns="0" bIns="0" rtlCol="0" anchor="ctr"/>
          <a:lstStyle/>
          <a:p>
            <a:pPr marL="0" indent="0">
              <a:buNone/>
            </a:pPr>
            <a:r>
              <a:rPr lang="en-US" sz="1050" dirty="0">
                <a:solidFill>
                  <a:srgbClr val="C9973A"/>
                </a:solidFill>
                <a:latin typeface="Consolas" pitchFamily="34" charset="0"/>
                <a:ea typeface="Consolas" pitchFamily="34" charset="-122"/>
                <a:cs typeface="Consolas" pitchFamily="34" charset="-120"/>
              </a:rPr>
              <a:t>📄  README.md</a:t>
            </a:r>
            <a:endParaRPr lang="en-US" sz="1050" dirty="0"/>
          </a:p>
        </p:txBody>
      </p:sp>
      <p:sp>
        <p:nvSpPr>
          <p:cNvPr id="16" name="Text 14"/>
          <p:cNvSpPr/>
          <p:nvPr/>
        </p:nvSpPr>
        <p:spPr>
          <a:xfrm>
            <a:off x="4023360" y="4581144"/>
            <a:ext cx="4754880" cy="256032"/>
          </a:xfrm>
          <a:prstGeom prst="rect">
            <a:avLst/>
          </a:prstGeom>
          <a:noFill/>
          <a:ln/>
        </p:spPr>
        <p:txBody>
          <a:bodyPr wrap="square" lIns="0" tIns="0" rIns="0" bIns="0" rtlCol="0" anchor="ctr"/>
          <a:lstStyle/>
          <a:p>
            <a:pPr marL="0" indent="0">
              <a:buNone/>
            </a:pPr>
            <a:r>
              <a:rPr lang="en-US" sz="1050" dirty="0">
                <a:solidFill>
                  <a:srgbClr val="8A8A7A"/>
                </a:solidFill>
              </a:rPr>
              <a:t>—  Project overview, setup instructions, and results summary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A1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73A"/>
          </a:solidFill>
          <a:ln w="12700">
            <a:solidFill>
              <a:srgbClr val="C9973A"/>
            </a:solidFill>
            <a:prstDash val="solid"/>
          </a:ln>
        </p:spPr>
      </p:sp>
      <p:sp>
        <p:nvSpPr>
          <p:cNvPr id="3" name="Text 1"/>
          <p:cNvSpPr/>
          <p:nvPr/>
        </p:nvSpPr>
        <p:spPr>
          <a:xfrm>
            <a:off x="320040" y="320040"/>
            <a:ext cx="8503920" cy="640080"/>
          </a:xfrm>
          <a:prstGeom prst="rect">
            <a:avLst/>
          </a:prstGeom>
          <a:noFill/>
          <a:ln/>
        </p:spPr>
        <p:txBody>
          <a:bodyPr wrap="square" lIns="0" tIns="0" rIns="0" bIns="0" rtlCol="0" anchor="ctr"/>
          <a:lstStyle/>
          <a:p>
            <a:pPr marL="0" indent="0" algn="ctr">
              <a:buNone/>
            </a:pPr>
            <a:r>
              <a:rPr lang="en-US" sz="3400" b="1" dirty="0">
                <a:solidFill>
                  <a:srgbClr val="FFFFFF"/>
                </a:solidFill>
              </a:rPr>
              <a:t>Conclusion</a:t>
            </a:r>
            <a:endParaRPr lang="en-US" sz="3400" dirty="0"/>
          </a:p>
        </p:txBody>
      </p:sp>
      <p:sp>
        <p:nvSpPr>
          <p:cNvPr id="4" name="Shape 2"/>
          <p:cNvSpPr/>
          <p:nvPr/>
        </p:nvSpPr>
        <p:spPr>
          <a:xfrm>
            <a:off x="3429000" y="923544"/>
            <a:ext cx="2286000" cy="36576"/>
          </a:xfrm>
          <a:prstGeom prst="rect">
            <a:avLst/>
          </a:prstGeom>
          <a:solidFill>
            <a:srgbClr val="4E7B56"/>
          </a:solidFill>
          <a:ln w="12700">
            <a:solidFill>
              <a:srgbClr val="4E7B56"/>
            </a:solidFill>
            <a:prstDash val="solid"/>
          </a:ln>
        </p:spPr>
      </p:sp>
      <p:sp>
        <p:nvSpPr>
          <p:cNvPr id="5" name="Shape 3"/>
          <p:cNvSpPr/>
          <p:nvPr/>
        </p:nvSpPr>
        <p:spPr>
          <a:xfrm>
            <a:off x="320040" y="1234440"/>
            <a:ext cx="320040" cy="320040"/>
          </a:xfrm>
          <a:prstGeom prst="rect">
            <a:avLst/>
          </a:prstGeom>
          <a:solidFill>
            <a:srgbClr val="C9973A"/>
          </a:solidFill>
          <a:ln w="12700">
            <a:solidFill>
              <a:srgbClr val="C9973A"/>
            </a:solidFill>
            <a:prstDash val="solid"/>
          </a:ln>
        </p:spPr>
      </p:sp>
      <p:sp>
        <p:nvSpPr>
          <p:cNvPr id="6" name="Text 4"/>
          <p:cNvSpPr/>
          <p:nvPr/>
        </p:nvSpPr>
        <p:spPr>
          <a:xfrm>
            <a:off x="320040" y="123444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7" name="Text 5"/>
          <p:cNvSpPr/>
          <p:nvPr/>
        </p:nvSpPr>
        <p:spPr>
          <a:xfrm>
            <a:off x="749808" y="1261872"/>
            <a:ext cx="8046720" cy="502920"/>
          </a:xfrm>
          <a:prstGeom prst="rect">
            <a:avLst/>
          </a:prstGeom>
          <a:noFill/>
          <a:ln/>
        </p:spPr>
        <p:txBody>
          <a:bodyPr wrap="square" lIns="0" tIns="0" rIns="0" bIns="0" rtlCol="0" anchor="ctr"/>
          <a:lstStyle/>
          <a:p>
            <a:pPr marL="0" indent="0">
              <a:buNone/>
            </a:pPr>
            <a:r>
              <a:rPr lang="en-US" sz="1150" dirty="0">
                <a:solidFill>
                  <a:srgbClr val="A8C5AB"/>
                </a:solidFill>
              </a:rPr>
              <a:t>Successfully applied VADER sentiment analysis to 205 manually collected Google Reviews from 21 Majhitar restaurants.</a:t>
            </a:r>
            <a:endParaRPr lang="en-US" sz="1150" dirty="0"/>
          </a:p>
        </p:txBody>
      </p:sp>
      <p:sp>
        <p:nvSpPr>
          <p:cNvPr id="8" name="Shape 6"/>
          <p:cNvSpPr/>
          <p:nvPr/>
        </p:nvSpPr>
        <p:spPr>
          <a:xfrm>
            <a:off x="320040" y="1837944"/>
            <a:ext cx="320040" cy="320040"/>
          </a:xfrm>
          <a:prstGeom prst="rect">
            <a:avLst/>
          </a:prstGeom>
          <a:solidFill>
            <a:srgbClr val="C9973A"/>
          </a:solidFill>
          <a:ln w="12700">
            <a:solidFill>
              <a:srgbClr val="C9973A"/>
            </a:solidFill>
            <a:prstDash val="solid"/>
          </a:ln>
        </p:spPr>
      </p:sp>
      <p:sp>
        <p:nvSpPr>
          <p:cNvPr id="9" name="Text 7"/>
          <p:cNvSpPr/>
          <p:nvPr/>
        </p:nvSpPr>
        <p:spPr>
          <a:xfrm>
            <a:off x="320040" y="183794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10" name="Text 8"/>
          <p:cNvSpPr/>
          <p:nvPr/>
        </p:nvSpPr>
        <p:spPr>
          <a:xfrm>
            <a:off x="749808" y="1865376"/>
            <a:ext cx="8046720" cy="502920"/>
          </a:xfrm>
          <a:prstGeom prst="rect">
            <a:avLst/>
          </a:prstGeom>
          <a:noFill/>
          <a:ln/>
        </p:spPr>
        <p:txBody>
          <a:bodyPr wrap="square" lIns="0" tIns="0" rIns="0" bIns="0" rtlCol="0" anchor="ctr"/>
          <a:lstStyle/>
          <a:p>
            <a:pPr marL="0" indent="0">
              <a:buNone/>
            </a:pPr>
            <a:r>
              <a:rPr lang="en-US" sz="1150" dirty="0">
                <a:solidFill>
                  <a:srgbClr val="A8C5AB"/>
                </a:solidFill>
              </a:rPr>
              <a:t>Built a complete NLP pipeline: data collection → preprocessing → scoring → classification → visualization → evaluation.</a:t>
            </a:r>
            <a:endParaRPr lang="en-US" sz="1150" dirty="0"/>
          </a:p>
        </p:txBody>
      </p:sp>
      <p:sp>
        <p:nvSpPr>
          <p:cNvPr id="11" name="Shape 9"/>
          <p:cNvSpPr/>
          <p:nvPr/>
        </p:nvSpPr>
        <p:spPr>
          <a:xfrm>
            <a:off x="320040" y="2441448"/>
            <a:ext cx="320040" cy="320040"/>
          </a:xfrm>
          <a:prstGeom prst="rect">
            <a:avLst/>
          </a:prstGeom>
          <a:solidFill>
            <a:srgbClr val="C9973A"/>
          </a:solidFill>
          <a:ln w="12700">
            <a:solidFill>
              <a:srgbClr val="C9973A"/>
            </a:solidFill>
            <a:prstDash val="solid"/>
          </a:ln>
        </p:spPr>
      </p:sp>
      <p:sp>
        <p:nvSpPr>
          <p:cNvPr id="12" name="Text 10"/>
          <p:cNvSpPr/>
          <p:nvPr/>
        </p:nvSpPr>
        <p:spPr>
          <a:xfrm>
            <a:off x="320040" y="244144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13" name="Text 11"/>
          <p:cNvSpPr/>
          <p:nvPr/>
        </p:nvSpPr>
        <p:spPr>
          <a:xfrm>
            <a:off x="749808" y="2468880"/>
            <a:ext cx="8046720" cy="502920"/>
          </a:xfrm>
          <a:prstGeom prst="rect">
            <a:avLst/>
          </a:prstGeom>
          <a:noFill/>
          <a:ln/>
        </p:spPr>
        <p:txBody>
          <a:bodyPr wrap="square" lIns="0" tIns="0" rIns="0" bIns="0" rtlCol="0" anchor="ctr"/>
          <a:lstStyle/>
          <a:p>
            <a:pPr marL="0" indent="0">
              <a:buNone/>
            </a:pPr>
            <a:r>
              <a:rPr lang="en-US" sz="1150" dirty="0">
                <a:solidFill>
                  <a:srgbClr val="A8C5AB"/>
                </a:solidFill>
              </a:rPr>
              <a:t>Achieved 95% accuracy, 100% precision and 95.65% F1 score on a labelled test set — demonstrating VADER's suitability for informal review text.</a:t>
            </a:r>
            <a:endParaRPr lang="en-US" sz="1150" dirty="0"/>
          </a:p>
        </p:txBody>
      </p:sp>
      <p:sp>
        <p:nvSpPr>
          <p:cNvPr id="14" name="Shape 12"/>
          <p:cNvSpPr/>
          <p:nvPr/>
        </p:nvSpPr>
        <p:spPr>
          <a:xfrm>
            <a:off x="320040" y="3044952"/>
            <a:ext cx="320040" cy="320040"/>
          </a:xfrm>
          <a:prstGeom prst="rect">
            <a:avLst/>
          </a:prstGeom>
          <a:solidFill>
            <a:srgbClr val="C9973A"/>
          </a:solidFill>
          <a:ln w="12700">
            <a:solidFill>
              <a:srgbClr val="C9973A"/>
            </a:solidFill>
            <a:prstDash val="solid"/>
          </a:ln>
        </p:spPr>
      </p:sp>
      <p:sp>
        <p:nvSpPr>
          <p:cNvPr id="15" name="Text 13"/>
          <p:cNvSpPr/>
          <p:nvPr/>
        </p:nvSpPr>
        <p:spPr>
          <a:xfrm>
            <a:off x="320040" y="304495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16" name="Text 14"/>
          <p:cNvSpPr/>
          <p:nvPr/>
        </p:nvSpPr>
        <p:spPr>
          <a:xfrm>
            <a:off x="749808" y="3072384"/>
            <a:ext cx="8046720" cy="502920"/>
          </a:xfrm>
          <a:prstGeom prst="rect">
            <a:avLst/>
          </a:prstGeom>
          <a:noFill/>
          <a:ln/>
        </p:spPr>
        <p:txBody>
          <a:bodyPr wrap="square" lIns="0" tIns="0" rIns="0" bIns="0" rtlCol="0" anchor="ctr"/>
          <a:lstStyle/>
          <a:p>
            <a:pPr marL="0" indent="0">
              <a:buNone/>
            </a:pPr>
            <a:r>
              <a:rPr lang="en-US" sz="1150" dirty="0">
                <a:solidFill>
                  <a:srgbClr val="A8C5AB"/>
                </a:solidFill>
              </a:rPr>
              <a:t>Developed a dish-based recommendation engine that identifies the best restaurant for a specific dish using sentiment of relevant reviews.</a:t>
            </a:r>
            <a:endParaRPr lang="en-US" sz="1150" dirty="0"/>
          </a:p>
        </p:txBody>
      </p:sp>
      <p:sp>
        <p:nvSpPr>
          <p:cNvPr id="17" name="Shape 15"/>
          <p:cNvSpPr/>
          <p:nvPr/>
        </p:nvSpPr>
        <p:spPr>
          <a:xfrm>
            <a:off x="320040" y="3648456"/>
            <a:ext cx="320040" cy="320040"/>
          </a:xfrm>
          <a:prstGeom prst="rect">
            <a:avLst/>
          </a:prstGeom>
          <a:solidFill>
            <a:srgbClr val="C9973A"/>
          </a:solidFill>
          <a:ln w="12700">
            <a:solidFill>
              <a:srgbClr val="C9973A"/>
            </a:solidFill>
            <a:prstDash val="solid"/>
          </a:ln>
        </p:spPr>
      </p:sp>
      <p:sp>
        <p:nvSpPr>
          <p:cNvPr id="18" name="Text 16"/>
          <p:cNvSpPr/>
          <p:nvPr/>
        </p:nvSpPr>
        <p:spPr>
          <a:xfrm>
            <a:off x="320040" y="364845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19" name="Text 17"/>
          <p:cNvSpPr/>
          <p:nvPr/>
        </p:nvSpPr>
        <p:spPr>
          <a:xfrm>
            <a:off x="749808" y="3675888"/>
            <a:ext cx="8046720" cy="502920"/>
          </a:xfrm>
          <a:prstGeom prst="rect">
            <a:avLst/>
          </a:prstGeom>
          <a:noFill/>
          <a:ln/>
        </p:spPr>
        <p:txBody>
          <a:bodyPr wrap="square" lIns="0" tIns="0" rIns="0" bIns="0" rtlCol="0" anchor="ctr"/>
          <a:lstStyle/>
          <a:p>
            <a:pPr marL="0" indent="0">
              <a:buNone/>
            </a:pPr>
            <a:r>
              <a:rPr lang="en-US" sz="1150" dirty="0">
                <a:solidFill>
                  <a:srgbClr val="A8C5AB"/>
                </a:solidFill>
              </a:rPr>
              <a:t>Majhitar's food scene is predominantly positive (84.4%) — Coffee Break and Palate Tender Bar lead, while Food Court SMIT needs improvement.</a:t>
            </a:r>
            <a:endParaRPr lang="en-US" sz="1150" dirty="0"/>
          </a:p>
        </p:txBody>
      </p:sp>
      <p:sp>
        <p:nvSpPr>
          <p:cNvPr id="20" name="Shape 18"/>
          <p:cNvSpPr/>
          <p:nvPr/>
        </p:nvSpPr>
        <p:spPr>
          <a:xfrm>
            <a:off x="320040" y="4251960"/>
            <a:ext cx="320040" cy="320040"/>
          </a:xfrm>
          <a:prstGeom prst="rect">
            <a:avLst/>
          </a:prstGeom>
          <a:solidFill>
            <a:srgbClr val="C9973A"/>
          </a:solidFill>
          <a:ln w="12700">
            <a:solidFill>
              <a:srgbClr val="C9973A"/>
            </a:solidFill>
            <a:prstDash val="solid"/>
          </a:ln>
        </p:spPr>
      </p:sp>
      <p:sp>
        <p:nvSpPr>
          <p:cNvPr id="21" name="Text 19"/>
          <p:cNvSpPr/>
          <p:nvPr/>
        </p:nvSpPr>
        <p:spPr>
          <a:xfrm>
            <a:off x="320040" y="425196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22" name="Text 20"/>
          <p:cNvSpPr/>
          <p:nvPr/>
        </p:nvSpPr>
        <p:spPr>
          <a:xfrm>
            <a:off x="749808" y="4279392"/>
            <a:ext cx="8046720" cy="502920"/>
          </a:xfrm>
          <a:prstGeom prst="rect">
            <a:avLst/>
          </a:prstGeom>
          <a:noFill/>
          <a:ln/>
        </p:spPr>
        <p:txBody>
          <a:bodyPr wrap="square" lIns="0" tIns="0" rIns="0" bIns="0" rtlCol="0" anchor="ctr"/>
          <a:lstStyle/>
          <a:p>
            <a:pPr marL="0" indent="0">
              <a:buNone/>
            </a:pPr>
            <a:r>
              <a:rPr lang="en-US" sz="1150" dirty="0">
                <a:solidFill>
                  <a:srgbClr val="A8C5AB"/>
                </a:solidFill>
              </a:rPr>
              <a:t>This project demonstrates how NLP can be practically applied to real, locally sourced data from smaller communities with limited digital presence.</a:t>
            </a:r>
            <a:endParaRPr lang="en-US" sz="1150" dirty="0"/>
          </a:p>
        </p:txBody>
      </p:sp>
      <p:sp>
        <p:nvSpPr>
          <p:cNvPr id="23" name="Text 21"/>
          <p:cNvSpPr/>
          <p:nvPr/>
        </p:nvSpPr>
        <p:spPr>
          <a:xfrm>
            <a:off x="320040" y="4663440"/>
            <a:ext cx="8503920" cy="347472"/>
          </a:xfrm>
          <a:prstGeom prst="rect">
            <a:avLst/>
          </a:prstGeom>
          <a:noFill/>
          <a:ln/>
        </p:spPr>
        <p:txBody>
          <a:bodyPr wrap="square" lIns="0" tIns="0" rIns="0" bIns="0" rtlCol="0" anchor="ctr"/>
          <a:lstStyle/>
          <a:p>
            <a:pPr marL="0" indent="0" algn="ctr">
              <a:buNone/>
            </a:pP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A1E"/>
        </a:solidFill>
        <a:effectLst/>
      </p:bgPr>
    </p:bg>
    <p:spTree>
      <p:nvGrpSpPr>
        <p:cNvPr id="1" name="">
          <a:extLst>
            <a:ext uri="{FF2B5EF4-FFF2-40B4-BE49-F238E27FC236}">
              <a16:creationId xmlns:a16="http://schemas.microsoft.com/office/drawing/2014/main" id="{56271D1C-4DA8-83C7-D829-432A814462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CC9998-3620-2B18-17EB-2CDB8B2A9BE8}"/>
              </a:ext>
            </a:extLst>
          </p:cNvPr>
          <p:cNvSpPr/>
          <p:nvPr/>
        </p:nvSpPr>
        <p:spPr>
          <a:xfrm>
            <a:off x="0" y="0"/>
            <a:ext cx="109728" cy="5143500"/>
          </a:xfrm>
          <a:prstGeom prst="rect">
            <a:avLst/>
          </a:prstGeom>
          <a:solidFill>
            <a:srgbClr val="C9973A"/>
          </a:solidFill>
          <a:ln w="12700">
            <a:solidFill>
              <a:srgbClr val="C9973A"/>
            </a:solidFill>
            <a:prstDash val="solid"/>
          </a:ln>
        </p:spPr>
      </p:sp>
      <p:sp>
        <p:nvSpPr>
          <p:cNvPr id="3" name="Text 1">
            <a:extLst>
              <a:ext uri="{FF2B5EF4-FFF2-40B4-BE49-F238E27FC236}">
                <a16:creationId xmlns:a16="http://schemas.microsoft.com/office/drawing/2014/main" id="{1EFE591C-7357-70EB-D318-4F60A6F320EE}"/>
              </a:ext>
            </a:extLst>
          </p:cNvPr>
          <p:cNvSpPr/>
          <p:nvPr/>
        </p:nvSpPr>
        <p:spPr>
          <a:xfrm>
            <a:off x="320040" y="320040"/>
            <a:ext cx="8503920" cy="640080"/>
          </a:xfrm>
          <a:prstGeom prst="rect">
            <a:avLst/>
          </a:prstGeom>
          <a:noFill/>
          <a:ln/>
        </p:spPr>
        <p:txBody>
          <a:bodyPr wrap="square" lIns="0" tIns="0" rIns="0" bIns="0" rtlCol="0" anchor="ctr"/>
          <a:lstStyle/>
          <a:p>
            <a:pPr marL="0" indent="0" algn="ctr">
              <a:buNone/>
            </a:pPr>
            <a:endParaRPr lang="en-US" sz="3400" dirty="0"/>
          </a:p>
        </p:txBody>
      </p:sp>
      <p:sp>
        <p:nvSpPr>
          <p:cNvPr id="6" name="Text 4">
            <a:extLst>
              <a:ext uri="{FF2B5EF4-FFF2-40B4-BE49-F238E27FC236}">
                <a16:creationId xmlns:a16="http://schemas.microsoft.com/office/drawing/2014/main" id="{58395E07-B543-1E05-547C-2F43E93D7681}"/>
              </a:ext>
            </a:extLst>
          </p:cNvPr>
          <p:cNvSpPr/>
          <p:nvPr/>
        </p:nvSpPr>
        <p:spPr>
          <a:xfrm>
            <a:off x="320040" y="1234440"/>
            <a:ext cx="320040" cy="320040"/>
          </a:xfrm>
          <a:prstGeom prst="rect">
            <a:avLst/>
          </a:prstGeom>
          <a:noFill/>
          <a:ln/>
        </p:spPr>
        <p:txBody>
          <a:bodyPr wrap="square" lIns="0" tIns="0" rIns="0" bIns="0" rtlCol="0" anchor="ctr"/>
          <a:lstStyle/>
          <a:p>
            <a:pPr marL="0" indent="0" algn="ctr">
              <a:buNone/>
            </a:pPr>
            <a:endParaRPr lang="en-US" sz="1100" dirty="0"/>
          </a:p>
        </p:txBody>
      </p:sp>
      <p:sp>
        <p:nvSpPr>
          <p:cNvPr id="7" name="Text 5">
            <a:extLst>
              <a:ext uri="{FF2B5EF4-FFF2-40B4-BE49-F238E27FC236}">
                <a16:creationId xmlns:a16="http://schemas.microsoft.com/office/drawing/2014/main" id="{F4849771-A85A-E99E-C044-1A78FD249C10}"/>
              </a:ext>
            </a:extLst>
          </p:cNvPr>
          <p:cNvSpPr/>
          <p:nvPr/>
        </p:nvSpPr>
        <p:spPr>
          <a:xfrm>
            <a:off x="548640" y="2144268"/>
            <a:ext cx="8046720" cy="502920"/>
          </a:xfrm>
          <a:prstGeom prst="rect">
            <a:avLst/>
          </a:prstGeom>
          <a:noFill/>
          <a:ln/>
        </p:spPr>
        <p:txBody>
          <a:bodyPr wrap="square" lIns="0" tIns="0" rIns="0" bIns="0" rtlCol="0" anchor="ctr"/>
          <a:lstStyle/>
          <a:p>
            <a:pPr marL="0" indent="0" algn="ctr">
              <a:buNone/>
            </a:pPr>
            <a:r>
              <a:rPr lang="en-US" sz="3600" b="1" dirty="0">
                <a:solidFill>
                  <a:schemeClr val="bg1"/>
                </a:solidFill>
              </a:rPr>
              <a:t>THANK YOU</a:t>
            </a:r>
          </a:p>
        </p:txBody>
      </p:sp>
      <p:sp>
        <p:nvSpPr>
          <p:cNvPr id="10" name="Text 8">
            <a:extLst>
              <a:ext uri="{FF2B5EF4-FFF2-40B4-BE49-F238E27FC236}">
                <a16:creationId xmlns:a16="http://schemas.microsoft.com/office/drawing/2014/main" id="{6602BAC0-9B9F-8129-6708-E41296AD527E}"/>
              </a:ext>
            </a:extLst>
          </p:cNvPr>
          <p:cNvSpPr/>
          <p:nvPr/>
        </p:nvSpPr>
        <p:spPr>
          <a:xfrm>
            <a:off x="749808" y="1865376"/>
            <a:ext cx="8046720" cy="502920"/>
          </a:xfrm>
          <a:prstGeom prst="rect">
            <a:avLst/>
          </a:prstGeom>
          <a:noFill/>
          <a:ln/>
        </p:spPr>
        <p:txBody>
          <a:bodyPr wrap="square" lIns="0" tIns="0" rIns="0" bIns="0" rtlCol="0" anchor="ctr"/>
          <a:lstStyle/>
          <a:p>
            <a:pPr marL="0" indent="0">
              <a:buNone/>
            </a:pPr>
            <a:endParaRPr lang="en-US" sz="1150" dirty="0"/>
          </a:p>
        </p:txBody>
      </p:sp>
      <p:sp>
        <p:nvSpPr>
          <p:cNvPr id="12" name="Text 10">
            <a:extLst>
              <a:ext uri="{FF2B5EF4-FFF2-40B4-BE49-F238E27FC236}">
                <a16:creationId xmlns:a16="http://schemas.microsoft.com/office/drawing/2014/main" id="{04A3CA41-6D83-1A6B-436B-125EC5A21C08}"/>
              </a:ext>
            </a:extLst>
          </p:cNvPr>
          <p:cNvSpPr/>
          <p:nvPr/>
        </p:nvSpPr>
        <p:spPr>
          <a:xfrm>
            <a:off x="320040" y="2441448"/>
            <a:ext cx="320040" cy="320040"/>
          </a:xfrm>
          <a:prstGeom prst="rect">
            <a:avLst/>
          </a:prstGeom>
          <a:noFill/>
          <a:ln/>
        </p:spPr>
        <p:txBody>
          <a:bodyPr wrap="square" lIns="0" tIns="0" rIns="0" bIns="0" rtlCol="0" anchor="ctr"/>
          <a:lstStyle/>
          <a:p>
            <a:pPr marL="0" indent="0" algn="ctr">
              <a:buNone/>
            </a:pPr>
            <a:endParaRPr lang="en-US" sz="1100" dirty="0"/>
          </a:p>
        </p:txBody>
      </p:sp>
      <p:sp>
        <p:nvSpPr>
          <p:cNvPr id="13" name="Text 11">
            <a:extLst>
              <a:ext uri="{FF2B5EF4-FFF2-40B4-BE49-F238E27FC236}">
                <a16:creationId xmlns:a16="http://schemas.microsoft.com/office/drawing/2014/main" id="{B288ED53-F425-C623-7719-9A8DAD8C1046}"/>
              </a:ext>
            </a:extLst>
          </p:cNvPr>
          <p:cNvSpPr/>
          <p:nvPr/>
        </p:nvSpPr>
        <p:spPr>
          <a:xfrm>
            <a:off x="749808" y="2468880"/>
            <a:ext cx="8046720" cy="502920"/>
          </a:xfrm>
          <a:prstGeom prst="rect">
            <a:avLst/>
          </a:prstGeom>
          <a:noFill/>
          <a:ln/>
        </p:spPr>
        <p:txBody>
          <a:bodyPr wrap="square" lIns="0" tIns="0" rIns="0" bIns="0" rtlCol="0" anchor="ctr"/>
          <a:lstStyle/>
          <a:p>
            <a:pPr marL="0" indent="0">
              <a:buNone/>
            </a:pPr>
            <a:endParaRPr lang="en-US" sz="1150" dirty="0"/>
          </a:p>
        </p:txBody>
      </p:sp>
      <p:sp>
        <p:nvSpPr>
          <p:cNvPr id="15" name="Text 13">
            <a:extLst>
              <a:ext uri="{FF2B5EF4-FFF2-40B4-BE49-F238E27FC236}">
                <a16:creationId xmlns:a16="http://schemas.microsoft.com/office/drawing/2014/main" id="{5A33575C-F110-AD24-C4F0-8B9B0C10E64A}"/>
              </a:ext>
            </a:extLst>
          </p:cNvPr>
          <p:cNvSpPr/>
          <p:nvPr/>
        </p:nvSpPr>
        <p:spPr>
          <a:xfrm>
            <a:off x="320040" y="3044952"/>
            <a:ext cx="320040" cy="320040"/>
          </a:xfrm>
          <a:prstGeom prst="rect">
            <a:avLst/>
          </a:prstGeom>
          <a:noFill/>
          <a:ln/>
        </p:spPr>
        <p:txBody>
          <a:bodyPr wrap="square" lIns="0" tIns="0" rIns="0" bIns="0" rtlCol="0" anchor="ctr"/>
          <a:lstStyle/>
          <a:p>
            <a:pPr marL="0" indent="0" algn="ctr">
              <a:buNone/>
            </a:pPr>
            <a:endParaRPr lang="en-US" sz="1100" dirty="0"/>
          </a:p>
        </p:txBody>
      </p:sp>
      <p:sp>
        <p:nvSpPr>
          <p:cNvPr id="16" name="Text 14">
            <a:extLst>
              <a:ext uri="{FF2B5EF4-FFF2-40B4-BE49-F238E27FC236}">
                <a16:creationId xmlns:a16="http://schemas.microsoft.com/office/drawing/2014/main" id="{AC0B669F-512D-C949-D30C-0A117D3BDCE2}"/>
              </a:ext>
            </a:extLst>
          </p:cNvPr>
          <p:cNvSpPr/>
          <p:nvPr/>
        </p:nvSpPr>
        <p:spPr>
          <a:xfrm>
            <a:off x="749808" y="3072384"/>
            <a:ext cx="8046720" cy="502920"/>
          </a:xfrm>
          <a:prstGeom prst="rect">
            <a:avLst/>
          </a:prstGeom>
          <a:noFill/>
          <a:ln/>
        </p:spPr>
        <p:txBody>
          <a:bodyPr wrap="square" lIns="0" tIns="0" rIns="0" bIns="0" rtlCol="0" anchor="ctr"/>
          <a:lstStyle/>
          <a:p>
            <a:pPr marL="0" indent="0">
              <a:buNone/>
            </a:pPr>
            <a:endParaRPr lang="en-US" sz="1150" dirty="0"/>
          </a:p>
        </p:txBody>
      </p:sp>
      <p:sp>
        <p:nvSpPr>
          <p:cNvPr id="18" name="Text 16">
            <a:extLst>
              <a:ext uri="{FF2B5EF4-FFF2-40B4-BE49-F238E27FC236}">
                <a16:creationId xmlns:a16="http://schemas.microsoft.com/office/drawing/2014/main" id="{36F58A53-9526-19EA-7DBA-541D40A3B49F}"/>
              </a:ext>
            </a:extLst>
          </p:cNvPr>
          <p:cNvSpPr/>
          <p:nvPr/>
        </p:nvSpPr>
        <p:spPr>
          <a:xfrm>
            <a:off x="320040" y="3648456"/>
            <a:ext cx="320040" cy="320040"/>
          </a:xfrm>
          <a:prstGeom prst="rect">
            <a:avLst/>
          </a:prstGeom>
          <a:noFill/>
          <a:ln/>
        </p:spPr>
        <p:txBody>
          <a:bodyPr wrap="square" lIns="0" tIns="0" rIns="0" bIns="0" rtlCol="0" anchor="ctr"/>
          <a:lstStyle/>
          <a:p>
            <a:pPr marL="0" indent="0" algn="ctr">
              <a:buNone/>
            </a:pPr>
            <a:endParaRPr lang="en-US" sz="1100" dirty="0"/>
          </a:p>
        </p:txBody>
      </p:sp>
      <p:sp>
        <p:nvSpPr>
          <p:cNvPr id="19" name="Text 17">
            <a:extLst>
              <a:ext uri="{FF2B5EF4-FFF2-40B4-BE49-F238E27FC236}">
                <a16:creationId xmlns:a16="http://schemas.microsoft.com/office/drawing/2014/main" id="{E288D030-F66F-B343-A93F-75B1D8B6808A}"/>
              </a:ext>
            </a:extLst>
          </p:cNvPr>
          <p:cNvSpPr/>
          <p:nvPr/>
        </p:nvSpPr>
        <p:spPr>
          <a:xfrm>
            <a:off x="749808" y="3675888"/>
            <a:ext cx="8046720" cy="502920"/>
          </a:xfrm>
          <a:prstGeom prst="rect">
            <a:avLst/>
          </a:prstGeom>
          <a:noFill/>
          <a:ln/>
        </p:spPr>
        <p:txBody>
          <a:bodyPr wrap="square" lIns="0" tIns="0" rIns="0" bIns="0" rtlCol="0" anchor="ctr"/>
          <a:lstStyle/>
          <a:p>
            <a:pPr marL="0" indent="0">
              <a:buNone/>
            </a:pPr>
            <a:endParaRPr lang="en-US" sz="1150" dirty="0"/>
          </a:p>
        </p:txBody>
      </p:sp>
      <p:sp>
        <p:nvSpPr>
          <p:cNvPr id="21" name="Text 19">
            <a:extLst>
              <a:ext uri="{FF2B5EF4-FFF2-40B4-BE49-F238E27FC236}">
                <a16:creationId xmlns:a16="http://schemas.microsoft.com/office/drawing/2014/main" id="{9BE894F6-E09A-8A30-8005-F21E7B0E1554}"/>
              </a:ext>
            </a:extLst>
          </p:cNvPr>
          <p:cNvSpPr/>
          <p:nvPr/>
        </p:nvSpPr>
        <p:spPr>
          <a:xfrm>
            <a:off x="320040" y="4251960"/>
            <a:ext cx="320040" cy="320040"/>
          </a:xfrm>
          <a:prstGeom prst="rect">
            <a:avLst/>
          </a:prstGeom>
          <a:noFill/>
          <a:ln/>
        </p:spPr>
        <p:txBody>
          <a:bodyPr wrap="square" lIns="0" tIns="0" rIns="0" bIns="0" rtlCol="0" anchor="ctr"/>
          <a:lstStyle/>
          <a:p>
            <a:pPr marL="0" indent="0" algn="ctr">
              <a:buNone/>
            </a:pPr>
            <a:endParaRPr lang="en-US" sz="1100" dirty="0"/>
          </a:p>
        </p:txBody>
      </p:sp>
      <p:sp>
        <p:nvSpPr>
          <p:cNvPr id="22" name="Text 20">
            <a:extLst>
              <a:ext uri="{FF2B5EF4-FFF2-40B4-BE49-F238E27FC236}">
                <a16:creationId xmlns:a16="http://schemas.microsoft.com/office/drawing/2014/main" id="{673AA86A-5E89-0FCD-0E11-414917B37DE9}"/>
              </a:ext>
            </a:extLst>
          </p:cNvPr>
          <p:cNvSpPr/>
          <p:nvPr/>
        </p:nvSpPr>
        <p:spPr>
          <a:xfrm>
            <a:off x="749808" y="4279392"/>
            <a:ext cx="8046720" cy="502920"/>
          </a:xfrm>
          <a:prstGeom prst="rect">
            <a:avLst/>
          </a:prstGeom>
          <a:noFill/>
          <a:ln/>
        </p:spPr>
        <p:txBody>
          <a:bodyPr wrap="square" lIns="0" tIns="0" rIns="0" bIns="0" rtlCol="0" anchor="ctr"/>
          <a:lstStyle/>
          <a:p>
            <a:pPr marL="0" indent="0">
              <a:buNone/>
            </a:pPr>
            <a:endParaRPr lang="en-US" sz="1150" dirty="0"/>
          </a:p>
        </p:txBody>
      </p:sp>
      <p:sp>
        <p:nvSpPr>
          <p:cNvPr id="23" name="Text 21">
            <a:extLst>
              <a:ext uri="{FF2B5EF4-FFF2-40B4-BE49-F238E27FC236}">
                <a16:creationId xmlns:a16="http://schemas.microsoft.com/office/drawing/2014/main" id="{6CC51B2B-5CDB-BB32-EFCD-BAE16999E15F}"/>
              </a:ext>
            </a:extLst>
          </p:cNvPr>
          <p:cNvSpPr/>
          <p:nvPr/>
        </p:nvSpPr>
        <p:spPr>
          <a:xfrm>
            <a:off x="-3238500" y="2144268"/>
            <a:ext cx="8503920" cy="347472"/>
          </a:xfrm>
          <a:prstGeom prst="rect">
            <a:avLst/>
          </a:prstGeom>
          <a:noFill/>
          <a:ln/>
        </p:spPr>
        <p:txBody>
          <a:bodyPr wrap="square" lIns="0" tIns="0" rIns="0" bIns="0" rtlCol="0" anchor="ctr"/>
          <a:lstStyle/>
          <a:p>
            <a:pPr marL="0" indent="0" algn="ctr">
              <a:buNone/>
            </a:pPr>
            <a:endParaRPr lang="en-US" sz="1600" dirty="0"/>
          </a:p>
        </p:txBody>
      </p:sp>
    </p:spTree>
    <p:extLst>
      <p:ext uri="{BB962C8B-B14F-4D97-AF65-F5344CB8AC3E}">
        <p14:creationId xmlns:p14="http://schemas.microsoft.com/office/powerpoint/2010/main" val="1942663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1574</Words>
  <Application>Microsoft Office PowerPoint</Application>
  <PresentationFormat>On-screen Show (16:9)</PresentationFormat>
  <Paragraphs>293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of Majhitar Restaurant Reviews</dc:title>
  <dc:subject>PptxGenJS Presentation</dc:subject>
  <dc:creator>PptxGenJS</dc:creator>
  <cp:lastModifiedBy>NIKHIL PATNAIK</cp:lastModifiedBy>
  <cp:revision>5</cp:revision>
  <dcterms:created xsi:type="dcterms:W3CDTF">2026-04-23T19:38:49Z</dcterms:created>
  <dcterms:modified xsi:type="dcterms:W3CDTF">2026-04-24T04:19:24Z</dcterms:modified>
</cp:coreProperties>
</file>